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309" r:id="rId2"/>
    <p:sldId id="270" r:id="rId3"/>
    <p:sldId id="274" r:id="rId4"/>
    <p:sldId id="278" r:id="rId5"/>
    <p:sldId id="283" r:id="rId6"/>
    <p:sldId id="289" r:id="rId7"/>
    <p:sldId id="291" r:id="rId8"/>
    <p:sldId id="294" r:id="rId9"/>
    <p:sldId id="295" r:id="rId10"/>
    <p:sldId id="297" r:id="rId11"/>
    <p:sldId id="298" r:id="rId12"/>
    <p:sldId id="299" r:id="rId13"/>
    <p:sldId id="306" r:id="rId14"/>
    <p:sldId id="303" r:id="rId15"/>
  </p:sldIdLst>
  <p:sldSz cx="12192000" cy="6858000"/>
  <p:notesSz cx="6858000" cy="9144000"/>
  <p:custDataLst>
    <p:tags r:id="rId17"/>
  </p:custDataLst>
  <p:defaultTextStyle>
    <a:defPPr>
      <a:defRPr lang="ru-RU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0" autoAdjust="0"/>
    <p:restoredTop sz="94660"/>
  </p:normalViewPr>
  <p:slideViewPr>
    <p:cSldViewPr>
      <p:cViewPr varScale="1">
        <p:scale>
          <a:sx n="119" d="100"/>
          <a:sy n="119" d="100"/>
        </p:scale>
        <p:origin x="509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67B14-3048-4FE4-9F3A-420C37BCBDA5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7AC0E2-CC13-44ED-BAFD-87A591EAAE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32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327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689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40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63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413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116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960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165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352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20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660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386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391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AC0E2-CC13-44ED-BAFD-87A591EAAEF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931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C30B-75E3-4FEE-9939-E601F895FE16}" type="datetime1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ED4E-11CB-42AD-9DA4-2A41550F8B3A}" type="datetime1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03306-7E71-4BA3-B7AE-0720F11D51BD}" type="datetime1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63EC-2D8B-4B36-93E3-4666653DBC21}" type="datetime1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9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A664-3CF1-4584-BF92-0CF1514A7209}" type="datetime1">
              <a:rPr lang="ru-RU" smtClean="0"/>
              <a:t>15.10.2026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AB472-0E31-4F41-83FF-A5599135266A}" type="datetime1">
              <a:rPr lang="ru-RU" smtClean="0"/>
              <a:t>15.10.2026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A75E-8E1A-408A-B50F-CFD8702859EE}" type="datetime1">
              <a:rPr lang="ru-RU" smtClean="0"/>
              <a:t>15.10.2026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5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7" y="273058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5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B4E0-CC48-4BFF-8208-790091CAAD10}" type="datetime1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7EF8-C4A7-47AA-957D-41D26A15DB8F}" type="datetime1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BB8BB-23BF-47D7-92AB-3FCEF01BAFE8}" type="datetime1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52728-3920-47A1-94B3-1374DB2D673F}" type="datetime1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AA32C-2BD1-45B7-BC9F-47E21E00BE60}" type="datetime1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hyperlink" Target="mailto:proverka@polyplastic.ru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hyperlink" Target="mailto:anti-corruption@polyplastic.ru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2152A-D1AA-4FC0-A564-297D279E5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432" y="548680"/>
            <a:ext cx="10363200" cy="459489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АНТИКОРРУПЦИОННАЯ ПОЛИТИКА ОБЩЕСТВА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463900-6324-4B72-967B-A6A04346C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841" y="4573525"/>
            <a:ext cx="6912768" cy="1752600"/>
          </a:xfrm>
        </p:spPr>
        <p:txBody>
          <a:bodyPr>
            <a:normAutofit/>
          </a:bodyPr>
          <a:lstStyle/>
          <a:p>
            <a:pPr algn="just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Политика отражает приверженность Общества и его руководства высоким этическим стандартам ведения открытого и честного бизнеса для совершенствования корпоративной культуры, следования лучшим практикам корпоративного управления и поддержания деловой репутации Общества на должном уровне.</a:t>
            </a:r>
          </a:p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E3D73AF-8A46-43E1-B24D-69500FE75408}"/>
              </a:ext>
            </a:extLst>
          </p:cNvPr>
          <p:cNvSpPr/>
          <p:nvPr/>
        </p:nvSpPr>
        <p:spPr>
          <a:xfrm>
            <a:off x="5447928" y="162880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 defTabSz="914400"/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Антикоррупционная политика Общества с ограниченной ответственностью «Группа ПОЛИПЛАСТИК» (далее - Общество) определяет основные задачи, принципы и направления антикоррупционной деятельности в компании. Целью ее принятия  является организация и координация деятельности Общества, членов его органов управления, работников и иных лиц, действующих от имени Общества, направленной на предупреждение, выявление, пресечение и минимизацию последствий коррупции в Обществе.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18A339-B857-4611-9370-76C19B9AE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72" y="4072471"/>
            <a:ext cx="3275856" cy="2313458"/>
          </a:xfrm>
          <a:prstGeom prst="rect">
            <a:avLst/>
          </a:prstGeom>
          <a:effectLst>
            <a:softEdge rad="279400"/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D60B44-44E9-460A-8DC2-478C1F257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480" y="1568224"/>
            <a:ext cx="3181350" cy="2381250"/>
          </a:xfrm>
          <a:prstGeom prst="rect">
            <a:avLst/>
          </a:prstGeom>
          <a:effectLst>
            <a:softEdge rad="3048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4624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66A2142A-A0FC-4B6B-A854-DF92391B8297}"/>
              </a:ext>
            </a:extLst>
          </p:cNvPr>
          <p:cNvSpPr txBox="1">
            <a:spLocks/>
          </p:cNvSpPr>
          <p:nvPr/>
        </p:nvSpPr>
        <p:spPr>
          <a:xfrm>
            <a:off x="983432" y="2060848"/>
            <a:ext cx="10873208" cy="33610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Контрагент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юридическое или физическое лицо, российское или иностранное, с которым Общество вступает в договорные отношения, в том числе по трудовым договорам, а также любое иное лицо, с которым у Общества возникают правоотношения, вытекающие из гражданско-правовых, административных или иных отношений.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Коррупционные действия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дача или получение взятки, посредничество в даче или получении взятки, злоупотребление служебным положением или полномочиями, коммерческий подкуп, платеж для упрощения формальностей, незаконное использование лицом должностного положения для получения выгоды в виде денег, ценностей, иного имущества, услуг, каких-либо прав для себя или для третьих лиц, либо незаконное предоставление такой выгоды или прав этому лицу другими лицами, в том числе совершение указанных деяний от имени или в интересах Общества.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Подарок </a:t>
            </a:r>
            <a:r>
              <a:rPr lang="ru-RU" sz="1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любая ценность, выгода или преимущество, передаваемое в пользу или получаемое от третьих лиц, на безвозмездной основе.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Антикоррупционная оговорка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раздел договоров, соглашений, контрактов Общества, декларирующий проведение Обществом антикоррупционной политики и развитие не допускающей коррупционных действий культуры.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16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8DE944A-7484-4DA6-8B69-569CF27A84B3}"/>
              </a:ext>
            </a:extLst>
          </p:cNvPr>
          <p:cNvSpPr txBox="1">
            <a:spLocks/>
          </p:cNvSpPr>
          <p:nvPr/>
        </p:nvSpPr>
        <p:spPr>
          <a:xfrm>
            <a:off x="2999656" y="382424"/>
            <a:ext cx="670708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ПОНЯТИЯ И ТЕРМИНЫ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1874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0D3C0-BED7-4923-8786-630E75CBD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292" y="476672"/>
            <a:ext cx="9371384" cy="9131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ВСЕМ РАБОТНИКАМ ОБЩЕСТВА СТРОГО ЗАПРЕЩАЕТСЯ:</a:t>
            </a:r>
            <a:endParaRPr lang="ru-RU" sz="1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C7F851-5DFF-419A-BEA1-F2CE4DA03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2081853"/>
            <a:ext cx="10945216" cy="26942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прямо или косвенно, лично или через посредничество третьих лиц участвовать в коррупционных действиях;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предлагать, давать, обещать, просить и получать взятки или совершать платежи для упрощения административных, бюрократических и прочих формальностей в любой форме, в том числе в форме денежных средств, ценностей, услуг или иной выгоды каким-либо лицам и от каких-либо лиц и организаций, включая коммерческие организации, органы власти и самоуправления, российских и иностранных государственных служащих, частных компаний и их представителей.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D0362D-CB31-4B60-80FA-2DFB87C99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136" y="3843056"/>
            <a:ext cx="3816424" cy="2518732"/>
          </a:xfrm>
          <a:prstGeom prst="rect">
            <a:avLst/>
          </a:prstGeom>
          <a:effectLst>
            <a:softEdge rad="2413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1920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93FA8-5BE1-4B40-9ABE-C87635B7E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7499176" cy="1143000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КОНТРАГЕНТОВ НА СООТВЕТСТВИЕ АНТИКОРРУПЦИОННЫМ ТРЕБОВАНИЯМ</a:t>
            </a:r>
            <a:endParaRPr lang="ru-RU" sz="1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D2E5D3-0B6F-43DF-83ED-E6D39B23D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700808"/>
            <a:ext cx="10873208" cy="4525963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Общество прилагает разумные усилия, чтобы минимизировать риск деловых отношений с контрагентами, которые  были или могут быть вовлечены в коррупционную деятельность. С этой целью в компании проводится проверка контрагентов.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 проверки предусматривает мониторинг и анализ всей доступной информации о контрагенте, используя основные публичные источники, информационно-аналитические системы, а также дополнительные открытые первоисточники. 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позволяет установить: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юридический статус;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деловую репутацию контрагента;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фактическое местонахождение контрагента и виды его экономической деятельности;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финансовые, материальные, человеческие и иные ресурсы контрагента, позволяющие надлежащим образом осуществлять деятельность в рамках предполагаемого делового партнерства / заключаемого контракта;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юридических лиц, индивидуальных предпринимателей и физических лиц.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Проверку контрагентов можно провести самостоятельно с использованием открытых источников     , либо направив запрос на адрес электронной почты:  «Проверка контрагентов» (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proverka@polyplastic.ru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в 1С ЕРП, где в течение одного рабочего дня проведут проверку и оценку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информации и </a:t>
            </a:r>
            <a:r>
              <a:rPr lang="ru-RU" sz="640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документов потенциального контрагента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E14470-A2AC-4A61-AFC5-7F04A590D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2304" y="4785003"/>
            <a:ext cx="3129746" cy="1911275"/>
          </a:xfrm>
          <a:prstGeom prst="rect">
            <a:avLst/>
          </a:prstGeom>
          <a:effectLst>
            <a:softEdge rad="152400"/>
          </a:effectLst>
        </p:spPr>
      </p:pic>
      <p:sp>
        <p:nvSpPr>
          <p:cNvPr id="5" name="Стрелка: вправо 4">
            <a:hlinkClick r:id="" action="ppaction://noaction"/>
            <a:extLst>
              <a:ext uri="{FF2B5EF4-FFF2-40B4-BE49-F238E27FC236}">
                <a16:creationId xmlns:a16="http://schemas.microsoft.com/office/drawing/2014/main" id="{2A91284D-1ECA-4C40-82A9-DEDD32265127}"/>
              </a:ext>
            </a:extLst>
          </p:cNvPr>
          <p:cNvSpPr/>
          <p:nvPr/>
        </p:nvSpPr>
        <p:spPr>
          <a:xfrm>
            <a:off x="10200456" y="4800009"/>
            <a:ext cx="144016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1251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C74DD-45BE-40D9-8793-A0C066F4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367351"/>
            <a:ext cx="7643192" cy="1143000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УВЕДОМЛЕНИЕ РАБОТОДАТЕЛЯ О СТАВШИХ ИЗВЕСТНЫМИ СЛУЧАЯХ КОРРУПЦИОННЫХ ПРАВОНАРУШЕНИЙ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D283C-C5F8-4F96-95C3-EC135072B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777" y="1628800"/>
            <a:ext cx="7139136" cy="5046638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Работник Общества обязан незамедлительно, в тот же день в письменном виде (при невозможности уведомить в тот же день на следующий день), информировать генерального директора Общества, своего непосредственного руководителя и (или) лицо, ответственное за профилактику коррупционных правонарушений в Обществе о:</a:t>
            </a:r>
          </a:p>
          <a:p>
            <a:pPr marL="0" algn="just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ставшей ему известной информации о случаях совершения коррупционных правонарушений,	непредставления сведений либо представления заведомо недостоверных или неполных сведений о доходах, имуществе, обязательствах имущественного характера другими работниками, контрагентами или иными лицами;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6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фактах обращения к нему каких-либо лиц в целях склонения его к совершению коррупционного правонарушения.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невозможности направления работником уведомления (служебная командировка, отпуск, больничный и т.д.) допускается его передача посредством электронной почты на корпоративный адрес: «Предотвратим коррупцию!» (</a:t>
            </a:r>
            <a:r>
              <a:rPr lang="ru-RU" sz="6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anti-corruption@polyplastic.ru</a:t>
            </a:r>
            <a:r>
              <a:rPr lang="ru-RU" sz="6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или в устном виде на «горячую линию» по внутреннему корпоративному номеру 4384, для региональных предприятий  –    71-4384.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9BD841-C7B8-4CE3-B261-7BB9C3909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903" y="1783489"/>
            <a:ext cx="3287688" cy="47093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1319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228FA-6BA8-4444-9ACF-6E287E41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РАБОТНИКА, СООБЩИВШЕГО </a:t>
            </a:r>
            <a:b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КОРРУПЦИОННЫХ ПРАВОНАРУШЕНИЯХ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BB6265-8ED7-4F5F-9F42-AD901E99A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1700808"/>
            <a:ext cx="10729192" cy="36004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Работнику, уведомившему работодателя о фактах обращения каких-либо лиц к нему в целях склонения к совершению коррупционного правонарушения или о фактах обращения к иным работникам Общества в связи с исполнением должностных обязанностей в целях склонения их к совершению коррупционных правонарушений, обеспечивается защита в рамках законодательства РФ.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 мер по защите работников представляет собой: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обеспечение конфиденциальности сведений, переданных работником;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защиту от неправомерного увольнения и иных ущемлений прав и законных интересов работника в рамках трудовой деятельности;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меры прокурорского реагирования: протест; представление; постановление о возбуждении дела об административном правонарушении; предостережение о недопустимости нарушения законов; постановление о направлении материалов для решения вопроса об уголовном преследовании, иск в суд, информация о состоянии законности.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8B86B5-34E9-44C8-9E9F-6D873123E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200" y="4581128"/>
            <a:ext cx="4067184" cy="2276872"/>
          </a:xfrm>
          <a:prstGeom prst="rect">
            <a:avLst/>
          </a:prstGeom>
          <a:effectLst>
            <a:softEdge rad="190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705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F155B-B656-41F8-857D-85C0E3C0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ПООЩРЕНИЯ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E8B50B-852E-4166-929D-73AE688FD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709835"/>
            <a:ext cx="10801200" cy="474350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Лицу, способствующему раскрытию правонарушения коррупционной направленности, с его согласия, генеральным директором Общества может быть объявлено нематериальное поощрение в форме:</a:t>
            </a:r>
          </a:p>
          <a:p>
            <a:pPr marL="0" algn="just">
              <a:spcBef>
                <a:spcPts val="0"/>
              </a:spcBef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вынесения устной благодарности;  </a:t>
            </a:r>
          </a:p>
          <a:p>
            <a:pPr marL="0" algn="just">
              <a:spcBef>
                <a:spcPts val="0"/>
              </a:spcBef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вручения благодарственного письма;</a:t>
            </a:r>
          </a:p>
          <a:p>
            <a:pPr marL="0" algn="just">
              <a:spcBef>
                <a:spcPts val="0"/>
              </a:spcBef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вынесения благодарности с занесением в трудовую книжку.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7C963E-21AB-4FD0-87CC-2C08731EE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760" y="3284984"/>
            <a:ext cx="3883740" cy="2937213"/>
          </a:xfrm>
          <a:prstGeom prst="rect">
            <a:avLst/>
          </a:prstGeom>
          <a:effectLst>
            <a:softEdge rad="2159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919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28EBF-035C-411D-ADA6-492D2CC01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00" y="476672"/>
            <a:ext cx="6347048" cy="796950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ПОДАРКИ И ПРЕДСТАВИТЕЛЬСКИЕ РАСХОДЫ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A00B9E-86EC-4120-9B26-ECBF050C5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975554"/>
            <a:ext cx="10873208" cy="4525963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6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Подарки и представительские расходы, которые работники могут получать или предоставлять от имени Общества, должны соответствовать следующим критериям: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быть прямо связаны с законными целями деятельности Общества: презентацией или завершением бизнес-проектов; успешным исполнением контрактов; общепринятыми праздниками, а также памятными датами и юбилеями; 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быть разумно обоснованными, соразмерными и не являться предметами роскоши; 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должны быть дорогостоящими (их стоимость не должна составлять более трех тысяч рублей);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представлять собой скрытое вознаграждение за услугу, действие, бездействие, попустительство, принятие определенного решения о сделке, соглашении, и т.п. или попытку оказать влияние на получателя с иной незаконной или неэтичной целью;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создавать репутационного риска для Общества, работников и  иных лиц в случае раскрытия информации о подарках или представительских расходах;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противоречить принципам и требованиям настоящей Политики, Кодекса корпоративной этики, другим локальным нормативным актам Общества и нормам применимого законодательства.</a:t>
            </a:r>
          </a:p>
          <a:p>
            <a:pPr marL="0" indent="0">
              <a:buNone/>
            </a:pP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319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74E47-2A99-49C4-97B1-9C1DE060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7355160" cy="1143000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ПОДАРКИ И ПРЕДСТАВИТЕЛЬСКИЕ РАСХОДЫ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EF0055-3A96-490B-B2D1-05C86C7D4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772816"/>
            <a:ext cx="10801200" cy="3744416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допускаются подарки от имени Общества, его работников и представителей третьим лицам в виде денежных средств в любой валюте, наличных или безналичных, ценных бумаг и драгоценных металлов.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получении делового подарка работник обязан принять меры по недопущению возможности возникновения конфликта интересов.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случае возникновения конфликта интересов или возможности его возникновения при получении делового подарка, работник в установленном порядке должен уведомить об этом Общество и сдать полученный деловой подарок ответственному за  профилактику коррупционных правонарушений (за исключением  канцелярских принадлежностей).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Работнику категорически запрещается просить, требовать, вынуждать третьих лиц дарить ему либо лицам, с которыми он состоит в близком родстве или свойстве, деловые подарки и (или) оказывать в их пользу знаки делового гостеприимства, а также принимать подарки в форме наличных, безналичных денежных средств, ценных бумаг, драгоценных металлов.</a:t>
            </a:r>
          </a:p>
          <a:p>
            <a:endParaRPr lang="ru-RU" sz="1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BCD314-31EF-4897-A8F1-E68FB7A4B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56" y="4509120"/>
            <a:ext cx="3528384" cy="2281357"/>
          </a:xfrm>
          <a:prstGeom prst="rect">
            <a:avLst/>
          </a:prstGeom>
          <a:effectLst>
            <a:softEdge rad="317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486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017FC-2B18-4C26-981E-80FB08C6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274638"/>
            <a:ext cx="6552728" cy="1143000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 В БЛАГОТВОРИТЕЛЬНОЙ И ПОЛИТИЧЕСКОЙ ДЕЯТЕЛЬНОСТИ, СПОНСОРСТВО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A628F2-AE76-4AAC-ACFB-82A06C913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844824"/>
            <a:ext cx="10801200" cy="4525963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Общество не финансирует благотворительные и спонсорские проекты, политические партии, организации и движения в целях получения коммерческих преимуществ в конкретных проектах.</a:t>
            </a: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Благотворительная деятельность Общества и реализация проектов в области корпоративной социальной ответственности осуществляется в соответствии с локальными нормативными актами Общества, а также другими нормативными документами, регламентирующими деятельность Общества по данным направлениям.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2CE9A0-D5CB-42FE-BD70-51A599B03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787" y="3501009"/>
            <a:ext cx="4215206" cy="2954160"/>
          </a:xfrm>
          <a:prstGeom prst="rect">
            <a:avLst/>
          </a:prstGeom>
          <a:effectLst>
            <a:softEdge rad="3683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221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68800-E564-4B0A-B53D-EB1FB8BA9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875" y="248972"/>
            <a:ext cx="7355160" cy="868958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Обязательство соблюдения норм </a:t>
            </a:r>
            <a:b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антикоррупционного законодательства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B32EE9-99CA-43F8-8769-C0EE17F4B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229352"/>
            <a:ext cx="5040560" cy="2088233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целях соблюдения антикоррупционного законодательства, реализации мер, направленных на борьбу с коррупцией и формирования у работников нетерпимости к противозаконным действиям, Общество осуществляет включение антикоррупционных условий (оговорок) в трудовые договоры с работниками.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FE8149-214E-4F29-8E9B-F587077467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307" t="76412" r="31842" b="3800"/>
          <a:stretch/>
        </p:blipFill>
        <p:spPr>
          <a:xfrm>
            <a:off x="7325472" y="5733256"/>
            <a:ext cx="2442938" cy="10801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535FA6-E8E3-4BB6-AC62-DED31B46EF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849" r="2730" b="33234"/>
          <a:stretch/>
        </p:blipFill>
        <p:spPr>
          <a:xfrm>
            <a:off x="7325471" y="2616458"/>
            <a:ext cx="2520118" cy="31788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59EA70-5B06-414E-88B4-BE45D62E7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6205" y="2996952"/>
            <a:ext cx="2460262" cy="3610917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A81D42-C062-48FB-96BC-DEDD96AC9ACC}"/>
              </a:ext>
            </a:extLst>
          </p:cNvPr>
          <p:cNvSpPr/>
          <p:nvPr/>
        </p:nvSpPr>
        <p:spPr>
          <a:xfrm>
            <a:off x="6240016" y="1536140"/>
            <a:ext cx="56399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каждым работником Общества в обязательном порядке подписывается Обязательство соблюдения норм антикоррупционного законодательства при заключении трудового договора.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243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3BFEF-1525-4653-9CD9-6586BD383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332656"/>
            <a:ext cx="6408712" cy="1143000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С КОНТРАГЕНТАМИ ОБЩЕСТВА В СФЕРЕ ПРОТИВОДЕЙСТВИЯ КОРРУПЦИИ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38B3B8-5FD1-4B1A-B7D4-2A5F7721C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3068960"/>
            <a:ext cx="6048672" cy="2376264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Общество стремится иметь деловые отношения с контрагентами, декларирующими непринятие коррупции и поддерживающими настоящую Политику.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целях исполнения положений Политики Общество осуществляет включение антикоррупционных условий (оговорок) в договоры с контрагентами.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E925A2-BF5D-4F0C-9661-B198539510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912" t="12006" r="31100" b="29001"/>
          <a:stretch/>
        </p:blipFill>
        <p:spPr>
          <a:xfrm>
            <a:off x="7295999" y="1628800"/>
            <a:ext cx="2953095" cy="33632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247C73-83E5-4D5F-BCB9-5EEC8D885FB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912" t="47394" r="31939" b="27600"/>
          <a:stretch/>
        </p:blipFill>
        <p:spPr>
          <a:xfrm>
            <a:off x="7320136" y="4867683"/>
            <a:ext cx="2880320" cy="16801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977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467BC53C-8EFE-430D-92AD-B4DB9849F8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innerShdw>
              <a:scrgbClr r="0" g="0" b="0">
                <a:alpha val="0"/>
              </a:scrgbClr>
            </a:inn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ISPRING_QUIZ_SHAPE1">
            <a:extLst>
              <a:ext uri="{FF2B5EF4-FFF2-40B4-BE49-F238E27FC236}">
                <a16:creationId xmlns:a16="http://schemas.microsoft.com/office/drawing/2014/main" id="{9183E151-1B69-4011-B601-C30EC1236D89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41270" y="1851660"/>
            <a:ext cx="71120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5" name="ISPRING_QUIZ_SHAPE2">
            <a:extLst>
              <a:ext uri="{FF2B5EF4-FFF2-40B4-BE49-F238E27FC236}">
                <a16:creationId xmlns:a16="http://schemas.microsoft.com/office/drawing/2014/main" id="{7606D9CE-CA11-4C0E-9E36-DA5A86272A05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7" name="ISPRING_QUIZ_SHAPE3">
            <a:extLst>
              <a:ext uri="{FF2B5EF4-FFF2-40B4-BE49-F238E27FC236}">
                <a16:creationId xmlns:a16="http://schemas.microsoft.com/office/drawing/2014/main" id="{4462DE61-7314-444D-933D-953A6C3D1EE8}"/>
              </a:ext>
            </a:extLst>
          </p:cNvPr>
          <p:cNvPicPr>
            <a:picLocks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8" name="ISPRING_QUIZ_SHAPE4">
            <a:extLst>
              <a:ext uri="{FF2B5EF4-FFF2-40B4-BE49-F238E27FC236}">
                <a16:creationId xmlns:a16="http://schemas.microsoft.com/office/drawing/2014/main" id="{6FEC60C4-6296-469E-8BEA-1E9517A10A70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2690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91F16F-C0F8-4732-93C3-40962D408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528" y="526368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ПОЗДРАВЛЯЕМ,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 ЗАВЕРШИЛИ КУРС!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011B8A9-5A30-4408-A824-6B0BBDBDA5A0}"/>
              </a:ext>
            </a:extLst>
          </p:cNvPr>
          <p:cNvSpPr txBox="1">
            <a:spLocks/>
          </p:cNvSpPr>
          <p:nvPr/>
        </p:nvSpPr>
        <p:spPr>
          <a:xfrm>
            <a:off x="1847528" y="2420889"/>
            <a:ext cx="8229600" cy="645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полным текстом документа по Антикоррупционной политике  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ознакомиться на корпоративном портале Общества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1A70616-F1DB-4C54-ABAD-EC803E3C5BD0}"/>
              </a:ext>
            </a:extLst>
          </p:cNvPr>
          <p:cNvGrpSpPr/>
          <p:nvPr/>
        </p:nvGrpSpPr>
        <p:grpSpPr>
          <a:xfrm>
            <a:off x="3863752" y="3284992"/>
            <a:ext cx="4752528" cy="2886983"/>
            <a:chOff x="2339752" y="3284984"/>
            <a:chExt cx="4752528" cy="2886983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B02B00BD-53AC-4813-AC1B-0529B26FA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39752" y="3284984"/>
              <a:ext cx="4752528" cy="2886983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EF02F03-DE32-4C4D-9846-4DAF326F637F}"/>
                </a:ext>
              </a:extLst>
            </p:cNvPr>
            <p:cNvSpPr/>
            <p:nvPr/>
          </p:nvSpPr>
          <p:spPr>
            <a:xfrm>
              <a:off x="5652120" y="3645024"/>
              <a:ext cx="432048" cy="144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1ADDBB64-1B09-4936-BF2B-F24A82DBD08D}"/>
                </a:ext>
              </a:extLst>
            </p:cNvPr>
            <p:cNvSpPr/>
            <p:nvPr/>
          </p:nvSpPr>
          <p:spPr>
            <a:xfrm>
              <a:off x="6156176" y="5949280"/>
              <a:ext cx="864096" cy="1440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2255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FOLDER" val="\\server\Public\Группа Полипластик\Управление по работе с персоналом\Отдел развития персонала\Обучение персонала\Он-лайн обучение\Дистанционные курсы\Антикоррупционная политика\Антикоррупционная политика\"/>
  <p:tag name="ISPRING_PRESENTATION_PATH" val="\\server\Public\Группа Полипластик\Управление по работе с персоналом\Отдел развития персонала\Обучение персонала\Он-лайн обучение\Дистанционные курсы\Антикоррупционная политика\Антикоррупционная политика.pptx"/>
  <p:tag name="ISPRING_PROJECT_VERSION" val="9.3"/>
  <p:tag name="ISPRING_PROJECT_FOLDER_UPDATED" val="1"/>
  <p:tag name="ISPRING_SCREEN_RECS_UPDATED" val="\\server\Public\Группа Полипластик\Управление по работе с персоналом\Отдел развития персонала\Обучение персонала\Он-лайн обучение\Дистанционные курсы\Антикоррупционная политика\Антикоррупционная политика\"/>
  <p:tag name="ISPRING_PRESENTATION_TITLE" val="Антикоррупционная политика"/>
  <p:tag name="ISPRING_FIRST_PUBLISH" val="1"/>
  <p:tag name="ISPRING_UUID" val="{7F387DCB-EA4D-4FD9-89A4-08F757C0F052}"/>
  <p:tag name="ISPRING_LMS_API_VERSION" val="SCORM 2004 (4th edition)"/>
  <p:tag name="ISPRING_ULTRA_SCORM_COURSE_ID" val="F61552E8-ADAE-4567-AB38-CA535A631CF5"/>
  <p:tag name="ISPRING_CMI5_LAUNCH_METHOD" val="any window"/>
  <p:tag name="ISPRINGCLOUDFOLDERID" val="1"/>
  <p:tag name="ISPRING_OUTPUT_FOLDER" val="[[&quot;=]9\uFFFD{4B58CD1E-8450-430F-A22B-F44E77FD422F}&quot;,&quot;\\\\server\\Public\\Группа Полипластик\\Управление по работе с персоналом\\Отдел развития персонала\\Обучение персонала\\Он-лайн обучение\\Дистанционные курсы\\Антикоррупционная политика&quot;]]"/>
  <p:tag name="ISPRING_SCORM_RATE_SLIDES" val="0"/>
  <p:tag name="ISPRING_SCORM_PASSING_SCORE" val="80.000000"/>
  <p:tag name="ISPRINGONLINEFOLDERID" val="0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5F8BD9&quot;,&quot;opacity&quot;:1,&quot;type&quot;:&quot;SOLID&quot;},&quot;primaryButtonBackgroundHover&quot;:{&quot;color&quot;:&quot;#5077BB&quot;,&quot;opacity&quot;:1,&quot;type&quot;:&quot;SOLID&quot;},&quot;primaryButtonBorder&quot;:{&quot;color&quot;:&quot;#5F8BD9&quot;,&quot;opacity&quot;:1,&quot;type&quot;:&quot;SOLID&quot;},&quot;primaryButtonBorderHover&quot;:{&quot;color&quot;:&quot;#5077BB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1F2F4&quot;,&quot;opacity&quot;:1,&quot;type&quot;:&quot;SOLID&quot;},&quot;secondaryButtonBackgroundHover&quot;:{&quot;color&quot;:&quot;#E5E5E5&quot;,&quot;opacity&quot;:1,&quot;type&quot;:&quot;SOLID&quot;},&quot;secondaryButtonBorder&quot;:{&quot;color&quot;:&quot;#F1F2F4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6870&quot;,&quot;opacity&quot;:1,&quot;type&quot;:&quot;SOLID&quot;}},&quot;controlPanel&quot;:{&quot;navigationMode&quot;:&quot;bySlides&quot;,&quot;progressBar&quot;:{&quot;enabled&quot;:true,&quot;mode&quot;:&quot;presentationTimeline&quot;,&quot;showLabels&quot;:true,&quot;visible&quot;:true},&quot;showCCButton&quot;:false,&quot;showNextButton&quot;:true,&quot;showOutline&quot;:true,&quot;showPlayPause&quot;:true,&quot;showPlaybackRateButton&quot;:true,&quot;showPrevButton&quot;:true,&quot;showRewind&quot;:false,&quot;showSlideNumbers&quot;:true,&quot;showSlideOnlyButton&quot;:true,&quot;showTimer&quot;:false,&quot;showVolumeControl&quot;:tru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sidePanel&quot;:{&quot;showAtLeft&quot;:false,&quot;showLogo&quot;:false,&quot;showNotes&quot;:false,&quot;showOutline&quot;:false,&quot;showPresenterInfo&quot;:false,&quot;showPresenterVideo&quot;:false,&quot;visible&quot;:false},&quot;titlePanel&quot;:{&quot;buttons&quot;:[&quot;attachments&quot;,&quot;markerTools&quot;,&quot;presenterInfo&quot;],&quot;buttonsAtLeft&quot;:false,&quot;courseTitleVisible&quot;:true,&quot;showLogo&quot;:true,&quot;visible&quot;:true},&quot;version&quot;:&quot;1.1&quot;},&quot;skinMessages&quot;:{&quot;PB_ACCESSIBLE_ARIA_LABEL_BACK_TO_BEGIN&quot;:&quot;Перейти к началу слайда&quot;,&quot;PB_ACCESSIBLE_ARIA_LABEL_BOTTOM_PANEL&quot;:&quot;Нижняя панель&quot;,&quot;PB_ACCESSIBLE_ARIA_LABEL_NAVIGATION_BUTTONS&quot;:&quot;Кнопки навигации&quot;,&quot;PB_ACCESSIBLE_ARIA_LABEL_SETTINGS&quot;:&quot;Настройки доступности&quot;,&quot;PB_ACCESSIBLE_ARIA_LABEL_SLIDE&quot;:&quot;Слайд&quot;,&quot;PB_ACCESSIBLE_ARIA_LABEL_TOP_PANEL&quot;:&quot;Верхняя панель&quot;,&quot;PB_ACCESSIBLE_AUDIO_NARRATION_LABEL&quot;:&quot;Аудиосопровождение&quot;,&quot;PB_ACCESSIBLE_NAVIGATION_NEXT_BUTTON&quot;:&quot;Далее&quot;,&quot;PB_ACCESSIBLE_NAVIGATION_PREV_BUTTON&quot;:&quot;Назад&quot;,&quot;PB_ACCESSIBLE_SKIN_ENABLE_ACCESSIBILITY_MODE&quot;:&quot;В режим для слабовидящих&quot;,&quot;PB_ACCESSIBLE_SKIN_ENABLE_NORMAL_MODE&quot;:&quot;В режим полного плеера&quot;,&quot;PB_ACCESSIBLE_SKIN_PRESENTER_PHOTO&quot;:&quot;Фотография докладчика&quot;,&quot;PB_ACCESSIBLE_SLIDE_N_OF_COUNT&quot;:&quot;Слайд %SLIDE_NUMBER% из %TOTAL_SLIDES%&quot;,&quot;PB_ACCESSIBLE_VIDEO_NARRATION_LABEL&quot;:&quot;Видеосопровождение&quot;,&quot;PB_ACCESSIBLE_WATERMARK_SKIN_CREATED_WITH&quot;:&quot;Создано с помощью демо-версии iSpring&quot;,&quot;PB_ATTACHMENT_DOCUMENT_SUBTITLE&quot;:&quot;Документ&quot;,&quot;PB_ATTACHMENT_FILE_SUBTITLE&quot;:&quot;Файл&quot;,&quot;PB_ATTACHMENT_IMAGE_SUBTITLE&quot;:&quot;Изображение&quot;,&quot;PB_ATTACHMENT_LINK_SUBTITLE&quot;:&quot;Ссылка&quot;,&quot;PB_ATTACHMENT_VIDEO_SUBTITLE&quot;:&quot;Видео&quot;,&quot;PB_BACK_TO_APP_BUTTON_LABEL&quot;:&quot;Назад&quot;,&quot;PB_CC_MENU_OFF&quot;:&quot;Выкл.&quot;,&quot;PB_CC_MENU_ON&quot;:&quot;Вкл.&quot;,&quot;PB_CC_MENU_TITLE&quot;:&quot;Заметки&quot;,&quot;PB_CONTROL_PANEL_CLOSED_CAPTIONS&quot;:&quot;Заметки&quot;,&quot;PB_CONTROL_PANEL_EXIT_FULL_SCREEN&quot;:&quot;Выход из полноэкранного режима&quot;,&quot;PB_CONTROL_PANEL_FULL_SCREEN&quot;:&quot;На весь экран&quot;,&quot;PB_CONTROL_PANEL_NEXT&quot;:&quot;Далее&quot;,&quot;PB_CONTROL_PANEL_OUTLINE&quot;:&quot;Слайды&quot;,&quot;PB_CONTROL_PANEL_PREV&quot;:&quot;&quot;,&quot;PB_CONTROL_PANEL_REPLAY&quot;:&quot;Повторить&quot;,&quot;PB_CONTROL_PANEL_SLIDE_COUNTER&quot;:&quot;%SLIDE_NUMBER% из %TOTAL_SLIDES%&quot;,&quot;PB_CONTROL_PANEL_VOLUME_CONTROL&quot;:&quot;Громкость&quot;,&quot;PB_CURRENT_SLIDE_IS_NOT_COMPLETED&quot;:&quot;Чтобы продолжить, просмотрите слайд до конца.&quot;,&quot;PB_DOMAIN_RESTRICTION&quot;:&quot;Автор запретил просмотр презентации на этом домене.&quot;,&quot;PB_DRAWING_TOOLS_END_DRAWING&quot;:&quot;Завершить рисование&quot;,&quot;PB_DRAWING_TOOLS_ERASER&quot;:&quot;Ластик&quot;,&quot;PB_DRAWING_TOOLS_ERASE_ALL&quot;:&quot;Очистить все&quot;,&quot;PB_DRAWING_TOOLS_HIGHLIGHTER&quot;:&quot;Маркер&quot;,&quot;PB_DRAWING_TOOLS_PEN&quot;:&quot;Фломастер&quot;,&quot;PB_ENTER_PASSWORD&quot;:&quot;Введите пароль, чтобы посмотреть эту презентацию.&quot;,&quot;PB_INCORRECT_PASSWORD&quot;:&quot;Неверный пароль&quot;,&quot;PB_INTERACTION_SLIDE_WINDOW_TEXT&quot;:&quot;Чтобы перейти на другой слайд, нужно завершить интерактивность.&quot;,&quot;PB_MESSAGE_BOX_NO&quot;:&quot;Нет&quot;,&quot;PB_MESSAGE_BOX_OK&quot;:&quot;ОК&quot;,&quot;PB_MESSAGE_BOX_YES&quot;:&quot;Да&quot;,&quot;PB_NAVIGATION_IS_RESTRICTED&quot;:&quot;Слайды можно просматривать только по порядку.&quot;,&quot;PB_NAVIGATION_IS_SEQUENTIAL&quot;:&quot;Слайды можно просматривать только по порядку.&quot;,&quot;PB_PLAYBACK_RATE_MENU_CAPTION&quot;:&quot;Скорость&quot;,&quot;PB_PRECEDING_QUIZ_FAILED_WINDOW_TEXT&quot;:&quot;Вы не прошли тест на слайде %SLIDE_INDEX% и не можете перейти к следующим слайдам.&quot;,&quot;PB_PRECEDING_QUIZ_NOT_COMPLETED_WINDOW_TEXT&quot;:&quot;Для перехода на этот слайд нужно завершить тест на слайде %SLIDE_INDEX%.&quot;,&quot;PB_PRECEDING_QUIZ_NOT_PASSED_WINDOW_TEXT&quot;:&quot;Для перехода на этот слайд нужно успешно пройти тест на слайде %SLIDE_INDEX%.&quot;,&quot;PB_PRECEDING_SCENARIO_FAILED_WINDOW_TEXT&quot;:&quot;Вы не прошли диалоговый тренажер на слайде %SLIDE_INDEX% и не можете перейти к следующим слайдам.&quot;,&quot;PB_PRECEDING_SCENARIO_NOT_COMPLETED_WINDOW_TEXT&quot;:&quot;Для перехода на этот слайд нужно завершить диалоговый тренажер на слайде %SLIDE_INDEX%.&quot;,&quot;PB_PRECEDING_SCENARIO_NOT_PASSED_WINDOW_TEXT&quot;:&quot;Для перехода на этот слайд нужно успешно завершить диалоговый тренажер на слайде %SLIDE_INDEX%.&quot;,&quot;PB_PRESENTER_COLLAPSE_BIO&quot;:&quot;скрыть&quot;,&quot;PB_PRESENTER_EMAIL&quot;:&quot;Email&quot;,&quot;PB_PRESENTER_EXPAND_BIO&quot;:&quot;показать еще&quot;,&quot;PB_PRESENTER_NO_INFO&quot;:&quot;Нет информации о докладчике&quot;,&quot;PB_PRESENTER_WEBSITE&quot;:&quot;Сайт&quot;,&quot;PB_QUIZ_SLIDE_WINDOW_TEXT&quot;:&quot;Чтобы перейти на другой слайд, нужно завершить тест.&quot;,&quot;PB_RATE_MENU_CAPTION&quot;:&quot;Скорость&quot;,&quot;PB_RATE_MENU_DEFAULT_RATE&quot;:&quot;Обычная&quot;,&quot;PB_RESUME_PRESENTATION_WINDOW_TEXT&quot;:&quot;Продолжить просмотр с места, где вы остановились?&quot;,&quot;PB_SCENARIO_SLIDE_WINDOW_TEXT&quot;:&quot;Для перехода на этот слайд нужно завершить диалоговый тренажер.&quot;,&quot;PB_SEARCH_CANCEL&quot;:&quot;Отмена&quot;,&quot;PB_SEARCH_NO_RESULTS_LABEL&quot;:&quot;Ничего не нашлось.&quot;,&quot;PB_SEARCH_PANEL_DEFAULT_TEXT&quot;:&quot;Поиск…&quot;,&quot;PB_SEARCH_RESULTS_LABEL&quot;:&quot;Результаты поиска&quot;,&quot;PB_SEARCH_RESULT_IN_NOTES&quot;:&quot;в заметках&quot;,&quot;PB_SEARCH_RESULT_IN_TEXT_LABEL&quot;:&quot;на слайде&quot;,&quot;PB_SUBTITLES_MENU_CAPTION&quot;:&quot;Субтитры&quot;,&quot;PB_SUBTITLES_OFF&quot;:&quot;Выкл.&quot;,&quot;PB_TAB_NOTES_LABEL&quot;:&quot;Заметки&quot;,&quot;PB_TAB_OUTLINE_LABEL&quot;:&quot;Слайды&quot;,&quot;PB_TIME_RESTRICTION&quot;:&quot;В настоящее время просмотр этой презентации запрещен ее автором.&quot;,&quot;PB_TITLE_PANEL_ATTACHMENTS&quot;:&quot;Ресурсы&quot;,&quot;PB_TITLE_PANEL_MARKER_TOOLS&quot;:&quot;Рисование&quot;,&quot;PB_TITLE_PANEL_NOTES&quot;:&quot;Заметки&quot;,&quot;PB_TITLE_PANEL_OUTLINE&quot;:&quot;Оглавление&quot;,&quot;PB_TITLE_PANEL_PRESENTER_INFO&quot;:&quot;Докладчик&quot;,&quot;PB_TREE_CONTROL_LOADING&quot;:&quot;Загрузка…&quot;,&quot;PB_VIDEO_WINDOW_NO_VIDEO_LABEL&quot;:&quot;Нет видео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3,&quot;skinCompatibleVersion&quot;:0,&quot;publishSettings&quot;:{&quot;backgroundColor&quot;:&quot;#DCDEE0&quot;,&quot;playerDimensions&quot;:{&quot;height&quot;:144,&quot;width&quot;:16},&quot;playerModule&quot;:&quot;UniversalHtml&quot;,&quot;presentationContent&quot;:{&quot;metadata&quot;:{&quot;references&quot;:true,&quot;texts&quot;:[&quot;DT_COMPANY_WEBSITE&quot;,&quot;DT_COURSE_TITLE&quot;,&quot;DT_REFERENCE_URL&quot;,&quot;DT_REFERENCE_TITLE&quot;,&quot;DT_PRESENTER_BIO&quot;,&quot;DT_PRESENTER_EMAIL&quot;,&quot;DT_PRESENTER_WEBSITE&quot;,&quot;DT_PRESENTER_PHONE&quot;,&quot;DT_PRESENTER_TITLE&quot;,&quot;DT_PRESENTER_NAME&quot;,&quot;DT_SLIDE_TITLE&quot;,&quot;DT_SLIDE_NOTES_TEXT&quot;,&quot;DT_SLIDE_TEXT&quot;,&quot;DT_HYPERLINK_TOOLTIP&quot;]},&quot;resources&quot;:{&quot;attachments&quot;:true,&quot;companyLogos&quot;:{&quot;enlargeToFit&quot;:false,&quot;height&quot;:156,&quot;jpegQuality&quot;:100,&quot;keepAspectRatio&quot;:true,&quot;width&quot;:266},&quot;fonts&quot;:[{&quot;charsets&quot;:{&quot;dynamicFormatted&quot;:[&quot;DCT_INTERACTIVITY_TEXT&quot;,&quot;DCT_INTERACTIVITY_SEMIBOLD_TEXT&quot;],&quot;dynamicPlain&quot;:[&quot;DCT_COMPANY_WEBSITE&quot;,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INTERACTIVITY_TEXT&quot;,&quot;DCT_INTERACTIVITY_SEMIBOLD_TEXT&quot;],&quot;dynamicPlain&quot;:[&quot;DCT_COMPANY_WEBSITE&quot;,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INTERACTIVITY_TEXT&quot;,&quot;DCT_INTERACTIVITY_SEMIBOLD_TEXT&quot;],&quot;dynamicPlain&quot;:[&quot;DCT_COMPANY_WEBSITE&quot;,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INTERACTIVITY_TEXT&quot;,&quot;DCT_INTERACTIVITY_SEMIBOLD_TEXT&quot;],&quot;dynamicPlain&quot;:[&quot;DCT_COMPANY_WEBSITE&quot;,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INTERACTIVITY_TEXT&quot;,&quot;DCT_INTERACTIVITY_SEMIBOLD_TEXT&quot;],&quot;dynamicPlain&quot;:[&quot;DCT_COMPANY_WEBSITE&quot;,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INTERACTIVITY_TEXT&quot;,&quot;DCT_INTERACTIVITY_SEMIBOLD_TEXT&quot;],&quot;dynamicPlain&quot;:[&quot;DCT_COMPANY_WEBSITE&quot;,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presenterPhotos&quot;:{&quot;enlargeToFit&quot;:false,&quot;height&quot;:105,&quot;jpegQuality&quot;:100,&quot;keepAspectRatio&quot;:true,&quot;width&quot;:94},&quot;slideThumbnails&quot;:{&quot;enlargeToFit&quot;:false,&quot;height&quot;:59,&quot;jpegQuality&quot;:100,&quot;keepAspectRatio&quot;:true,&quot;width&quot;:78}}}},&quot;ceipData&quot;:{&quot;enableMiniSkinCustomization&quot;:true,&quot;playerLayout&quot;:&quot;custom&quot;,&quot;playerLayoutFooter&quot;:&quot;playAndPause,acceleration,outline,fullscreen,volumeControl,slideNumber,goToPrev,goToNext&quot;,&quot;playerLayoutHeader&quot;:&quot;resources,markerTools,presenterInfo,title,logo&quot;,&quot;playerLayoutHeaderButtonsPosition&quot;:&quot;right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&quot;,&quot;playerLayoutSidebarPosition&quot;:&quot;&quot;,&quot;playerMessages&quot;:&quot;builtin.ru&quot;,&quot;playerNavigationAutoStart&quot;:true,&quot;playerNavigationEnableKeyboardNavigation&quot;:true,&quot;playerNavigationMode&quot;:&quot;bySlide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builtin.lightBlue&quot;,&quot;playerThemeFont&quot;:&quot;Arial&quot;}}}"/>
  <p:tag name="ISPRING-SUITE_ISPRING_CURRENT_PLAYER_ID" val="universal"/>
  <p:tag name="ISPRING_PRESENTATION_COURSE_TITLE" val="Антикоррупционная политика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0&quot;},&quot;cloudSettings&quot;:{&quot;onlineDestinationFolderId&quot;:&quot;1&quot;},&quot;publishDestination&quot;:&quot;ISPRING_LMS&quot;,&quot;wordSettings&quot;:{&quot;printCopies&quot;:1},&quot;studioSettings&quot;:{&quot;onlineDestinationFolderId&quot;:&quot;0&quot;,&quot;uploadSources&quot;:true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14DA80B-CD38-423B-9168-309DE63DC85E}:30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BC69C84-6498-4E0F-9C1C-AF070C55C6C9}:270"/>
  <p:tag name="GENSWF_SLIDE_TITLE" val="ОСНОВНЫЕ ПОНЯТИЯ И ТЕРМИНЫ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1678355-D508-4D03-9B9E-0AA4A7AF3500}:27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160FEC5-3078-4143-82B6-3D9559D33A32}:27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A77A8BF-CED5-43AB-83A1-0BD283976907}:2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D3691F7-102A-4F51-954B-76F510352F76}:28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88780BF-2C00-4CC8-9360-EC6D538635F4}:29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1164D0D-61E6-4A85-996C-A982A4189D59}:29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B3426DE-8278-47B2-B379-D77D424BC56C}:29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FCA3470-ACB6-40B7-AB9A-261D4BE4567B}:29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65898D0-8036-4F2E-ADED-00EC0F978676}:29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EEBA876-96B4-4607-B179-D5551C646DB0}:29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QUIZ_SHAPES_ADDED" val="1"/>
  <p:tag name="GENSWF_SLIDE_UID" val="{380892FD-B27D-479E-A463-ACDDE8E6E52C}:306"/>
  <p:tag name="GENSWF_SLIDE_TITLE" val="Тест"/>
  <p:tag name="ISPRING_SLIDE_INDENT_LEVEL" val="0"/>
  <p:tag name="ISPRING_CUSTOM_TIMING_USED" val="0"/>
  <p:tag name="ISPRING_SLIDE_QUIZ_PROPERTIES" val="&lt;QuizProperties&gt;&lt;passAction&gt;&lt;action&gt;3&lt;/action&gt;&lt;/passAction&gt;&lt;failAction&gt;&lt;action&gt;0&lt;/action&gt;&lt;slide&gt;309&lt;/slide&gt;&lt;/failAction&gt;&lt;viewSlidesPolicy&gt;2&lt;/viewSlidesPolicy&gt;&lt;allowInterrupt&gt;1&lt;/allowInterrupt&gt;&lt;restartFailedQuiz&gt;1&lt;/restartFailedQuiz&gt;&lt;/QuizProperties&gt;&#10;"/>
  <p:tag name="ISPRING_PLAYER_PLAYLIST_ID" val="ea991020bee10cb06ce22a5bd2d7ef2adf3bfba3"/>
  <p:tag name="ISPRING_RESOURCE_QUIZ" val="Антикоррупционная политика.quiz"/>
  <p:tag name="ISPRING_QUIZ_FULL_PATH" val="\\server\Public\Группа Полипластик\Управление по работе с персоналом\Отдел развития персонала\Обучение персонала\Он-лайн обучение\Дистанционные курсы\Антикоррупционная политика\Антикоррупционная политика\quiz\Антикоррупционная политика.quiz"/>
  <p:tag name="ISPRING_QUIZ_RELATIVE_PATH" val="Антикоррупционная политика\quiz\Антикоррупционная политика.quiz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FD61CDC-4FC4-4825-A849-E850AD843265}:30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1401</Words>
  <Application>Microsoft Office PowerPoint</Application>
  <PresentationFormat>Широкоэкранный</PresentationFormat>
  <Paragraphs>86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Segoe UI</vt:lpstr>
      <vt:lpstr>Segoe UI Semibold</vt:lpstr>
      <vt:lpstr>Times New Roman</vt:lpstr>
      <vt:lpstr>Wingdings</vt:lpstr>
      <vt:lpstr>Тема Office</vt:lpstr>
      <vt:lpstr>АНТИКОРРУПЦИОННАЯ ПОЛИТИКА ОБЩЕСТВА</vt:lpstr>
      <vt:lpstr>Презентация PowerPoint</vt:lpstr>
      <vt:lpstr>ВСЕМ РАБОТНИКАМ ОБЩЕСТВА СТРОГО ЗАПРЕЩАЕТСЯ:</vt:lpstr>
      <vt:lpstr>ПРОВЕРКА КОНТРАГЕНТОВ НА СООТВЕТСТВИЕ АНТИКОРРУПЦИОННЫМ ТРЕБОВАНИЯМ</vt:lpstr>
      <vt:lpstr>УВЕДОМЛЕНИЕ РАБОТОДАТЕЛЯ О СТАВШИХ ИЗВЕСТНЫМИ СЛУЧАЯХ КОРРУПЦИОННЫХ ПРАВОНАРУШЕНИЙ</vt:lpstr>
      <vt:lpstr>ЗАЩИТА РАБОТНИКА, СООБЩИВШЕГО  О КОРРУПЦИОННЫХ ПРАВОНАРУШЕНИЯХ</vt:lpstr>
      <vt:lpstr>ПООЩРЕНИЯ</vt:lpstr>
      <vt:lpstr>ПОДАРКИ И ПРЕДСТАВИТЕЛЬСКИЕ РАСХОДЫ</vt:lpstr>
      <vt:lpstr>ПОДАРКИ И ПРЕДСТАВИТЕЛЬСКИЕ РАСХОДЫ</vt:lpstr>
      <vt:lpstr>УЧАСТИЕ В БЛАГОТВОРИТЕЛЬНОЙ И ПОЛИТИЧЕСКОЙ ДЕЯТЕЛЬНОСТИ, СПОНСОРСТВО</vt:lpstr>
      <vt:lpstr>Обязательство соблюдения норм  антикоррупционного законодательства</vt:lpstr>
      <vt:lpstr>ВЗАИМОДЕЙСТВИЕ С КОНТРАГЕНТАМИ ОБЩЕСТВА В СФЕРЕ ПРОТИВОДЕЙСТВИЯ КОРРУПЦИИ</vt:lpstr>
      <vt:lpstr>Презентация PowerPoint</vt:lpstr>
      <vt:lpstr>ПОЗДРАВЛЯЕМ, ВЫ ЗАВЕРШИЛИ КУРС!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Антикоррупционная политика</dc:title>
  <dc:creator>zhagrov</dc:creator>
  <cp:lastModifiedBy>Бойко Татьяна Викторовна</cp:lastModifiedBy>
  <cp:revision>181</cp:revision>
  <dcterms:created xsi:type="dcterms:W3CDTF">2010-07-30T11:15:07Z</dcterms:created>
  <dcterms:modified xsi:type="dcterms:W3CDTF">2026-10-15T07:51:47Z</dcterms:modified>
</cp:coreProperties>
</file>