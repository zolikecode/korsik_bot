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0.xml" ContentType="application/vnd.openxmlformats-officedocument.presentationml.notesSlide+xml"/>
  <Override PartName="/ppt/tags/tag20.xml" ContentType="application/vnd.openxmlformats-officedocument.presentationml.tags+xml"/>
  <Override PartName="/ppt/notesSlides/notesSlide11.xml" ContentType="application/vnd.openxmlformats-officedocument.presentationml.notesSlide+xml"/>
  <Override PartName="/ppt/tags/tag21.xml" ContentType="application/vnd.openxmlformats-officedocument.presentationml.tags+xml"/>
  <Override PartName="/ppt/notesSlides/notesSlide12.xml" ContentType="application/vnd.openxmlformats-officedocument.presentationml.notesSlide+xml"/>
  <Override PartName="/ppt/tags/tag22.xml" ContentType="application/vnd.openxmlformats-officedocument.presentationml.tags+xml"/>
  <Override PartName="/ppt/notesSlides/notesSlide13.xml" ContentType="application/vnd.openxmlformats-officedocument.presentationml.notesSlide+xml"/>
  <Override PartName="/ppt/tags/tag23.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329" r:id="rId2"/>
    <p:sldId id="365" r:id="rId3"/>
    <p:sldId id="367" r:id="rId4"/>
    <p:sldId id="366" r:id="rId5"/>
    <p:sldId id="330" r:id="rId6"/>
    <p:sldId id="369" r:id="rId7"/>
    <p:sldId id="375" r:id="rId8"/>
    <p:sldId id="376" r:id="rId9"/>
    <p:sldId id="371" r:id="rId10"/>
    <p:sldId id="370" r:id="rId11"/>
    <p:sldId id="374" r:id="rId12"/>
    <p:sldId id="372" r:id="rId13"/>
    <p:sldId id="331" r:id="rId14"/>
    <p:sldId id="373" r:id="rId15"/>
  </p:sldIdLst>
  <p:sldSz cx="12192000" cy="6858000"/>
  <p:notesSz cx="6858000" cy="9144000"/>
  <p:custDataLst>
    <p:tags r:id="rId17"/>
  </p:custData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2179C13E-A992-491E-921C-3FF9CB5DE9D5}">
          <p14:sldIdLst>
            <p14:sldId id="329"/>
            <p14:sldId id="365"/>
            <p14:sldId id="367"/>
            <p14:sldId id="366"/>
            <p14:sldId id="330"/>
            <p14:sldId id="369"/>
            <p14:sldId id="375"/>
            <p14:sldId id="376"/>
            <p14:sldId id="371"/>
            <p14:sldId id="370"/>
            <p14:sldId id="374"/>
            <p14:sldId id="372"/>
            <p14:sldId id="331"/>
            <p14:sldId id="37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5199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88" autoAdjust="0"/>
    <p:restoredTop sz="94325" autoAdjust="0"/>
  </p:normalViewPr>
  <p:slideViewPr>
    <p:cSldViewPr>
      <p:cViewPr varScale="1">
        <p:scale>
          <a:sx n="118" d="100"/>
          <a:sy n="118" d="100"/>
        </p:scale>
        <p:origin x="624"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5" d="100"/>
          <a:sy n="95" d="100"/>
        </p:scale>
        <p:origin x="4042" y="5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webp"/><Relationship Id="rId1" Type="http://schemas.openxmlformats.org/officeDocument/2006/relationships/image" Target="../media/image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webp"/><Relationship Id="rId1" Type="http://schemas.openxmlformats.org/officeDocument/2006/relationships/image" Target="../media/image6.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DA00E1-ABA5-48BB-B8D6-AD3A3B43ABE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ru-RU"/>
        </a:p>
      </dgm:t>
    </dgm:pt>
    <dgm:pt modelId="{E8C7200D-4356-40EF-B7F7-1B46E3937C8E}">
      <dgm:prSet/>
      <dgm:spPr/>
      <dgm:t>
        <a:bodyPr/>
        <a:lstStyle/>
        <a:p>
          <a:pPr algn="just"/>
          <a:r>
            <a:rPr lang="ru-RU" b="1" i="0" baseline="0" dirty="0">
              <a:latin typeface="Times New Roman" panose="02020603050405020304" pitchFamily="18" charset="0"/>
              <a:cs typeface="Times New Roman" panose="02020603050405020304" pitchFamily="18" charset="0"/>
            </a:rPr>
            <a:t>Коммерческая тайна </a:t>
          </a:r>
          <a:r>
            <a:rPr lang="ru-RU" b="0" i="0" baseline="0" dirty="0">
              <a:latin typeface="Times New Roman" panose="02020603050405020304" pitchFamily="18" charset="0"/>
              <a:cs typeface="Times New Roman" panose="02020603050405020304" pitchFamily="18" charset="0"/>
            </a:rPr>
            <a:t>– это защищенная законодательством Российской Федерации конфиденциальная информация, перечень которой определен Обществом.</a:t>
          </a:r>
          <a:endParaRPr lang="ru-RU" dirty="0">
            <a:latin typeface="Times New Roman" panose="02020603050405020304" pitchFamily="18" charset="0"/>
            <a:cs typeface="Times New Roman" panose="02020603050405020304" pitchFamily="18" charset="0"/>
          </a:endParaRPr>
        </a:p>
      </dgm:t>
    </dgm:pt>
    <dgm:pt modelId="{AF765BB1-320F-43C5-98DA-CC78A3F6AD80}" type="parTrans" cxnId="{89B23A99-D3D2-45E2-A2CD-E4891AFCFF54}">
      <dgm:prSet/>
      <dgm:spPr/>
      <dgm:t>
        <a:bodyPr/>
        <a:lstStyle/>
        <a:p>
          <a:endParaRPr lang="ru-RU"/>
        </a:p>
      </dgm:t>
    </dgm:pt>
    <dgm:pt modelId="{C7B6329D-5524-4B01-9E36-DE7FB0CA34A2}" type="sibTrans" cxnId="{89B23A99-D3D2-45E2-A2CD-E4891AFCFF54}">
      <dgm:prSet/>
      <dgm:spPr/>
      <dgm:t>
        <a:bodyPr/>
        <a:lstStyle/>
        <a:p>
          <a:endParaRPr lang="ru-RU"/>
        </a:p>
      </dgm:t>
    </dgm:pt>
    <dgm:pt modelId="{8581CD6A-1988-4961-B69A-87F645F4F502}">
      <dgm:prSet/>
      <dgm:spPr/>
      <dgm:t>
        <a:bodyPr/>
        <a:lstStyle/>
        <a:p>
          <a:pPr algn="just"/>
          <a:r>
            <a:rPr lang="ru-RU" b="1" i="0" baseline="0" dirty="0">
              <a:solidFill>
                <a:schemeClr val="bg1"/>
              </a:solidFill>
              <a:latin typeface="Times New Roman" panose="02020603050405020304" pitchFamily="18" charset="0"/>
              <a:cs typeface="Times New Roman" panose="02020603050405020304" pitchFamily="18" charset="0"/>
            </a:rPr>
            <a:t>Информация для служебного пользования </a:t>
          </a:r>
          <a:r>
            <a:rPr lang="ru-RU" b="0" i="0" baseline="0" dirty="0">
              <a:latin typeface="Times New Roman" panose="02020603050405020304" pitchFamily="18" charset="0"/>
              <a:cs typeface="Times New Roman" panose="02020603050405020304" pitchFamily="18" charset="0"/>
            </a:rPr>
            <a:t>– это не подлежащая публичному распространению внутренняя информация Общества, которая не содержит сведений конфиденциального характера.</a:t>
          </a:r>
          <a:endParaRPr lang="ru-RU" dirty="0">
            <a:latin typeface="Times New Roman" panose="02020603050405020304" pitchFamily="18" charset="0"/>
            <a:cs typeface="Times New Roman" panose="02020603050405020304" pitchFamily="18" charset="0"/>
          </a:endParaRPr>
        </a:p>
      </dgm:t>
    </dgm:pt>
    <dgm:pt modelId="{3893E8E1-2432-42DC-A442-48A1A4FE9765}" type="parTrans" cxnId="{38BB5B4C-75BD-4A1B-8251-35E1F9D89BFF}">
      <dgm:prSet/>
      <dgm:spPr/>
      <dgm:t>
        <a:bodyPr/>
        <a:lstStyle/>
        <a:p>
          <a:endParaRPr lang="ru-RU"/>
        </a:p>
      </dgm:t>
    </dgm:pt>
    <dgm:pt modelId="{43BC6B1F-FFA0-47C6-B8D1-B9D93816B532}" type="sibTrans" cxnId="{38BB5B4C-75BD-4A1B-8251-35E1F9D89BFF}">
      <dgm:prSet/>
      <dgm:spPr/>
      <dgm:t>
        <a:bodyPr/>
        <a:lstStyle/>
        <a:p>
          <a:endParaRPr lang="ru-RU"/>
        </a:p>
      </dgm:t>
    </dgm:pt>
    <dgm:pt modelId="{5B651915-DA35-4A48-B4E8-F6758D6641C7}">
      <dgm:prSet/>
      <dgm:spPr/>
      <dgm:t>
        <a:bodyPr lIns="551484"/>
        <a:lstStyle/>
        <a:p>
          <a:pPr algn="just"/>
          <a:r>
            <a:rPr lang="ru-RU" b="1" i="0" baseline="0" dirty="0">
              <a:latin typeface="Times New Roman" panose="02020603050405020304" pitchFamily="18" charset="0"/>
              <a:cs typeface="Times New Roman" panose="02020603050405020304" pitchFamily="18" charset="0"/>
            </a:rPr>
            <a:t>Конфиденциальная информация </a:t>
          </a:r>
          <a:r>
            <a:rPr lang="ru-RU" b="0" i="0" baseline="0" dirty="0">
              <a:latin typeface="Times New Roman" panose="02020603050405020304" pitchFamily="18" charset="0"/>
              <a:cs typeface="Times New Roman" panose="02020603050405020304" pitchFamily="18" charset="0"/>
            </a:rPr>
            <a:t>– сведения любого характера, которые имеют для Общества действительную или потенциальную ценность в силу неизвестности их третьим лицам и к которым у третьих лиц нет свободного доступа на законном основании.</a:t>
          </a:r>
          <a:endParaRPr lang="ru-RU" dirty="0">
            <a:latin typeface="Times New Roman" panose="02020603050405020304" pitchFamily="18" charset="0"/>
            <a:cs typeface="Times New Roman" panose="02020603050405020304" pitchFamily="18" charset="0"/>
          </a:endParaRPr>
        </a:p>
      </dgm:t>
    </dgm:pt>
    <dgm:pt modelId="{90B5B7F4-B4F1-42C5-8B34-0C6383E0B0CE}" type="sibTrans" cxnId="{784D6111-D2D2-455F-95BF-E5AE27CB5F78}">
      <dgm:prSet/>
      <dgm:spPr/>
      <dgm:t>
        <a:bodyPr/>
        <a:lstStyle/>
        <a:p>
          <a:endParaRPr lang="ru-RU"/>
        </a:p>
      </dgm:t>
    </dgm:pt>
    <dgm:pt modelId="{C86B8411-A8B5-457C-82D7-3AC1F159A310}" type="parTrans" cxnId="{784D6111-D2D2-455F-95BF-E5AE27CB5F78}">
      <dgm:prSet/>
      <dgm:spPr/>
      <dgm:t>
        <a:bodyPr/>
        <a:lstStyle/>
        <a:p>
          <a:endParaRPr lang="ru-RU"/>
        </a:p>
      </dgm:t>
    </dgm:pt>
    <dgm:pt modelId="{1BFE3752-521F-4B50-B8F7-6CD56E14D37E}" type="pres">
      <dgm:prSet presAssocID="{53DA00E1-ABA5-48BB-B8D6-AD3A3B43ABE3}" presName="linearFlow" presStyleCnt="0">
        <dgm:presLayoutVars>
          <dgm:dir/>
          <dgm:resizeHandles val="exact"/>
        </dgm:presLayoutVars>
      </dgm:prSet>
      <dgm:spPr/>
    </dgm:pt>
    <dgm:pt modelId="{B6DE5FE1-326F-4845-ADA9-F7AC4A0904CC}" type="pres">
      <dgm:prSet presAssocID="{5B651915-DA35-4A48-B4E8-F6758D6641C7}" presName="composite" presStyleCnt="0"/>
      <dgm:spPr/>
    </dgm:pt>
    <dgm:pt modelId="{70B0622B-8E43-4349-83FA-81826609FB7F}" type="pres">
      <dgm:prSet presAssocID="{5B651915-DA35-4A48-B4E8-F6758D6641C7}" presName="imgShp" presStyleLbl="fgImgPlace1" presStyleIdx="0" presStyleCnt="3" custLinFactNeighborX="-73821" custLinFactNeighborY="-1955"/>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pt>
    <dgm:pt modelId="{9EC6E6EE-EA2D-429D-A7C4-E2EAAB627C7E}" type="pres">
      <dgm:prSet presAssocID="{5B651915-DA35-4A48-B4E8-F6758D6641C7}" presName="txShp" presStyleLbl="node1" presStyleIdx="0" presStyleCnt="3" custScaleX="125631">
        <dgm:presLayoutVars>
          <dgm:bulletEnabled val="1"/>
        </dgm:presLayoutVars>
      </dgm:prSet>
      <dgm:spPr/>
    </dgm:pt>
    <dgm:pt modelId="{B53A920D-804C-48A6-84D8-684554CFE816}" type="pres">
      <dgm:prSet presAssocID="{90B5B7F4-B4F1-42C5-8B34-0C6383E0B0CE}" presName="spacing" presStyleCnt="0"/>
      <dgm:spPr/>
    </dgm:pt>
    <dgm:pt modelId="{19680FD3-4F98-4024-A350-3360483968B6}" type="pres">
      <dgm:prSet presAssocID="{E8C7200D-4356-40EF-B7F7-1B46E3937C8E}" presName="composite" presStyleCnt="0"/>
      <dgm:spPr/>
    </dgm:pt>
    <dgm:pt modelId="{3192A382-9222-4319-A3B7-7102BB40078D}" type="pres">
      <dgm:prSet presAssocID="{E8C7200D-4356-40EF-B7F7-1B46E3937C8E}" presName="imgShp" presStyleLbl="fgImgPlace1" presStyleIdx="1" presStyleCnt="3" custLinFactNeighborX="-66291" custLinFactNeighborY="4296"/>
      <dgm:spPr>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dgm:spPr>
    </dgm:pt>
    <dgm:pt modelId="{1AC02C70-0259-4E58-87D5-DCAC5EAE3390}" type="pres">
      <dgm:prSet presAssocID="{E8C7200D-4356-40EF-B7F7-1B46E3937C8E}" presName="txShp" presStyleLbl="node1" presStyleIdx="1" presStyleCnt="3" custScaleX="125631">
        <dgm:presLayoutVars>
          <dgm:bulletEnabled val="1"/>
        </dgm:presLayoutVars>
      </dgm:prSet>
      <dgm:spPr/>
    </dgm:pt>
    <dgm:pt modelId="{D694DADE-048F-4EE1-8EDE-269ABBFF610B}" type="pres">
      <dgm:prSet presAssocID="{C7B6329D-5524-4B01-9E36-DE7FB0CA34A2}" presName="spacing" presStyleCnt="0"/>
      <dgm:spPr/>
    </dgm:pt>
    <dgm:pt modelId="{5C2138D1-0E36-4BA8-9DFB-678E7C3B50FE}" type="pres">
      <dgm:prSet presAssocID="{8581CD6A-1988-4961-B69A-87F645F4F502}" presName="composite" presStyleCnt="0"/>
      <dgm:spPr/>
    </dgm:pt>
    <dgm:pt modelId="{8A674B5A-2138-4473-8961-DC294BDC1A1A}" type="pres">
      <dgm:prSet presAssocID="{8581CD6A-1988-4961-B69A-87F645F4F502}" presName="imgShp" presStyleLbl="fgImgPlace1" presStyleIdx="2" presStyleCnt="3" custLinFactNeighborX="-67556" custLinFactNeighborY="-1185"/>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38000" r="-38000"/>
          </a:stretch>
        </a:blipFill>
      </dgm:spPr>
    </dgm:pt>
    <dgm:pt modelId="{9A932145-889C-4A67-9E67-3DF43C83D594}" type="pres">
      <dgm:prSet presAssocID="{8581CD6A-1988-4961-B69A-87F645F4F502}" presName="txShp" presStyleLbl="node1" presStyleIdx="2" presStyleCnt="3" custScaleX="125631">
        <dgm:presLayoutVars>
          <dgm:bulletEnabled val="1"/>
        </dgm:presLayoutVars>
      </dgm:prSet>
      <dgm:spPr/>
    </dgm:pt>
  </dgm:ptLst>
  <dgm:cxnLst>
    <dgm:cxn modelId="{784D6111-D2D2-455F-95BF-E5AE27CB5F78}" srcId="{53DA00E1-ABA5-48BB-B8D6-AD3A3B43ABE3}" destId="{5B651915-DA35-4A48-B4E8-F6758D6641C7}" srcOrd="0" destOrd="0" parTransId="{C86B8411-A8B5-457C-82D7-3AC1F159A310}" sibTransId="{90B5B7F4-B4F1-42C5-8B34-0C6383E0B0CE}"/>
    <dgm:cxn modelId="{FABB2124-ED3A-4EE0-BBD1-C3A86EC51C75}" type="presOf" srcId="{53DA00E1-ABA5-48BB-B8D6-AD3A3B43ABE3}" destId="{1BFE3752-521F-4B50-B8F7-6CD56E14D37E}" srcOrd="0" destOrd="0" presId="urn:microsoft.com/office/officeart/2005/8/layout/vList3"/>
    <dgm:cxn modelId="{38BB5B4C-75BD-4A1B-8251-35E1F9D89BFF}" srcId="{53DA00E1-ABA5-48BB-B8D6-AD3A3B43ABE3}" destId="{8581CD6A-1988-4961-B69A-87F645F4F502}" srcOrd="2" destOrd="0" parTransId="{3893E8E1-2432-42DC-A442-48A1A4FE9765}" sibTransId="{43BC6B1F-FFA0-47C6-B8D1-B9D93816B532}"/>
    <dgm:cxn modelId="{3F982782-5332-4ECC-8B29-B57B32E4A8CA}" type="presOf" srcId="{5B651915-DA35-4A48-B4E8-F6758D6641C7}" destId="{9EC6E6EE-EA2D-429D-A7C4-E2EAAB627C7E}" srcOrd="0" destOrd="0" presId="urn:microsoft.com/office/officeart/2005/8/layout/vList3"/>
    <dgm:cxn modelId="{33D72196-EE3D-4463-ADE8-C6D8A329B515}" type="presOf" srcId="{E8C7200D-4356-40EF-B7F7-1B46E3937C8E}" destId="{1AC02C70-0259-4E58-87D5-DCAC5EAE3390}" srcOrd="0" destOrd="0" presId="urn:microsoft.com/office/officeart/2005/8/layout/vList3"/>
    <dgm:cxn modelId="{89B23A99-D3D2-45E2-A2CD-E4891AFCFF54}" srcId="{53DA00E1-ABA5-48BB-B8D6-AD3A3B43ABE3}" destId="{E8C7200D-4356-40EF-B7F7-1B46E3937C8E}" srcOrd="1" destOrd="0" parTransId="{AF765BB1-320F-43C5-98DA-CC78A3F6AD80}" sibTransId="{C7B6329D-5524-4B01-9E36-DE7FB0CA34A2}"/>
    <dgm:cxn modelId="{1A09559D-2EDA-44FE-BE4E-0C11C7ADE351}" type="presOf" srcId="{8581CD6A-1988-4961-B69A-87F645F4F502}" destId="{9A932145-889C-4A67-9E67-3DF43C83D594}" srcOrd="0" destOrd="0" presId="urn:microsoft.com/office/officeart/2005/8/layout/vList3"/>
    <dgm:cxn modelId="{B7E661C6-682D-47B9-AA44-96D33CF69315}" type="presParOf" srcId="{1BFE3752-521F-4B50-B8F7-6CD56E14D37E}" destId="{B6DE5FE1-326F-4845-ADA9-F7AC4A0904CC}" srcOrd="0" destOrd="0" presId="urn:microsoft.com/office/officeart/2005/8/layout/vList3"/>
    <dgm:cxn modelId="{08295714-E6FB-476B-B95D-1A12910F3187}" type="presParOf" srcId="{B6DE5FE1-326F-4845-ADA9-F7AC4A0904CC}" destId="{70B0622B-8E43-4349-83FA-81826609FB7F}" srcOrd="0" destOrd="0" presId="urn:microsoft.com/office/officeart/2005/8/layout/vList3"/>
    <dgm:cxn modelId="{1B228848-BC3A-4ECC-90F1-CB9C5A05B83B}" type="presParOf" srcId="{B6DE5FE1-326F-4845-ADA9-F7AC4A0904CC}" destId="{9EC6E6EE-EA2D-429D-A7C4-E2EAAB627C7E}" srcOrd="1" destOrd="0" presId="urn:microsoft.com/office/officeart/2005/8/layout/vList3"/>
    <dgm:cxn modelId="{BBFDEB44-741D-4D67-B909-273E94F15537}" type="presParOf" srcId="{1BFE3752-521F-4B50-B8F7-6CD56E14D37E}" destId="{B53A920D-804C-48A6-84D8-684554CFE816}" srcOrd="1" destOrd="0" presId="urn:microsoft.com/office/officeart/2005/8/layout/vList3"/>
    <dgm:cxn modelId="{779CA38E-BE0B-4F50-840B-1713ED2EA43E}" type="presParOf" srcId="{1BFE3752-521F-4B50-B8F7-6CD56E14D37E}" destId="{19680FD3-4F98-4024-A350-3360483968B6}" srcOrd="2" destOrd="0" presId="urn:microsoft.com/office/officeart/2005/8/layout/vList3"/>
    <dgm:cxn modelId="{A35073FB-7DD8-4AFD-8254-A23ED5028B26}" type="presParOf" srcId="{19680FD3-4F98-4024-A350-3360483968B6}" destId="{3192A382-9222-4319-A3B7-7102BB40078D}" srcOrd="0" destOrd="0" presId="urn:microsoft.com/office/officeart/2005/8/layout/vList3"/>
    <dgm:cxn modelId="{23E50BC8-BB5B-410A-B568-E2F1A68B4839}" type="presParOf" srcId="{19680FD3-4F98-4024-A350-3360483968B6}" destId="{1AC02C70-0259-4E58-87D5-DCAC5EAE3390}" srcOrd="1" destOrd="0" presId="urn:microsoft.com/office/officeart/2005/8/layout/vList3"/>
    <dgm:cxn modelId="{785F0911-0873-456D-8889-C00A35D5F1BA}" type="presParOf" srcId="{1BFE3752-521F-4B50-B8F7-6CD56E14D37E}" destId="{D694DADE-048F-4EE1-8EDE-269ABBFF610B}" srcOrd="3" destOrd="0" presId="urn:microsoft.com/office/officeart/2005/8/layout/vList3"/>
    <dgm:cxn modelId="{6067C060-4D82-45BA-8243-1D624E8A732B}" type="presParOf" srcId="{1BFE3752-521F-4B50-B8F7-6CD56E14D37E}" destId="{5C2138D1-0E36-4BA8-9DFB-678E7C3B50FE}" srcOrd="4" destOrd="0" presId="urn:microsoft.com/office/officeart/2005/8/layout/vList3"/>
    <dgm:cxn modelId="{3B887343-A28E-43EB-A331-B1963447DE81}" type="presParOf" srcId="{5C2138D1-0E36-4BA8-9DFB-678E7C3B50FE}" destId="{8A674B5A-2138-4473-8961-DC294BDC1A1A}" srcOrd="0" destOrd="0" presId="urn:microsoft.com/office/officeart/2005/8/layout/vList3"/>
    <dgm:cxn modelId="{3105F441-3071-4C44-BE6E-2EBAEB41DC56}" type="presParOf" srcId="{5C2138D1-0E36-4BA8-9DFB-678E7C3B50FE}" destId="{9A932145-889C-4A67-9E67-3DF43C83D594}"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C6E6EE-EA2D-429D-A7C4-E2EAAB627C7E}">
      <dsp:nvSpPr>
        <dsp:cNvPr id="0" name=""/>
        <dsp:cNvSpPr/>
      </dsp:nvSpPr>
      <dsp:spPr>
        <a:xfrm rot="10800000">
          <a:off x="936086" y="1641"/>
          <a:ext cx="9505091" cy="1250610"/>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1484" tIns="76200" rIns="142240" bIns="76200" numCol="1" spcCol="1270" anchor="ctr" anchorCtr="0">
          <a:noAutofit/>
        </a:bodyPr>
        <a:lstStyle/>
        <a:p>
          <a:pPr marL="0" lvl="0" indent="0" algn="just" defTabSz="889000">
            <a:lnSpc>
              <a:spcPct val="90000"/>
            </a:lnSpc>
            <a:spcBef>
              <a:spcPct val="0"/>
            </a:spcBef>
            <a:spcAft>
              <a:spcPct val="35000"/>
            </a:spcAft>
            <a:buNone/>
          </a:pPr>
          <a:r>
            <a:rPr lang="ru-RU" sz="2000" b="1" i="0" kern="1200" baseline="0" dirty="0">
              <a:latin typeface="Times New Roman" panose="02020603050405020304" pitchFamily="18" charset="0"/>
              <a:cs typeface="Times New Roman" panose="02020603050405020304" pitchFamily="18" charset="0"/>
            </a:rPr>
            <a:t>Конфиденциальная информация </a:t>
          </a:r>
          <a:r>
            <a:rPr lang="ru-RU" sz="2000" b="0" i="0" kern="1200" baseline="0" dirty="0">
              <a:latin typeface="Times New Roman" panose="02020603050405020304" pitchFamily="18" charset="0"/>
              <a:cs typeface="Times New Roman" panose="02020603050405020304" pitchFamily="18" charset="0"/>
            </a:rPr>
            <a:t>– сведения любого характера, которые имеют для Общества действительную или потенциальную ценность в силу неизвестности их третьим лицам и к которым у третьих лиц нет свободного доступа на законном основании.</a:t>
          </a:r>
          <a:endParaRPr lang="ru-RU" sz="2000" kern="1200" dirty="0">
            <a:latin typeface="Times New Roman" panose="02020603050405020304" pitchFamily="18" charset="0"/>
            <a:cs typeface="Times New Roman" panose="02020603050405020304" pitchFamily="18" charset="0"/>
          </a:endParaRPr>
        </a:p>
      </dsp:txBody>
      <dsp:txXfrm rot="10800000">
        <a:off x="1248738" y="1641"/>
        <a:ext cx="9192439" cy="1250610"/>
      </dsp:txXfrm>
    </dsp:sp>
    <dsp:sp modelId="{70B0622B-8E43-4349-83FA-81826609FB7F}">
      <dsp:nvSpPr>
        <dsp:cNvPr id="0" name=""/>
        <dsp:cNvSpPr/>
      </dsp:nvSpPr>
      <dsp:spPr>
        <a:xfrm>
          <a:off x="357173" y="0"/>
          <a:ext cx="1250610" cy="1250610"/>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C02C70-0259-4E58-87D5-DCAC5EAE3390}">
      <dsp:nvSpPr>
        <dsp:cNvPr id="0" name=""/>
        <dsp:cNvSpPr/>
      </dsp:nvSpPr>
      <dsp:spPr>
        <a:xfrm rot="10800000">
          <a:off x="936086" y="1620744"/>
          <a:ext cx="9505091" cy="1250610"/>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1484" tIns="76200" rIns="142240" bIns="76200" numCol="1" spcCol="1270" anchor="ctr" anchorCtr="0">
          <a:noAutofit/>
        </a:bodyPr>
        <a:lstStyle/>
        <a:p>
          <a:pPr marL="0" lvl="0" indent="0" algn="just" defTabSz="889000">
            <a:lnSpc>
              <a:spcPct val="90000"/>
            </a:lnSpc>
            <a:spcBef>
              <a:spcPct val="0"/>
            </a:spcBef>
            <a:spcAft>
              <a:spcPct val="35000"/>
            </a:spcAft>
            <a:buNone/>
          </a:pPr>
          <a:r>
            <a:rPr lang="ru-RU" sz="2000" b="1" i="0" kern="1200" baseline="0" dirty="0">
              <a:latin typeface="Times New Roman" panose="02020603050405020304" pitchFamily="18" charset="0"/>
              <a:cs typeface="Times New Roman" panose="02020603050405020304" pitchFamily="18" charset="0"/>
            </a:rPr>
            <a:t>Коммерческая тайна </a:t>
          </a:r>
          <a:r>
            <a:rPr lang="ru-RU" sz="2000" b="0" i="0" kern="1200" baseline="0" dirty="0">
              <a:latin typeface="Times New Roman" panose="02020603050405020304" pitchFamily="18" charset="0"/>
              <a:cs typeface="Times New Roman" panose="02020603050405020304" pitchFamily="18" charset="0"/>
            </a:rPr>
            <a:t>– это защищенная законодательством Российской Федерации конфиденциальная информация, перечень которой определен Обществом.</a:t>
          </a:r>
          <a:endParaRPr lang="ru-RU" sz="2000" kern="1200" dirty="0">
            <a:latin typeface="Times New Roman" panose="02020603050405020304" pitchFamily="18" charset="0"/>
            <a:cs typeface="Times New Roman" panose="02020603050405020304" pitchFamily="18" charset="0"/>
          </a:endParaRPr>
        </a:p>
      </dsp:txBody>
      <dsp:txXfrm rot="10800000">
        <a:off x="1248738" y="1620744"/>
        <a:ext cx="9192439" cy="1250610"/>
      </dsp:txXfrm>
    </dsp:sp>
    <dsp:sp modelId="{3192A382-9222-4319-A3B7-7102BB40078D}">
      <dsp:nvSpPr>
        <dsp:cNvPr id="0" name=""/>
        <dsp:cNvSpPr/>
      </dsp:nvSpPr>
      <dsp:spPr>
        <a:xfrm>
          <a:off x="451344" y="1674470"/>
          <a:ext cx="1250610" cy="1250610"/>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932145-889C-4A67-9E67-3DF43C83D594}">
      <dsp:nvSpPr>
        <dsp:cNvPr id="0" name=""/>
        <dsp:cNvSpPr/>
      </dsp:nvSpPr>
      <dsp:spPr>
        <a:xfrm rot="10800000">
          <a:off x="936086" y="3239847"/>
          <a:ext cx="9505091" cy="1250610"/>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1484" tIns="76200" rIns="142240" bIns="76200" numCol="1" spcCol="1270" anchor="ctr" anchorCtr="0">
          <a:noAutofit/>
        </a:bodyPr>
        <a:lstStyle/>
        <a:p>
          <a:pPr marL="0" lvl="0" indent="0" algn="just" defTabSz="889000">
            <a:lnSpc>
              <a:spcPct val="90000"/>
            </a:lnSpc>
            <a:spcBef>
              <a:spcPct val="0"/>
            </a:spcBef>
            <a:spcAft>
              <a:spcPct val="35000"/>
            </a:spcAft>
            <a:buNone/>
          </a:pPr>
          <a:r>
            <a:rPr lang="ru-RU" sz="2000" b="1" i="0" kern="1200" baseline="0" dirty="0">
              <a:solidFill>
                <a:schemeClr val="bg1"/>
              </a:solidFill>
              <a:latin typeface="Times New Roman" panose="02020603050405020304" pitchFamily="18" charset="0"/>
              <a:cs typeface="Times New Roman" panose="02020603050405020304" pitchFamily="18" charset="0"/>
            </a:rPr>
            <a:t>Информация для служебного пользования </a:t>
          </a:r>
          <a:r>
            <a:rPr lang="ru-RU" sz="2000" b="0" i="0" kern="1200" baseline="0" dirty="0">
              <a:latin typeface="Times New Roman" panose="02020603050405020304" pitchFamily="18" charset="0"/>
              <a:cs typeface="Times New Roman" panose="02020603050405020304" pitchFamily="18" charset="0"/>
            </a:rPr>
            <a:t>– это не подлежащая публичному распространению внутренняя информация Общества, которая не содержит сведений конфиденциального характера.</a:t>
          </a:r>
          <a:endParaRPr lang="ru-RU" sz="2000" kern="1200" dirty="0">
            <a:latin typeface="Times New Roman" panose="02020603050405020304" pitchFamily="18" charset="0"/>
            <a:cs typeface="Times New Roman" panose="02020603050405020304" pitchFamily="18" charset="0"/>
          </a:endParaRPr>
        </a:p>
      </dsp:txBody>
      <dsp:txXfrm rot="10800000">
        <a:off x="1248738" y="3239847"/>
        <a:ext cx="9192439" cy="1250610"/>
      </dsp:txXfrm>
    </dsp:sp>
    <dsp:sp modelId="{8A674B5A-2138-4473-8961-DC294BDC1A1A}">
      <dsp:nvSpPr>
        <dsp:cNvPr id="0" name=""/>
        <dsp:cNvSpPr/>
      </dsp:nvSpPr>
      <dsp:spPr>
        <a:xfrm>
          <a:off x="435524" y="3225027"/>
          <a:ext cx="1250610" cy="1250610"/>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38000" r="-3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C9D806-257F-4820-A3C9-6A23D1729608}" type="datetimeFigureOut">
              <a:rPr lang="ru-RU" smtClean="0"/>
              <a:t>15.10.2026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BCE98-1940-4F92-8401-9901E4F88AC8}" type="slidenum">
              <a:rPr lang="ru-RU" smtClean="0"/>
              <a:t>‹#›</a:t>
            </a:fld>
            <a:endParaRPr lang="ru-RU"/>
          </a:p>
        </p:txBody>
      </p:sp>
    </p:spTree>
    <p:extLst>
      <p:ext uri="{BB962C8B-B14F-4D97-AF65-F5344CB8AC3E}">
        <p14:creationId xmlns:p14="http://schemas.microsoft.com/office/powerpoint/2010/main" val="259778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1</a:t>
            </a:fld>
            <a:endParaRPr lang="ru-RU"/>
          </a:p>
        </p:txBody>
      </p:sp>
    </p:spTree>
    <p:extLst>
      <p:ext uri="{BB962C8B-B14F-4D97-AF65-F5344CB8AC3E}">
        <p14:creationId xmlns:p14="http://schemas.microsoft.com/office/powerpoint/2010/main" val="2837937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2</a:t>
            </a:fld>
            <a:endParaRPr lang="ru-RU"/>
          </a:p>
        </p:txBody>
      </p:sp>
    </p:spTree>
    <p:extLst>
      <p:ext uri="{BB962C8B-B14F-4D97-AF65-F5344CB8AC3E}">
        <p14:creationId xmlns:p14="http://schemas.microsoft.com/office/powerpoint/2010/main" val="2432026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3</a:t>
            </a:fld>
            <a:endParaRPr lang="ru-RU"/>
          </a:p>
        </p:txBody>
      </p:sp>
    </p:spTree>
    <p:extLst>
      <p:ext uri="{BB962C8B-B14F-4D97-AF65-F5344CB8AC3E}">
        <p14:creationId xmlns:p14="http://schemas.microsoft.com/office/powerpoint/2010/main" val="3815053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4</a:t>
            </a:fld>
            <a:endParaRPr lang="ru-RU"/>
          </a:p>
        </p:txBody>
      </p:sp>
    </p:spTree>
    <p:extLst>
      <p:ext uri="{BB962C8B-B14F-4D97-AF65-F5344CB8AC3E}">
        <p14:creationId xmlns:p14="http://schemas.microsoft.com/office/powerpoint/2010/main" val="655379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5</a:t>
            </a:fld>
            <a:endParaRPr lang="ru-RU"/>
          </a:p>
        </p:txBody>
      </p:sp>
    </p:spTree>
    <p:extLst>
      <p:ext uri="{BB962C8B-B14F-4D97-AF65-F5344CB8AC3E}">
        <p14:creationId xmlns:p14="http://schemas.microsoft.com/office/powerpoint/2010/main" val="2721815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6</a:t>
            </a:fld>
            <a:endParaRPr lang="ru-RU"/>
          </a:p>
        </p:txBody>
      </p:sp>
    </p:spTree>
    <p:extLst>
      <p:ext uri="{BB962C8B-B14F-4D97-AF65-F5344CB8AC3E}">
        <p14:creationId xmlns:p14="http://schemas.microsoft.com/office/powerpoint/2010/main" val="2929193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7</a:t>
            </a:fld>
            <a:endParaRPr lang="ru-RU"/>
          </a:p>
        </p:txBody>
      </p:sp>
    </p:spTree>
    <p:extLst>
      <p:ext uri="{BB962C8B-B14F-4D97-AF65-F5344CB8AC3E}">
        <p14:creationId xmlns:p14="http://schemas.microsoft.com/office/powerpoint/2010/main" val="3534953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8</a:t>
            </a:fld>
            <a:endParaRPr lang="ru-RU"/>
          </a:p>
        </p:txBody>
      </p:sp>
    </p:spTree>
    <p:extLst>
      <p:ext uri="{BB962C8B-B14F-4D97-AF65-F5344CB8AC3E}">
        <p14:creationId xmlns:p14="http://schemas.microsoft.com/office/powerpoint/2010/main" val="495817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9</a:t>
            </a:fld>
            <a:endParaRPr lang="ru-RU"/>
          </a:p>
        </p:txBody>
      </p:sp>
    </p:spTree>
    <p:extLst>
      <p:ext uri="{BB962C8B-B14F-4D97-AF65-F5344CB8AC3E}">
        <p14:creationId xmlns:p14="http://schemas.microsoft.com/office/powerpoint/2010/main" val="517865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10</a:t>
            </a:fld>
            <a:endParaRPr lang="ru-RU"/>
          </a:p>
        </p:txBody>
      </p:sp>
    </p:spTree>
    <p:extLst>
      <p:ext uri="{BB962C8B-B14F-4D97-AF65-F5344CB8AC3E}">
        <p14:creationId xmlns:p14="http://schemas.microsoft.com/office/powerpoint/2010/main" val="3024665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11</a:t>
            </a:fld>
            <a:endParaRPr lang="ru-RU"/>
          </a:p>
        </p:txBody>
      </p:sp>
    </p:spTree>
    <p:extLst>
      <p:ext uri="{BB962C8B-B14F-4D97-AF65-F5344CB8AC3E}">
        <p14:creationId xmlns:p14="http://schemas.microsoft.com/office/powerpoint/2010/main" val="3943068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12</a:t>
            </a:fld>
            <a:endParaRPr lang="ru-RU"/>
          </a:p>
        </p:txBody>
      </p:sp>
    </p:spTree>
    <p:extLst>
      <p:ext uri="{BB962C8B-B14F-4D97-AF65-F5344CB8AC3E}">
        <p14:creationId xmlns:p14="http://schemas.microsoft.com/office/powerpoint/2010/main" val="3693853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F5EBCE98-1940-4F92-8401-9901E4F88AC8}" type="slidenum">
              <a:rPr lang="ru-RU" smtClean="0"/>
              <a:t>13</a:t>
            </a:fld>
            <a:endParaRPr lang="ru-RU"/>
          </a:p>
        </p:txBody>
      </p:sp>
    </p:spTree>
    <p:extLst>
      <p:ext uri="{BB962C8B-B14F-4D97-AF65-F5344CB8AC3E}">
        <p14:creationId xmlns:p14="http://schemas.microsoft.com/office/powerpoint/2010/main" val="143996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BCE98-1940-4F92-8401-9901E4F88AC8}"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0165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30"/>
            <a:ext cx="10363200" cy="1470025"/>
          </a:xfrm>
        </p:spPr>
        <p:txBody>
          <a:bodyPr/>
          <a:lstStyle/>
          <a:p>
            <a:r>
              <a:rPr lang="ru-RU"/>
              <a:t>Образец заголовка</a:t>
            </a:r>
          </a:p>
        </p:txBody>
      </p:sp>
      <p:sp>
        <p:nvSpPr>
          <p:cNvPr id="3" name="Подзаголовок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390750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2501301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5"/>
            <a:ext cx="103632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770770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2529581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3844545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3926297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1892274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3" y="273050"/>
            <a:ext cx="4011084"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855411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3446964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2932116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839200" y="274643"/>
            <a:ext cx="27432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09600" y="274643"/>
            <a:ext cx="80264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5A2978E-2F13-4D12-8C46-435343C3AF1C}" type="datetimeFigureOut">
              <a:rPr lang="ru-RU" smtClean="0"/>
              <a:pPr/>
              <a:t>15.10.2026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BA550B2-2C98-4E26-80B2-E4419654117C}" type="slidenum">
              <a:rPr lang="ru-RU" smtClean="0"/>
              <a:pPr/>
              <a:t>‹#›</a:t>
            </a:fld>
            <a:endParaRPr lang="ru-RU"/>
          </a:p>
        </p:txBody>
      </p:sp>
    </p:spTree>
    <p:extLst>
      <p:ext uri="{BB962C8B-B14F-4D97-AF65-F5344CB8AC3E}">
        <p14:creationId xmlns:p14="http://schemas.microsoft.com/office/powerpoint/2010/main" val="2190810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2978E-2F13-4D12-8C46-435343C3AF1C}" type="datetimeFigureOut">
              <a:rPr lang="ru-RU" smtClean="0"/>
              <a:pPr/>
              <a:t>15.10.2026</a:t>
            </a:fld>
            <a:endParaRPr lang="ru-RU"/>
          </a:p>
        </p:txBody>
      </p:sp>
      <p:sp>
        <p:nvSpPr>
          <p:cNvPr id="5" name="Нижний колонтитул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A550B2-2C98-4E26-80B2-E4419654117C}" type="slidenum">
              <a:rPr lang="ru-RU" smtClean="0"/>
              <a:pPr/>
              <a:t>‹#›</a:t>
            </a:fld>
            <a:endParaRPr lang="ru-RU"/>
          </a:p>
        </p:txBody>
      </p:sp>
    </p:spTree>
    <p:extLst>
      <p:ext uri="{BB962C8B-B14F-4D97-AF65-F5344CB8AC3E}">
        <p14:creationId xmlns:p14="http://schemas.microsoft.com/office/powerpoint/2010/main" val="7034281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5.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notesSlide" Target="../notesSlides/notesSlide3.xml"/><Relationship Id="rId7" Type="http://schemas.openxmlformats.org/officeDocument/2006/relationships/diagramQuickStyle" Target="../diagrams/quickStyle1.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0.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image" Target="../media/image11.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2.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4.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1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14.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6.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0.xml"/><Relationship Id="rId5" Type="http://schemas.openxmlformats.org/officeDocument/2006/relationships/image" Target="../media/image17.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18.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3.xml"/><Relationship Id="rId5" Type="http://schemas.openxmlformats.org/officeDocument/2006/relationships/image" Target="../media/image19.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Рисунок 15">
            <a:extLst>
              <a:ext uri="{FF2B5EF4-FFF2-40B4-BE49-F238E27FC236}">
                <a16:creationId xmlns:a16="http://schemas.microsoft.com/office/drawing/2014/main" id="{04B80220-1C19-4F27-A3A3-B7488DF667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5" y="-5477"/>
            <a:ext cx="12192000" cy="6858000"/>
          </a:xfrm>
          <a:prstGeom prst="rect">
            <a:avLst/>
          </a:prstGeom>
        </p:spPr>
      </p:pic>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sp>
        <p:nvSpPr>
          <p:cNvPr id="8" name="Прямоугольник 7">
            <a:extLst>
              <a:ext uri="{FF2B5EF4-FFF2-40B4-BE49-F238E27FC236}">
                <a16:creationId xmlns:a16="http://schemas.microsoft.com/office/drawing/2014/main" id="{1C4B59E1-9982-4A1F-8D5C-92B01379D61F}"/>
              </a:ext>
            </a:extLst>
          </p:cNvPr>
          <p:cNvSpPr/>
          <p:nvPr/>
        </p:nvSpPr>
        <p:spPr>
          <a:xfrm>
            <a:off x="1487488" y="5373216"/>
            <a:ext cx="2428935" cy="307777"/>
          </a:xfrm>
          <a:prstGeom prst="rect">
            <a:avLst/>
          </a:prstGeom>
        </p:spPr>
        <p:txBody>
          <a:bodyPr wrap="none">
            <a:spAutoFit/>
          </a:bodyPr>
          <a:lstStyle/>
          <a:p>
            <a:r>
              <a:rPr lang="ru-RU" sz="1400" dirty="0">
                <a:solidFill>
                  <a:schemeClr val="bg1"/>
                </a:solidFill>
                <a:latin typeface="Times New Roman" panose="02020603050405020304" pitchFamily="18" charset="0"/>
                <a:cs typeface="Times New Roman" panose="02020603050405020304" pitchFamily="18" charset="0"/>
              </a:rPr>
              <a:t>Локально-нормативные акты</a:t>
            </a:r>
          </a:p>
        </p:txBody>
      </p:sp>
      <p:sp>
        <p:nvSpPr>
          <p:cNvPr id="10" name="Прямоугольник 9">
            <a:extLst>
              <a:ext uri="{FF2B5EF4-FFF2-40B4-BE49-F238E27FC236}">
                <a16:creationId xmlns:a16="http://schemas.microsoft.com/office/drawing/2014/main" id="{2CDB9E84-376E-448F-B49D-1CB67FC95643}"/>
              </a:ext>
            </a:extLst>
          </p:cNvPr>
          <p:cNvSpPr/>
          <p:nvPr/>
        </p:nvSpPr>
        <p:spPr>
          <a:xfrm>
            <a:off x="1487488" y="4437112"/>
            <a:ext cx="7272808" cy="830997"/>
          </a:xfrm>
          <a:prstGeom prst="rect">
            <a:avLst/>
          </a:prstGeom>
        </p:spPr>
        <p:txBody>
          <a:bodyPr wrap="square">
            <a:spAutoFit/>
          </a:bodyPr>
          <a:lstStyle/>
          <a:p>
            <a:r>
              <a:rPr lang="ru-RU" sz="2400" dirty="0">
                <a:solidFill>
                  <a:schemeClr val="bg1"/>
                </a:solidFill>
                <a:latin typeface="Montserrat ExtraBold" panose="00000900000000000000" pitchFamily="2" charset="-52"/>
              </a:rPr>
              <a:t>ПОЛОЖЕНИЕ О КОММЕРЧЕСКОЙ ТАЙНЕ </a:t>
            </a:r>
            <a:br>
              <a:rPr lang="ru-RU" sz="2400" dirty="0">
                <a:solidFill>
                  <a:schemeClr val="bg1"/>
                </a:solidFill>
                <a:latin typeface="Montserrat ExtraBold" panose="00000900000000000000" pitchFamily="2" charset="-52"/>
              </a:rPr>
            </a:br>
            <a:r>
              <a:rPr lang="ru-RU" sz="2400" dirty="0">
                <a:solidFill>
                  <a:schemeClr val="bg1"/>
                </a:solidFill>
                <a:latin typeface="Montserrat ExtraBold" panose="00000900000000000000" pitchFamily="2" charset="-52"/>
              </a:rPr>
              <a:t>И КОНФИДЕНЦИАЛЬНОЙ ИНФОРМАЦИИ </a:t>
            </a:r>
          </a:p>
        </p:txBody>
      </p:sp>
      <p:pic>
        <p:nvPicPr>
          <p:cNvPr id="14" name="Рисунок 13">
            <a:extLst>
              <a:ext uri="{FF2B5EF4-FFF2-40B4-BE49-F238E27FC236}">
                <a16:creationId xmlns:a16="http://schemas.microsoft.com/office/drawing/2014/main" id="{B31FBCC4-DBF4-47A8-A5E1-AD212F6C4C13}"/>
              </a:ext>
            </a:extLst>
          </p:cNvPr>
          <p:cNvPicPr>
            <a:picLocks noChangeAspect="1"/>
          </p:cNvPicPr>
          <p:nvPr/>
        </p:nvPicPr>
        <p:blipFill>
          <a:blip r:embed="rId5"/>
          <a:stretch>
            <a:fillRect/>
          </a:stretch>
        </p:blipFill>
        <p:spPr>
          <a:xfrm>
            <a:off x="1631504" y="2924944"/>
            <a:ext cx="2200999" cy="432048"/>
          </a:xfrm>
          <a:prstGeom prst="rect">
            <a:avLst/>
          </a:prstGeom>
        </p:spPr>
      </p:pic>
    </p:spTree>
    <p:custDataLst>
      <p:tags r:id="rId1"/>
    </p:custDataLst>
    <p:extLst>
      <p:ext uri="{BB962C8B-B14F-4D97-AF65-F5344CB8AC3E}">
        <p14:creationId xmlns:p14="http://schemas.microsoft.com/office/powerpoint/2010/main" val="130334410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80376" y="332656"/>
            <a:ext cx="2520280" cy="12864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6"/>
          <a:stretch>
            <a:fillRect/>
          </a:stretch>
        </p:blipFill>
        <p:spPr>
          <a:xfrm>
            <a:off x="335360" y="6481052"/>
            <a:ext cx="1390008" cy="268247"/>
          </a:xfrm>
          <a:prstGeom prst="rect">
            <a:avLst/>
          </a:prstGeom>
        </p:spPr>
      </p:pic>
      <p:sp>
        <p:nvSpPr>
          <p:cNvPr id="7" name="Текст  1">
            <a:extLst>
              <a:ext uri="{FF2B5EF4-FFF2-40B4-BE49-F238E27FC236}">
                <a16:creationId xmlns:a16="http://schemas.microsoft.com/office/drawing/2014/main" id="{B218DD04-CBE9-4D75-B93B-15274B5412C8}"/>
              </a:ext>
            </a:extLst>
          </p:cNvPr>
          <p:cNvSpPr txBox="1">
            <a:spLocks/>
          </p:cNvSpPr>
          <p:nvPr/>
        </p:nvSpPr>
        <p:spPr>
          <a:xfrm>
            <a:off x="911424" y="1340769"/>
            <a:ext cx="10945216" cy="1152128"/>
          </a:xfrm>
          <a:prstGeom prst="rect">
            <a:avLst/>
          </a:prstGeom>
        </p:spPr>
        <p:txBody>
          <a:bodyPr vert="horz" wrap="square" lIns="91440" tIns="45720" rIns="91440" bIns="45720" rtlCol="0">
            <a:noAutofit/>
          </a:bodyPr>
          <a:lstStyle>
            <a:lvl1pPr marL="0" indent="0" algn="l" defTabSz="914400" rtl="0" eaLnBrk="1" latinLnBrk="0" hangingPunct="1">
              <a:lnSpc>
                <a:spcPct val="114000"/>
              </a:lnSpc>
              <a:spcBef>
                <a:spcPts val="600"/>
              </a:spcBef>
              <a:buFont typeface="Arial" panose="020B0604020202020204" pitchFamily="34" charset="0"/>
              <a:buNone/>
              <a:defRPr lang="en-US" sz="1200" kern="1200" baseline="0" dirty="0" smtClean="0">
                <a:solidFill>
                  <a:schemeClr val="tx2">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ru-RU" sz="18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defRPr/>
            </a:pPr>
            <a:r>
              <a:rPr lang="ru-RU" sz="2000" dirty="0">
                <a:solidFill>
                  <a:schemeClr val="tx1"/>
                </a:solidFill>
                <a:latin typeface="Times New Roman" panose="02020603050405020304" pitchFamily="18" charset="0"/>
                <a:cs typeface="Times New Roman" panose="02020603050405020304" pitchFamily="18" charset="0"/>
              </a:rPr>
              <a:t>Действие Положения о коммерческой тайне и конфиденциальной информации распространяется на информацию Общества, имеющую ограниченный доступ, независимо от носителя, на котором находится, и независимо от вида, в котором представлена.</a:t>
            </a:r>
          </a:p>
        </p:txBody>
      </p:sp>
      <p:pic>
        <p:nvPicPr>
          <p:cNvPr id="10" name="Объект 9">
            <a:extLst>
              <a:ext uri="{FF2B5EF4-FFF2-40B4-BE49-F238E27FC236}">
                <a16:creationId xmlns:a16="http://schemas.microsoft.com/office/drawing/2014/main" id="{94CDD988-A514-4CB2-B9E6-8C21D709216D}"/>
              </a:ext>
            </a:extLst>
          </p:cNvPr>
          <p:cNvPicPr>
            <a:picLocks noGrp="1" noChangeAspect="1"/>
          </p:cNvPicPr>
          <p:nvPr>
            <p:ph idx="1"/>
          </p:nvPr>
        </p:nvPicPr>
        <p:blipFill>
          <a:blip r:embed="rId7" cstate="print">
            <a:extLst>
              <a:ext uri="{28A0092B-C50C-407E-A947-70E740481C1C}">
                <a14:useLocalDpi xmlns:a14="http://schemas.microsoft.com/office/drawing/2010/main" val="0"/>
              </a:ext>
            </a:extLst>
          </a:blip>
          <a:stretch>
            <a:fillRect/>
          </a:stretch>
        </p:blipFill>
        <p:spPr>
          <a:xfrm>
            <a:off x="3431704" y="3114755"/>
            <a:ext cx="6192688" cy="2975588"/>
          </a:xfrm>
          <a:effectLst>
            <a:softEdge rad="317500"/>
          </a:effectLst>
        </p:spPr>
      </p:pic>
      <p:sp>
        <p:nvSpPr>
          <p:cNvPr id="8" name="Текст  2">
            <a:extLst>
              <a:ext uri="{FF2B5EF4-FFF2-40B4-BE49-F238E27FC236}">
                <a16:creationId xmlns:a16="http://schemas.microsoft.com/office/drawing/2014/main" id="{20A829B3-3237-44D9-9261-D47CD3A7C199}"/>
              </a:ext>
            </a:extLst>
          </p:cNvPr>
          <p:cNvSpPr txBox="1">
            <a:spLocks/>
          </p:cNvSpPr>
          <p:nvPr/>
        </p:nvSpPr>
        <p:spPr>
          <a:xfrm>
            <a:off x="5591944" y="6378704"/>
            <a:ext cx="6034270" cy="360307"/>
          </a:xfrm>
          <a:prstGeom prst="rect">
            <a:avLst/>
          </a:prstGeom>
        </p:spPr>
        <p:txBody>
          <a:bodyPr vert="horz" wrap="square" lIns="91440" tIns="45720" rIns="91440" bIns="45720" rtlCol="0">
            <a:noAutofit/>
          </a:bodyPr>
          <a:lstStyle>
            <a:lvl1pPr marL="0" indent="0" algn="l" defTabSz="914400" rtl="0" eaLnBrk="1" latinLnBrk="0" hangingPunct="1">
              <a:lnSpc>
                <a:spcPct val="114000"/>
              </a:lnSpc>
              <a:spcBef>
                <a:spcPts val="1000"/>
              </a:spcBef>
              <a:buFont typeface="Arial" panose="020B0604020202020204" pitchFamily="34" charset="0"/>
              <a:buNone/>
              <a:defRPr lang="ru-RU" sz="900" kern="1200" baseline="0" dirty="0">
                <a:solidFill>
                  <a:schemeClr val="tx2">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ru-RU" altLang="ru-RU" sz="1400" dirty="0">
                <a:solidFill>
                  <a:schemeClr val="tx1"/>
                </a:solidFill>
                <a:latin typeface="Times New Roman" panose="02020603050405020304" pitchFamily="18" charset="0"/>
                <a:cs typeface="Times New Roman" panose="02020603050405020304" pitchFamily="18" charset="0"/>
              </a:rPr>
              <a:t>Общество </a:t>
            </a:r>
            <a:r>
              <a:rPr lang="ru-RU" altLang="ru-RU" sz="1200" dirty="0">
                <a:solidFill>
                  <a:schemeClr val="tx1"/>
                </a:solidFill>
                <a:latin typeface="Times New Roman" panose="02020603050405020304" pitchFamily="18" charset="0"/>
                <a:cs typeface="Times New Roman" panose="02020603050405020304" pitchFamily="18" charset="0"/>
              </a:rPr>
              <a:t>– </a:t>
            </a:r>
            <a:r>
              <a:rPr lang="ru-RU" sz="1200" dirty="0">
                <a:solidFill>
                  <a:schemeClr val="tx1"/>
                </a:solidFill>
                <a:latin typeface="Times New Roman" panose="02020603050405020304" pitchFamily="18" charset="0"/>
                <a:cs typeface="Times New Roman" panose="02020603050405020304" pitchFamily="18" charset="0"/>
              </a:rPr>
              <a:t>ООО «Группа ПОЛИПЛАСТИК», а также дочерние и зависимые общества</a:t>
            </a:r>
            <a:endParaRPr lang="ru-RU" altLang="ru-RU" sz="1200" dirty="0">
              <a:solidFill>
                <a:schemeClr val="tx1"/>
              </a:solidFill>
              <a:latin typeface="Times New Roman" panose="02020603050405020304" pitchFamily="18" charset="0"/>
              <a:cs typeface="Times New Roman" panose="02020603050405020304" pitchFamily="18" charset="0"/>
            </a:endParaRPr>
          </a:p>
        </p:txBody>
      </p:sp>
      <p:sp>
        <p:nvSpPr>
          <p:cNvPr id="9" name="Иконка  3">
            <a:extLst>
              <a:ext uri="{FF2B5EF4-FFF2-40B4-BE49-F238E27FC236}">
                <a16:creationId xmlns:a16="http://schemas.microsoft.com/office/drawing/2014/main" id="{972A957E-0056-49E8-A974-8123ABB3BE2A}"/>
              </a:ext>
            </a:extLst>
          </p:cNvPr>
          <p:cNvSpPr>
            <a:spLocks noChangeAspect="1" noEditPoints="1"/>
          </p:cNvSpPr>
          <p:nvPr>
            <p:custDataLst>
              <p:tags r:id="rId2"/>
            </p:custDataLst>
          </p:nvPr>
        </p:nvSpPr>
        <p:spPr bwMode="auto">
          <a:xfrm>
            <a:off x="3935760" y="1700808"/>
            <a:ext cx="105505" cy="118229"/>
          </a:xfrm>
          <a:custGeom>
            <a:avLst/>
            <a:gdLst>
              <a:gd name="T0" fmla="*/ 168 w 168"/>
              <a:gd name="T1" fmla="*/ 30 h 188"/>
              <a:gd name="T2" fmla="*/ 160 w 168"/>
              <a:gd name="T3" fmla="*/ 30 h 188"/>
              <a:gd name="T4" fmla="*/ 160 w 168"/>
              <a:gd name="T5" fmla="*/ 30 h 188"/>
              <a:gd name="T6" fmla="*/ 160 w 168"/>
              <a:gd name="T7" fmla="*/ 30 h 188"/>
              <a:gd name="T8" fmla="*/ 135 w 168"/>
              <a:gd name="T9" fmla="*/ 33 h 188"/>
              <a:gd name="T10" fmla="*/ 78 w 168"/>
              <a:gd name="T11" fmla="*/ 16 h 188"/>
              <a:gd name="T12" fmla="*/ 59 w 168"/>
              <a:gd name="T13" fmla="*/ 12 h 188"/>
              <a:gd name="T14" fmla="*/ 25 w 168"/>
              <a:gd name="T15" fmla="*/ 24 h 188"/>
              <a:gd name="T16" fmla="*/ 24 w 168"/>
              <a:gd name="T17" fmla="*/ 26 h 188"/>
              <a:gd name="T18" fmla="*/ 24 w 168"/>
              <a:gd name="T19" fmla="*/ 110 h 188"/>
              <a:gd name="T20" fmla="*/ 27 w 168"/>
              <a:gd name="T21" fmla="*/ 112 h 188"/>
              <a:gd name="T22" fmla="*/ 28 w 168"/>
              <a:gd name="T23" fmla="*/ 112 h 188"/>
              <a:gd name="T24" fmla="*/ 38 w 168"/>
              <a:gd name="T25" fmla="*/ 108 h 188"/>
              <a:gd name="T26" fmla="*/ 64 w 168"/>
              <a:gd name="T27" fmla="*/ 102 h 188"/>
              <a:gd name="T28" fmla="*/ 112 w 168"/>
              <a:gd name="T29" fmla="*/ 117 h 188"/>
              <a:gd name="T30" fmla="*/ 133 w 168"/>
              <a:gd name="T31" fmla="*/ 121 h 188"/>
              <a:gd name="T32" fmla="*/ 163 w 168"/>
              <a:gd name="T33" fmla="*/ 117 h 188"/>
              <a:gd name="T34" fmla="*/ 164 w 168"/>
              <a:gd name="T35" fmla="*/ 117 h 188"/>
              <a:gd name="T36" fmla="*/ 168 w 168"/>
              <a:gd name="T37" fmla="*/ 30 h 188"/>
              <a:gd name="T38" fmla="*/ 152 w 168"/>
              <a:gd name="T39" fmla="*/ 107 h 188"/>
              <a:gd name="T40" fmla="*/ 133 w 168"/>
              <a:gd name="T41" fmla="*/ 109 h 188"/>
              <a:gd name="T42" fmla="*/ 118 w 168"/>
              <a:gd name="T43" fmla="*/ 106 h 188"/>
              <a:gd name="T44" fmla="*/ 64 w 168"/>
              <a:gd name="T45" fmla="*/ 90 h 188"/>
              <a:gd name="T46" fmla="*/ 36 w 168"/>
              <a:gd name="T47" fmla="*/ 96 h 188"/>
              <a:gd name="T48" fmla="*/ 36 w 168"/>
              <a:gd name="T49" fmla="*/ 31 h 188"/>
              <a:gd name="T50" fmla="*/ 59 w 168"/>
              <a:gd name="T51" fmla="*/ 24 h 188"/>
              <a:gd name="T52" fmla="*/ 74 w 168"/>
              <a:gd name="T53" fmla="*/ 27 h 188"/>
              <a:gd name="T54" fmla="*/ 135 w 168"/>
              <a:gd name="T55" fmla="*/ 45 h 188"/>
              <a:gd name="T56" fmla="*/ 155 w 168"/>
              <a:gd name="T57" fmla="*/ 43 h 188"/>
              <a:gd name="T58" fmla="*/ 152 w 168"/>
              <a:gd name="T59" fmla="*/ 107 h 188"/>
              <a:gd name="T60" fmla="*/ 10 w 168"/>
              <a:gd name="T61" fmla="*/ 0 h 188"/>
              <a:gd name="T62" fmla="*/ 0 w 168"/>
              <a:gd name="T63" fmla="*/ 11 h 188"/>
              <a:gd name="T64" fmla="*/ 3 w 168"/>
              <a:gd name="T65" fmla="*/ 19 h 188"/>
              <a:gd name="T66" fmla="*/ 4 w 168"/>
              <a:gd name="T67" fmla="*/ 21 h 188"/>
              <a:gd name="T68" fmla="*/ 4 w 168"/>
              <a:gd name="T69" fmla="*/ 182 h 188"/>
              <a:gd name="T70" fmla="*/ 10 w 168"/>
              <a:gd name="T71" fmla="*/ 188 h 188"/>
              <a:gd name="T72" fmla="*/ 16 w 168"/>
              <a:gd name="T73" fmla="*/ 182 h 188"/>
              <a:gd name="T74" fmla="*/ 16 w 168"/>
              <a:gd name="T75" fmla="*/ 22 h 188"/>
              <a:gd name="T76" fmla="*/ 17 w 168"/>
              <a:gd name="T77" fmla="*/ 20 h 188"/>
              <a:gd name="T78" fmla="*/ 20 w 168"/>
              <a:gd name="T79" fmla="*/ 11 h 188"/>
              <a:gd name="T80" fmla="*/ 10 w 168"/>
              <a:gd name="T81"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8">
                <a:moveTo>
                  <a:pt x="168" y="30"/>
                </a:moveTo>
                <a:cubicBezTo>
                  <a:pt x="165" y="30"/>
                  <a:pt x="161" y="30"/>
                  <a:pt x="160" y="30"/>
                </a:cubicBezTo>
                <a:cubicBezTo>
                  <a:pt x="160" y="30"/>
                  <a:pt x="160" y="30"/>
                  <a:pt x="160" y="30"/>
                </a:cubicBezTo>
                <a:cubicBezTo>
                  <a:pt x="160" y="30"/>
                  <a:pt x="160" y="30"/>
                  <a:pt x="160" y="30"/>
                </a:cubicBezTo>
                <a:cubicBezTo>
                  <a:pt x="151" y="32"/>
                  <a:pt x="143" y="33"/>
                  <a:pt x="135" y="33"/>
                </a:cubicBezTo>
                <a:cubicBezTo>
                  <a:pt x="116" y="33"/>
                  <a:pt x="100" y="25"/>
                  <a:pt x="78" y="16"/>
                </a:cubicBezTo>
                <a:cubicBezTo>
                  <a:pt x="71" y="13"/>
                  <a:pt x="65" y="12"/>
                  <a:pt x="59" y="12"/>
                </a:cubicBezTo>
                <a:cubicBezTo>
                  <a:pt x="42" y="12"/>
                  <a:pt x="29" y="21"/>
                  <a:pt x="25" y="24"/>
                </a:cubicBezTo>
                <a:cubicBezTo>
                  <a:pt x="24" y="25"/>
                  <a:pt x="24" y="25"/>
                  <a:pt x="24" y="26"/>
                </a:cubicBezTo>
                <a:cubicBezTo>
                  <a:pt x="24" y="110"/>
                  <a:pt x="24" y="110"/>
                  <a:pt x="24" y="110"/>
                </a:cubicBezTo>
                <a:cubicBezTo>
                  <a:pt x="24" y="111"/>
                  <a:pt x="25" y="112"/>
                  <a:pt x="27" y="112"/>
                </a:cubicBezTo>
                <a:cubicBezTo>
                  <a:pt x="27" y="112"/>
                  <a:pt x="28" y="112"/>
                  <a:pt x="28" y="112"/>
                </a:cubicBezTo>
                <a:cubicBezTo>
                  <a:pt x="32" y="110"/>
                  <a:pt x="38" y="108"/>
                  <a:pt x="38" y="108"/>
                </a:cubicBezTo>
                <a:cubicBezTo>
                  <a:pt x="47" y="104"/>
                  <a:pt x="56" y="102"/>
                  <a:pt x="64" y="102"/>
                </a:cubicBezTo>
                <a:cubicBezTo>
                  <a:pt x="84" y="102"/>
                  <a:pt x="101" y="110"/>
                  <a:pt x="112" y="117"/>
                </a:cubicBezTo>
                <a:cubicBezTo>
                  <a:pt x="118" y="120"/>
                  <a:pt x="126" y="121"/>
                  <a:pt x="133" y="121"/>
                </a:cubicBezTo>
                <a:cubicBezTo>
                  <a:pt x="146" y="121"/>
                  <a:pt x="159" y="118"/>
                  <a:pt x="163" y="117"/>
                </a:cubicBezTo>
                <a:cubicBezTo>
                  <a:pt x="164" y="117"/>
                  <a:pt x="164" y="117"/>
                  <a:pt x="164" y="117"/>
                </a:cubicBezTo>
                <a:cubicBezTo>
                  <a:pt x="168" y="30"/>
                  <a:pt x="168" y="30"/>
                  <a:pt x="168" y="30"/>
                </a:cubicBezTo>
                <a:close/>
                <a:moveTo>
                  <a:pt x="152" y="107"/>
                </a:moveTo>
                <a:cubicBezTo>
                  <a:pt x="147" y="108"/>
                  <a:pt x="140" y="109"/>
                  <a:pt x="133" y="109"/>
                </a:cubicBezTo>
                <a:cubicBezTo>
                  <a:pt x="127" y="109"/>
                  <a:pt x="122" y="108"/>
                  <a:pt x="118" y="106"/>
                </a:cubicBezTo>
                <a:cubicBezTo>
                  <a:pt x="99" y="95"/>
                  <a:pt x="81" y="90"/>
                  <a:pt x="64" y="90"/>
                </a:cubicBezTo>
                <a:cubicBezTo>
                  <a:pt x="54" y="90"/>
                  <a:pt x="45" y="92"/>
                  <a:pt x="36" y="96"/>
                </a:cubicBezTo>
                <a:cubicBezTo>
                  <a:pt x="36" y="31"/>
                  <a:pt x="36" y="31"/>
                  <a:pt x="36" y="31"/>
                </a:cubicBezTo>
                <a:cubicBezTo>
                  <a:pt x="41" y="28"/>
                  <a:pt x="49" y="24"/>
                  <a:pt x="59" y="24"/>
                </a:cubicBezTo>
                <a:cubicBezTo>
                  <a:pt x="64" y="24"/>
                  <a:pt x="69" y="25"/>
                  <a:pt x="74" y="27"/>
                </a:cubicBezTo>
                <a:cubicBezTo>
                  <a:pt x="95" y="36"/>
                  <a:pt x="114" y="45"/>
                  <a:pt x="135" y="45"/>
                </a:cubicBezTo>
                <a:cubicBezTo>
                  <a:pt x="142" y="45"/>
                  <a:pt x="148" y="44"/>
                  <a:pt x="155" y="43"/>
                </a:cubicBezTo>
                <a:lnTo>
                  <a:pt x="152" y="107"/>
                </a:lnTo>
                <a:close/>
                <a:moveTo>
                  <a:pt x="10" y="0"/>
                </a:moveTo>
                <a:cubicBezTo>
                  <a:pt x="4" y="0"/>
                  <a:pt x="0" y="5"/>
                  <a:pt x="0" y="11"/>
                </a:cubicBezTo>
                <a:cubicBezTo>
                  <a:pt x="0" y="15"/>
                  <a:pt x="1" y="17"/>
                  <a:pt x="3" y="19"/>
                </a:cubicBezTo>
                <a:cubicBezTo>
                  <a:pt x="4" y="20"/>
                  <a:pt x="4" y="21"/>
                  <a:pt x="4" y="21"/>
                </a:cubicBezTo>
                <a:cubicBezTo>
                  <a:pt x="4" y="182"/>
                  <a:pt x="4" y="182"/>
                  <a:pt x="4" y="182"/>
                </a:cubicBezTo>
                <a:cubicBezTo>
                  <a:pt x="4" y="185"/>
                  <a:pt x="7" y="188"/>
                  <a:pt x="10" y="188"/>
                </a:cubicBezTo>
                <a:cubicBezTo>
                  <a:pt x="13" y="188"/>
                  <a:pt x="16" y="185"/>
                  <a:pt x="16" y="182"/>
                </a:cubicBezTo>
                <a:cubicBezTo>
                  <a:pt x="16" y="22"/>
                  <a:pt x="16" y="22"/>
                  <a:pt x="16" y="22"/>
                </a:cubicBezTo>
                <a:cubicBezTo>
                  <a:pt x="16" y="21"/>
                  <a:pt x="16" y="20"/>
                  <a:pt x="17" y="20"/>
                </a:cubicBezTo>
                <a:cubicBezTo>
                  <a:pt x="19" y="18"/>
                  <a:pt x="20" y="15"/>
                  <a:pt x="20" y="11"/>
                </a:cubicBezTo>
                <a:cubicBezTo>
                  <a:pt x="20" y="4"/>
                  <a:pt x="16" y="0"/>
                  <a:pt x="10"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ru-RU" sz="1350" dirty="0"/>
          </a:p>
        </p:txBody>
      </p:sp>
      <p:sp>
        <p:nvSpPr>
          <p:cNvPr id="11" name="Иконка  3">
            <a:extLst>
              <a:ext uri="{FF2B5EF4-FFF2-40B4-BE49-F238E27FC236}">
                <a16:creationId xmlns:a16="http://schemas.microsoft.com/office/drawing/2014/main" id="{17BAB576-55AC-42C4-9198-91342E0F361D}"/>
              </a:ext>
            </a:extLst>
          </p:cNvPr>
          <p:cNvSpPr>
            <a:spLocks noChangeAspect="1" noEditPoints="1"/>
          </p:cNvSpPr>
          <p:nvPr>
            <p:custDataLst>
              <p:tags r:id="rId3"/>
            </p:custDataLst>
          </p:nvPr>
        </p:nvSpPr>
        <p:spPr bwMode="auto">
          <a:xfrm>
            <a:off x="5303912" y="6439714"/>
            <a:ext cx="321530" cy="360307"/>
          </a:xfrm>
          <a:custGeom>
            <a:avLst/>
            <a:gdLst>
              <a:gd name="T0" fmla="*/ 168 w 168"/>
              <a:gd name="T1" fmla="*/ 30 h 188"/>
              <a:gd name="T2" fmla="*/ 160 w 168"/>
              <a:gd name="T3" fmla="*/ 30 h 188"/>
              <a:gd name="T4" fmla="*/ 160 w 168"/>
              <a:gd name="T5" fmla="*/ 30 h 188"/>
              <a:gd name="T6" fmla="*/ 160 w 168"/>
              <a:gd name="T7" fmla="*/ 30 h 188"/>
              <a:gd name="T8" fmla="*/ 135 w 168"/>
              <a:gd name="T9" fmla="*/ 33 h 188"/>
              <a:gd name="T10" fmla="*/ 78 w 168"/>
              <a:gd name="T11" fmla="*/ 16 h 188"/>
              <a:gd name="T12" fmla="*/ 59 w 168"/>
              <a:gd name="T13" fmla="*/ 12 h 188"/>
              <a:gd name="T14" fmla="*/ 25 w 168"/>
              <a:gd name="T15" fmla="*/ 24 h 188"/>
              <a:gd name="T16" fmla="*/ 24 w 168"/>
              <a:gd name="T17" fmla="*/ 26 h 188"/>
              <a:gd name="T18" fmla="*/ 24 w 168"/>
              <a:gd name="T19" fmla="*/ 110 h 188"/>
              <a:gd name="T20" fmla="*/ 27 w 168"/>
              <a:gd name="T21" fmla="*/ 112 h 188"/>
              <a:gd name="T22" fmla="*/ 28 w 168"/>
              <a:gd name="T23" fmla="*/ 112 h 188"/>
              <a:gd name="T24" fmla="*/ 38 w 168"/>
              <a:gd name="T25" fmla="*/ 108 h 188"/>
              <a:gd name="T26" fmla="*/ 64 w 168"/>
              <a:gd name="T27" fmla="*/ 102 h 188"/>
              <a:gd name="T28" fmla="*/ 112 w 168"/>
              <a:gd name="T29" fmla="*/ 117 h 188"/>
              <a:gd name="T30" fmla="*/ 133 w 168"/>
              <a:gd name="T31" fmla="*/ 121 h 188"/>
              <a:gd name="T32" fmla="*/ 163 w 168"/>
              <a:gd name="T33" fmla="*/ 117 h 188"/>
              <a:gd name="T34" fmla="*/ 164 w 168"/>
              <a:gd name="T35" fmla="*/ 117 h 188"/>
              <a:gd name="T36" fmla="*/ 168 w 168"/>
              <a:gd name="T37" fmla="*/ 30 h 188"/>
              <a:gd name="T38" fmla="*/ 152 w 168"/>
              <a:gd name="T39" fmla="*/ 107 h 188"/>
              <a:gd name="T40" fmla="*/ 133 w 168"/>
              <a:gd name="T41" fmla="*/ 109 h 188"/>
              <a:gd name="T42" fmla="*/ 118 w 168"/>
              <a:gd name="T43" fmla="*/ 106 h 188"/>
              <a:gd name="T44" fmla="*/ 64 w 168"/>
              <a:gd name="T45" fmla="*/ 90 h 188"/>
              <a:gd name="T46" fmla="*/ 36 w 168"/>
              <a:gd name="T47" fmla="*/ 96 h 188"/>
              <a:gd name="T48" fmla="*/ 36 w 168"/>
              <a:gd name="T49" fmla="*/ 31 h 188"/>
              <a:gd name="T50" fmla="*/ 59 w 168"/>
              <a:gd name="T51" fmla="*/ 24 h 188"/>
              <a:gd name="T52" fmla="*/ 74 w 168"/>
              <a:gd name="T53" fmla="*/ 27 h 188"/>
              <a:gd name="T54" fmla="*/ 135 w 168"/>
              <a:gd name="T55" fmla="*/ 45 h 188"/>
              <a:gd name="T56" fmla="*/ 155 w 168"/>
              <a:gd name="T57" fmla="*/ 43 h 188"/>
              <a:gd name="T58" fmla="*/ 152 w 168"/>
              <a:gd name="T59" fmla="*/ 107 h 188"/>
              <a:gd name="T60" fmla="*/ 10 w 168"/>
              <a:gd name="T61" fmla="*/ 0 h 188"/>
              <a:gd name="T62" fmla="*/ 0 w 168"/>
              <a:gd name="T63" fmla="*/ 11 h 188"/>
              <a:gd name="T64" fmla="*/ 3 w 168"/>
              <a:gd name="T65" fmla="*/ 19 h 188"/>
              <a:gd name="T66" fmla="*/ 4 w 168"/>
              <a:gd name="T67" fmla="*/ 21 h 188"/>
              <a:gd name="T68" fmla="*/ 4 w 168"/>
              <a:gd name="T69" fmla="*/ 182 h 188"/>
              <a:gd name="T70" fmla="*/ 10 w 168"/>
              <a:gd name="T71" fmla="*/ 188 h 188"/>
              <a:gd name="T72" fmla="*/ 16 w 168"/>
              <a:gd name="T73" fmla="*/ 182 h 188"/>
              <a:gd name="T74" fmla="*/ 16 w 168"/>
              <a:gd name="T75" fmla="*/ 22 h 188"/>
              <a:gd name="T76" fmla="*/ 17 w 168"/>
              <a:gd name="T77" fmla="*/ 20 h 188"/>
              <a:gd name="T78" fmla="*/ 20 w 168"/>
              <a:gd name="T79" fmla="*/ 11 h 188"/>
              <a:gd name="T80" fmla="*/ 10 w 168"/>
              <a:gd name="T81"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8">
                <a:moveTo>
                  <a:pt x="168" y="30"/>
                </a:moveTo>
                <a:cubicBezTo>
                  <a:pt x="165" y="30"/>
                  <a:pt x="161" y="30"/>
                  <a:pt x="160" y="30"/>
                </a:cubicBezTo>
                <a:cubicBezTo>
                  <a:pt x="160" y="30"/>
                  <a:pt x="160" y="30"/>
                  <a:pt x="160" y="30"/>
                </a:cubicBezTo>
                <a:cubicBezTo>
                  <a:pt x="160" y="30"/>
                  <a:pt x="160" y="30"/>
                  <a:pt x="160" y="30"/>
                </a:cubicBezTo>
                <a:cubicBezTo>
                  <a:pt x="151" y="32"/>
                  <a:pt x="143" y="33"/>
                  <a:pt x="135" y="33"/>
                </a:cubicBezTo>
                <a:cubicBezTo>
                  <a:pt x="116" y="33"/>
                  <a:pt x="100" y="25"/>
                  <a:pt x="78" y="16"/>
                </a:cubicBezTo>
                <a:cubicBezTo>
                  <a:pt x="71" y="13"/>
                  <a:pt x="65" y="12"/>
                  <a:pt x="59" y="12"/>
                </a:cubicBezTo>
                <a:cubicBezTo>
                  <a:pt x="42" y="12"/>
                  <a:pt x="29" y="21"/>
                  <a:pt x="25" y="24"/>
                </a:cubicBezTo>
                <a:cubicBezTo>
                  <a:pt x="24" y="25"/>
                  <a:pt x="24" y="25"/>
                  <a:pt x="24" y="26"/>
                </a:cubicBezTo>
                <a:cubicBezTo>
                  <a:pt x="24" y="110"/>
                  <a:pt x="24" y="110"/>
                  <a:pt x="24" y="110"/>
                </a:cubicBezTo>
                <a:cubicBezTo>
                  <a:pt x="24" y="111"/>
                  <a:pt x="25" y="112"/>
                  <a:pt x="27" y="112"/>
                </a:cubicBezTo>
                <a:cubicBezTo>
                  <a:pt x="27" y="112"/>
                  <a:pt x="28" y="112"/>
                  <a:pt x="28" y="112"/>
                </a:cubicBezTo>
                <a:cubicBezTo>
                  <a:pt x="32" y="110"/>
                  <a:pt x="38" y="108"/>
                  <a:pt x="38" y="108"/>
                </a:cubicBezTo>
                <a:cubicBezTo>
                  <a:pt x="47" y="104"/>
                  <a:pt x="56" y="102"/>
                  <a:pt x="64" y="102"/>
                </a:cubicBezTo>
                <a:cubicBezTo>
                  <a:pt x="84" y="102"/>
                  <a:pt x="101" y="110"/>
                  <a:pt x="112" y="117"/>
                </a:cubicBezTo>
                <a:cubicBezTo>
                  <a:pt x="118" y="120"/>
                  <a:pt x="126" y="121"/>
                  <a:pt x="133" y="121"/>
                </a:cubicBezTo>
                <a:cubicBezTo>
                  <a:pt x="146" y="121"/>
                  <a:pt x="159" y="118"/>
                  <a:pt x="163" y="117"/>
                </a:cubicBezTo>
                <a:cubicBezTo>
                  <a:pt x="164" y="117"/>
                  <a:pt x="164" y="117"/>
                  <a:pt x="164" y="117"/>
                </a:cubicBezTo>
                <a:cubicBezTo>
                  <a:pt x="168" y="30"/>
                  <a:pt x="168" y="30"/>
                  <a:pt x="168" y="30"/>
                </a:cubicBezTo>
                <a:close/>
                <a:moveTo>
                  <a:pt x="152" y="107"/>
                </a:moveTo>
                <a:cubicBezTo>
                  <a:pt x="147" y="108"/>
                  <a:pt x="140" y="109"/>
                  <a:pt x="133" y="109"/>
                </a:cubicBezTo>
                <a:cubicBezTo>
                  <a:pt x="127" y="109"/>
                  <a:pt x="122" y="108"/>
                  <a:pt x="118" y="106"/>
                </a:cubicBezTo>
                <a:cubicBezTo>
                  <a:pt x="99" y="95"/>
                  <a:pt x="81" y="90"/>
                  <a:pt x="64" y="90"/>
                </a:cubicBezTo>
                <a:cubicBezTo>
                  <a:pt x="54" y="90"/>
                  <a:pt x="45" y="92"/>
                  <a:pt x="36" y="96"/>
                </a:cubicBezTo>
                <a:cubicBezTo>
                  <a:pt x="36" y="31"/>
                  <a:pt x="36" y="31"/>
                  <a:pt x="36" y="31"/>
                </a:cubicBezTo>
                <a:cubicBezTo>
                  <a:pt x="41" y="28"/>
                  <a:pt x="49" y="24"/>
                  <a:pt x="59" y="24"/>
                </a:cubicBezTo>
                <a:cubicBezTo>
                  <a:pt x="64" y="24"/>
                  <a:pt x="69" y="25"/>
                  <a:pt x="74" y="27"/>
                </a:cubicBezTo>
                <a:cubicBezTo>
                  <a:pt x="95" y="36"/>
                  <a:pt x="114" y="45"/>
                  <a:pt x="135" y="45"/>
                </a:cubicBezTo>
                <a:cubicBezTo>
                  <a:pt x="142" y="45"/>
                  <a:pt x="148" y="44"/>
                  <a:pt x="155" y="43"/>
                </a:cubicBezTo>
                <a:lnTo>
                  <a:pt x="152" y="107"/>
                </a:lnTo>
                <a:close/>
                <a:moveTo>
                  <a:pt x="10" y="0"/>
                </a:moveTo>
                <a:cubicBezTo>
                  <a:pt x="4" y="0"/>
                  <a:pt x="0" y="5"/>
                  <a:pt x="0" y="11"/>
                </a:cubicBezTo>
                <a:cubicBezTo>
                  <a:pt x="0" y="15"/>
                  <a:pt x="1" y="17"/>
                  <a:pt x="3" y="19"/>
                </a:cubicBezTo>
                <a:cubicBezTo>
                  <a:pt x="4" y="20"/>
                  <a:pt x="4" y="21"/>
                  <a:pt x="4" y="21"/>
                </a:cubicBezTo>
                <a:cubicBezTo>
                  <a:pt x="4" y="182"/>
                  <a:pt x="4" y="182"/>
                  <a:pt x="4" y="182"/>
                </a:cubicBezTo>
                <a:cubicBezTo>
                  <a:pt x="4" y="185"/>
                  <a:pt x="7" y="188"/>
                  <a:pt x="10" y="188"/>
                </a:cubicBezTo>
                <a:cubicBezTo>
                  <a:pt x="13" y="188"/>
                  <a:pt x="16" y="185"/>
                  <a:pt x="16" y="182"/>
                </a:cubicBezTo>
                <a:cubicBezTo>
                  <a:pt x="16" y="22"/>
                  <a:pt x="16" y="22"/>
                  <a:pt x="16" y="22"/>
                </a:cubicBezTo>
                <a:cubicBezTo>
                  <a:pt x="16" y="21"/>
                  <a:pt x="16" y="20"/>
                  <a:pt x="17" y="20"/>
                </a:cubicBezTo>
                <a:cubicBezTo>
                  <a:pt x="19" y="18"/>
                  <a:pt x="20" y="15"/>
                  <a:pt x="20" y="11"/>
                </a:cubicBezTo>
                <a:cubicBezTo>
                  <a:pt x="20" y="4"/>
                  <a:pt x="16" y="0"/>
                  <a:pt x="10"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ru-RU" sz="1350" dirty="0"/>
          </a:p>
        </p:txBody>
      </p:sp>
    </p:spTree>
    <p:custDataLst>
      <p:tags r:id="rId1"/>
    </p:custDataLst>
    <p:extLst>
      <p:ext uri="{BB962C8B-B14F-4D97-AF65-F5344CB8AC3E}">
        <p14:creationId xmlns:p14="http://schemas.microsoft.com/office/powerpoint/2010/main" val="23587201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250"/>
                                        <p:tgtEl>
                                          <p:spTgt spid="7">
                                            <p:txEl>
                                              <p:pRg st="0" end="0"/>
                                            </p:txEl>
                                          </p:spTgt>
                                        </p:tgtEl>
                                      </p:cBhvr>
                                    </p:animEffect>
                                  </p:childTnLst>
                                </p:cTn>
                              </p:par>
                            </p:childTnLst>
                          </p:cTn>
                        </p:par>
                        <p:par>
                          <p:cTn id="8" fill="hold">
                            <p:stCondLst>
                              <p:cond delay="1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08368" y="359581"/>
            <a:ext cx="2592288"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4"/>
          <a:stretch>
            <a:fillRect/>
          </a:stretch>
        </p:blipFill>
        <p:spPr>
          <a:xfrm>
            <a:off x="384162" y="6453339"/>
            <a:ext cx="1390008" cy="268247"/>
          </a:xfrm>
          <a:prstGeom prst="rect">
            <a:avLst/>
          </a:prstGeom>
        </p:spPr>
      </p:pic>
      <p:sp>
        <p:nvSpPr>
          <p:cNvPr id="9" name="Заголовок 1">
            <a:extLst>
              <a:ext uri="{FF2B5EF4-FFF2-40B4-BE49-F238E27FC236}">
                <a16:creationId xmlns:a16="http://schemas.microsoft.com/office/drawing/2014/main" id="{AE6F9294-8A58-4627-BB09-486A7A08B47F}"/>
              </a:ext>
            </a:extLst>
          </p:cNvPr>
          <p:cNvSpPr>
            <a:spLocks noGrp="1"/>
          </p:cNvSpPr>
          <p:nvPr>
            <p:ph type="title"/>
          </p:nvPr>
        </p:nvSpPr>
        <p:spPr>
          <a:xfrm>
            <a:off x="2495600" y="18488"/>
            <a:ext cx="7859216" cy="1143000"/>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Категории информации с ограниченным доступом</a:t>
            </a:r>
          </a:p>
        </p:txBody>
      </p:sp>
      <p:graphicFrame>
        <p:nvGraphicFramePr>
          <p:cNvPr id="8" name="Diagram 2">
            <a:extLst>
              <a:ext uri="{FF2B5EF4-FFF2-40B4-BE49-F238E27FC236}">
                <a16:creationId xmlns:a16="http://schemas.microsoft.com/office/drawing/2014/main" id="{BE690292-9CC1-4265-A1BA-965B86FDDFD2}"/>
              </a:ext>
            </a:extLst>
          </p:cNvPr>
          <p:cNvGraphicFramePr/>
          <p:nvPr>
            <p:extLst>
              <p:ext uri="{D42A27DB-BD31-4B8C-83A1-F6EECF244321}">
                <p14:modId xmlns:p14="http://schemas.microsoft.com/office/powerpoint/2010/main" val="789282975"/>
              </p:ext>
            </p:extLst>
          </p:nvPr>
        </p:nvGraphicFramePr>
        <p:xfrm>
          <a:off x="1271464" y="1385159"/>
          <a:ext cx="11377264" cy="44920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35926654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graphicEl>
                                              <a:dgm id="{70B0622B-8E43-4349-83FA-81826609FB7F}"/>
                                            </p:graphicEl>
                                          </p:spTgt>
                                        </p:tgtEl>
                                        <p:attrNameLst>
                                          <p:attrName>style.visibility</p:attrName>
                                        </p:attrNameLst>
                                      </p:cBhvr>
                                      <p:to>
                                        <p:strVal val="visible"/>
                                      </p:to>
                                    </p:set>
                                    <p:animEffect transition="in" filter="wipe(left)">
                                      <p:cBhvr>
                                        <p:cTn id="7" dur="500"/>
                                        <p:tgtEl>
                                          <p:spTgt spid="8">
                                            <p:graphicEl>
                                              <a:dgm id="{70B0622B-8E43-4349-83FA-81826609FB7F}"/>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graphicEl>
                                              <a:dgm id="{9EC6E6EE-EA2D-429D-A7C4-E2EAAB627C7E}"/>
                                            </p:graphicEl>
                                          </p:spTgt>
                                        </p:tgtEl>
                                        <p:attrNameLst>
                                          <p:attrName>style.visibility</p:attrName>
                                        </p:attrNameLst>
                                      </p:cBhvr>
                                      <p:to>
                                        <p:strVal val="visible"/>
                                      </p:to>
                                    </p:set>
                                    <p:animEffect transition="in" filter="wipe(left)">
                                      <p:cBhvr>
                                        <p:cTn id="11" dur="500"/>
                                        <p:tgtEl>
                                          <p:spTgt spid="8">
                                            <p:graphicEl>
                                              <a:dgm id="{9EC6E6EE-EA2D-429D-A7C4-E2EAAB627C7E}"/>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graphicEl>
                                              <a:dgm id="{3192A382-9222-4319-A3B7-7102BB40078D}"/>
                                            </p:graphicEl>
                                          </p:spTgt>
                                        </p:tgtEl>
                                        <p:attrNameLst>
                                          <p:attrName>style.visibility</p:attrName>
                                        </p:attrNameLst>
                                      </p:cBhvr>
                                      <p:to>
                                        <p:strVal val="visible"/>
                                      </p:to>
                                    </p:set>
                                    <p:animEffect transition="in" filter="wipe(left)">
                                      <p:cBhvr>
                                        <p:cTn id="15" dur="500"/>
                                        <p:tgtEl>
                                          <p:spTgt spid="8">
                                            <p:graphicEl>
                                              <a:dgm id="{3192A382-9222-4319-A3B7-7102BB40078D}"/>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
                                            <p:graphicEl>
                                              <a:dgm id="{1AC02C70-0259-4E58-87D5-DCAC5EAE3390}"/>
                                            </p:graphicEl>
                                          </p:spTgt>
                                        </p:tgtEl>
                                        <p:attrNameLst>
                                          <p:attrName>style.visibility</p:attrName>
                                        </p:attrNameLst>
                                      </p:cBhvr>
                                      <p:to>
                                        <p:strVal val="visible"/>
                                      </p:to>
                                    </p:set>
                                    <p:animEffect transition="in" filter="wipe(left)">
                                      <p:cBhvr>
                                        <p:cTn id="19" dur="500"/>
                                        <p:tgtEl>
                                          <p:spTgt spid="8">
                                            <p:graphicEl>
                                              <a:dgm id="{1AC02C70-0259-4E58-87D5-DCAC5EAE3390}"/>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
                                            <p:graphicEl>
                                              <a:dgm id="{8A674B5A-2138-4473-8961-DC294BDC1A1A}"/>
                                            </p:graphicEl>
                                          </p:spTgt>
                                        </p:tgtEl>
                                        <p:attrNameLst>
                                          <p:attrName>style.visibility</p:attrName>
                                        </p:attrNameLst>
                                      </p:cBhvr>
                                      <p:to>
                                        <p:strVal val="visible"/>
                                      </p:to>
                                    </p:set>
                                    <p:animEffect transition="in" filter="wipe(left)">
                                      <p:cBhvr>
                                        <p:cTn id="23" dur="500"/>
                                        <p:tgtEl>
                                          <p:spTgt spid="8">
                                            <p:graphicEl>
                                              <a:dgm id="{8A674B5A-2138-4473-8961-DC294BDC1A1A}"/>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8">
                                            <p:graphicEl>
                                              <a:dgm id="{9A932145-889C-4A67-9E67-3DF43C83D594}"/>
                                            </p:graphicEl>
                                          </p:spTgt>
                                        </p:tgtEl>
                                        <p:attrNameLst>
                                          <p:attrName>style.visibility</p:attrName>
                                        </p:attrNameLst>
                                      </p:cBhvr>
                                      <p:to>
                                        <p:strVal val="visible"/>
                                      </p:to>
                                    </p:set>
                                    <p:animEffect transition="in" filter="wipe(left)">
                                      <p:cBhvr>
                                        <p:cTn id="27" dur="500"/>
                                        <p:tgtEl>
                                          <p:spTgt spid="8">
                                            <p:graphicEl>
                                              <a:dgm id="{9A932145-889C-4A67-9E67-3DF43C83D59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89CB16A8-B6A3-4BFC-92C9-D46E0BEAAD03}"/>
              </a:ext>
            </a:extLst>
          </p:cNvPr>
          <p:cNvPicPr>
            <a:picLocks noChangeAspect="1"/>
          </p:cNvPicPr>
          <p:nvPr/>
        </p:nvPicPr>
        <p:blipFill>
          <a:blip r:embed="rId5"/>
          <a:stretch>
            <a:fillRect/>
          </a:stretch>
        </p:blipFill>
        <p:spPr>
          <a:xfrm>
            <a:off x="3184432" y="3672950"/>
            <a:ext cx="7092280" cy="2636752"/>
          </a:xfrm>
          <a:prstGeom prst="rect">
            <a:avLst/>
          </a:prstGeom>
          <a:effectLst>
            <a:softEdge rad="317500"/>
          </a:effectLst>
        </p:spPr>
      </p:pic>
      <p:sp>
        <p:nvSpPr>
          <p:cNvPr id="5" name="Овал 4"/>
          <p:cNvSpPr/>
          <p:nvPr/>
        </p:nvSpPr>
        <p:spPr>
          <a:xfrm>
            <a:off x="9418042" y="392222"/>
            <a:ext cx="2510605"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38330"/>
            <a:ext cx="11593288"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6"/>
          <a:stretch>
            <a:fillRect/>
          </a:stretch>
        </p:blipFill>
        <p:spPr>
          <a:xfrm>
            <a:off x="335360" y="6488402"/>
            <a:ext cx="1390008" cy="268247"/>
          </a:xfrm>
          <a:prstGeom prst="rect">
            <a:avLst/>
          </a:prstGeom>
        </p:spPr>
      </p:pic>
      <p:sp>
        <p:nvSpPr>
          <p:cNvPr id="9" name="Заголовок 1">
            <a:extLst>
              <a:ext uri="{FF2B5EF4-FFF2-40B4-BE49-F238E27FC236}">
                <a16:creationId xmlns:a16="http://schemas.microsoft.com/office/drawing/2014/main" id="{AE6F9294-8A58-4627-BB09-486A7A08B47F}"/>
              </a:ext>
            </a:extLst>
          </p:cNvPr>
          <p:cNvSpPr>
            <a:spLocks noGrp="1"/>
          </p:cNvSpPr>
          <p:nvPr>
            <p:ph type="title"/>
          </p:nvPr>
        </p:nvSpPr>
        <p:spPr>
          <a:xfrm>
            <a:off x="3647728" y="272132"/>
            <a:ext cx="5400599" cy="583323"/>
          </a:xfrm>
        </p:spPr>
        <p:txBody>
          <a:bodyPr>
            <a:noAutofit/>
          </a:bodyPr>
          <a:lstStyle/>
          <a:p>
            <a:r>
              <a:rPr lang="ru-RU" sz="2600" b="1" dirty="0">
                <a:solidFill>
                  <a:schemeClr val="tx2"/>
                </a:solidFill>
                <a:latin typeface="Times New Roman" panose="02020603050405020304" pitchFamily="18" charset="0"/>
                <a:cs typeface="Times New Roman" panose="02020603050405020304" pitchFamily="18" charset="0"/>
              </a:rPr>
              <a:t>Конфиденциальная информация</a:t>
            </a:r>
          </a:p>
        </p:txBody>
      </p:sp>
      <p:sp>
        <p:nvSpPr>
          <p:cNvPr id="7" name="Текст  1">
            <a:extLst>
              <a:ext uri="{FF2B5EF4-FFF2-40B4-BE49-F238E27FC236}">
                <a16:creationId xmlns:a16="http://schemas.microsoft.com/office/drawing/2014/main" id="{18335904-60E7-4515-9D60-B3C46D800D4D}"/>
              </a:ext>
            </a:extLst>
          </p:cNvPr>
          <p:cNvSpPr txBox="1">
            <a:spLocks/>
          </p:cNvSpPr>
          <p:nvPr/>
        </p:nvSpPr>
        <p:spPr>
          <a:xfrm>
            <a:off x="1127448" y="1005526"/>
            <a:ext cx="10729191" cy="3503587"/>
          </a:xfrm>
          <a:prstGeom prst="rect">
            <a:avLst/>
          </a:prstGeom>
        </p:spPr>
        <p:txBody>
          <a:bodyPr vert="horz" wrap="square" lIns="91440" tIns="45720" rIns="91440" bIns="45720" rtlCol="0">
            <a:noAutofit/>
          </a:bodyPr>
          <a:lstStyle>
            <a:lvl1pPr marL="0" indent="0" algn="l" defTabSz="914400" rtl="0" eaLnBrk="1" latinLnBrk="0" hangingPunct="1">
              <a:lnSpc>
                <a:spcPct val="114000"/>
              </a:lnSpc>
              <a:spcBef>
                <a:spcPts val="600"/>
              </a:spcBef>
              <a:buFont typeface="Arial" panose="020B0604020202020204" pitchFamily="34" charset="0"/>
              <a:buNone/>
              <a:defRPr lang="en-US" sz="1200" kern="1200" baseline="0" dirty="0" smtClean="0">
                <a:solidFill>
                  <a:schemeClr val="tx2">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ru-RU" sz="18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a:lnSpc>
                <a:spcPct val="100000"/>
              </a:lnSpc>
              <a:buFontTx/>
              <a:buChar char="-"/>
              <a:defRPr/>
            </a:pPr>
            <a:r>
              <a:rPr lang="ru-RU" sz="2000" dirty="0">
                <a:solidFill>
                  <a:schemeClr val="tx1"/>
                </a:solidFill>
                <a:latin typeface="Times New Roman" panose="02020603050405020304" pitchFamily="18" charset="0"/>
                <a:cs typeface="Times New Roman" panose="02020603050405020304" pitchFamily="18" charset="0"/>
              </a:rPr>
              <a:t>сведения об экономической, финансовой и бухгалтерской деятельности Общества на внутреннем рынке;</a:t>
            </a:r>
          </a:p>
          <a:p>
            <a:pPr marL="171450" indent="-171450" algn="just">
              <a:lnSpc>
                <a:spcPct val="100000"/>
              </a:lnSpc>
              <a:buFontTx/>
              <a:buChar char="-"/>
              <a:defRPr/>
            </a:pPr>
            <a:r>
              <a:rPr lang="ru-RU" sz="2000" dirty="0">
                <a:solidFill>
                  <a:schemeClr val="tx1"/>
                </a:solidFill>
                <a:latin typeface="Times New Roman" panose="02020603050405020304" pitchFamily="18" charset="0"/>
                <a:cs typeface="Times New Roman" panose="02020603050405020304" pitchFamily="18" charset="0"/>
              </a:rPr>
              <a:t>сведения по вопросам внешнеэкономической деятельности Общества;</a:t>
            </a:r>
          </a:p>
          <a:p>
            <a:pPr marL="171450" indent="-171450" algn="just">
              <a:lnSpc>
                <a:spcPct val="100000"/>
              </a:lnSpc>
              <a:buFontTx/>
              <a:buChar char="-"/>
              <a:defRPr/>
            </a:pPr>
            <a:r>
              <a:rPr lang="ru-RU" sz="2000" dirty="0">
                <a:solidFill>
                  <a:schemeClr val="tx1"/>
                </a:solidFill>
                <a:latin typeface="Times New Roman" panose="02020603050405020304" pitchFamily="18" charset="0"/>
                <a:cs typeface="Times New Roman" panose="02020603050405020304" pitchFamily="18" charset="0"/>
              </a:rPr>
              <a:t>результаты обработки КИ (выписки, обобщения, аналитические выписки из нее, результаты исследований, схемы, графики, спецификации, статистические данные, изделия, компоненты, созданные, полученные, спроектированные, произведенные на основе или с использованием КИ) и т.п.</a:t>
            </a:r>
          </a:p>
          <a:p>
            <a:pPr lvl="0" algn="ctr">
              <a:lnSpc>
                <a:spcPct val="100000"/>
              </a:lnSpc>
              <a:defRPr/>
            </a:pPr>
            <a:r>
              <a:rPr lang="ru-RU" sz="1600" i="1" dirty="0">
                <a:solidFill>
                  <a:schemeClr val="tx1"/>
                </a:solidFill>
                <a:latin typeface="Times New Roman" panose="02020603050405020304" pitchFamily="18" charset="0"/>
                <a:cs typeface="Times New Roman" panose="02020603050405020304" pitchFamily="18" charset="0"/>
              </a:rPr>
              <a:t>С полным Перечнем информации, составляющим КИ, Вы можете ознакомиться в Положении о коммерческой тайне и конфиденциальной информации (Приложение №1)</a:t>
            </a:r>
          </a:p>
          <a:p>
            <a:pPr algn="just">
              <a:defRPr/>
            </a:pPr>
            <a:endParaRPr lang="ru-RU" sz="2000" dirty="0">
              <a:solidFill>
                <a:srgbClr val="323232">
                  <a:lumMod val="75000"/>
                  <a:lumOff val="25000"/>
                </a:srgbClr>
              </a:solidFill>
              <a:latin typeface="Times New Roman" panose="02020603050405020304" pitchFamily="18" charset="0"/>
              <a:cs typeface="Times New Roman" panose="02020603050405020304" pitchFamily="18" charset="0"/>
            </a:endParaRPr>
          </a:p>
        </p:txBody>
      </p:sp>
      <p:sp>
        <p:nvSpPr>
          <p:cNvPr id="10" name="Иконка  3">
            <a:extLst>
              <a:ext uri="{FF2B5EF4-FFF2-40B4-BE49-F238E27FC236}">
                <a16:creationId xmlns:a16="http://schemas.microsoft.com/office/drawing/2014/main" id="{532A1D41-5A1A-401D-AD32-CDA46576E8E7}"/>
              </a:ext>
            </a:extLst>
          </p:cNvPr>
          <p:cNvSpPr>
            <a:spLocks noChangeAspect="1" noEditPoints="1"/>
          </p:cNvSpPr>
          <p:nvPr>
            <p:custDataLst>
              <p:tags r:id="rId2"/>
            </p:custDataLst>
          </p:nvPr>
        </p:nvSpPr>
        <p:spPr bwMode="auto">
          <a:xfrm>
            <a:off x="6730572" y="6395588"/>
            <a:ext cx="301532" cy="337897"/>
          </a:xfrm>
          <a:custGeom>
            <a:avLst/>
            <a:gdLst>
              <a:gd name="T0" fmla="*/ 168 w 168"/>
              <a:gd name="T1" fmla="*/ 30 h 188"/>
              <a:gd name="T2" fmla="*/ 160 w 168"/>
              <a:gd name="T3" fmla="*/ 30 h 188"/>
              <a:gd name="T4" fmla="*/ 160 w 168"/>
              <a:gd name="T5" fmla="*/ 30 h 188"/>
              <a:gd name="T6" fmla="*/ 160 w 168"/>
              <a:gd name="T7" fmla="*/ 30 h 188"/>
              <a:gd name="T8" fmla="*/ 135 w 168"/>
              <a:gd name="T9" fmla="*/ 33 h 188"/>
              <a:gd name="T10" fmla="*/ 78 w 168"/>
              <a:gd name="T11" fmla="*/ 16 h 188"/>
              <a:gd name="T12" fmla="*/ 59 w 168"/>
              <a:gd name="T13" fmla="*/ 12 h 188"/>
              <a:gd name="T14" fmla="*/ 25 w 168"/>
              <a:gd name="T15" fmla="*/ 24 h 188"/>
              <a:gd name="T16" fmla="*/ 24 w 168"/>
              <a:gd name="T17" fmla="*/ 26 h 188"/>
              <a:gd name="T18" fmla="*/ 24 w 168"/>
              <a:gd name="T19" fmla="*/ 110 h 188"/>
              <a:gd name="T20" fmla="*/ 27 w 168"/>
              <a:gd name="T21" fmla="*/ 112 h 188"/>
              <a:gd name="T22" fmla="*/ 28 w 168"/>
              <a:gd name="T23" fmla="*/ 112 h 188"/>
              <a:gd name="T24" fmla="*/ 38 w 168"/>
              <a:gd name="T25" fmla="*/ 108 h 188"/>
              <a:gd name="T26" fmla="*/ 64 w 168"/>
              <a:gd name="T27" fmla="*/ 102 h 188"/>
              <a:gd name="T28" fmla="*/ 112 w 168"/>
              <a:gd name="T29" fmla="*/ 117 h 188"/>
              <a:gd name="T30" fmla="*/ 133 w 168"/>
              <a:gd name="T31" fmla="*/ 121 h 188"/>
              <a:gd name="T32" fmla="*/ 163 w 168"/>
              <a:gd name="T33" fmla="*/ 117 h 188"/>
              <a:gd name="T34" fmla="*/ 164 w 168"/>
              <a:gd name="T35" fmla="*/ 117 h 188"/>
              <a:gd name="T36" fmla="*/ 168 w 168"/>
              <a:gd name="T37" fmla="*/ 30 h 188"/>
              <a:gd name="T38" fmla="*/ 152 w 168"/>
              <a:gd name="T39" fmla="*/ 107 h 188"/>
              <a:gd name="T40" fmla="*/ 133 w 168"/>
              <a:gd name="T41" fmla="*/ 109 h 188"/>
              <a:gd name="T42" fmla="*/ 118 w 168"/>
              <a:gd name="T43" fmla="*/ 106 h 188"/>
              <a:gd name="T44" fmla="*/ 64 w 168"/>
              <a:gd name="T45" fmla="*/ 90 h 188"/>
              <a:gd name="T46" fmla="*/ 36 w 168"/>
              <a:gd name="T47" fmla="*/ 96 h 188"/>
              <a:gd name="T48" fmla="*/ 36 w 168"/>
              <a:gd name="T49" fmla="*/ 31 h 188"/>
              <a:gd name="T50" fmla="*/ 59 w 168"/>
              <a:gd name="T51" fmla="*/ 24 h 188"/>
              <a:gd name="T52" fmla="*/ 74 w 168"/>
              <a:gd name="T53" fmla="*/ 27 h 188"/>
              <a:gd name="T54" fmla="*/ 135 w 168"/>
              <a:gd name="T55" fmla="*/ 45 h 188"/>
              <a:gd name="T56" fmla="*/ 155 w 168"/>
              <a:gd name="T57" fmla="*/ 43 h 188"/>
              <a:gd name="T58" fmla="*/ 152 w 168"/>
              <a:gd name="T59" fmla="*/ 107 h 188"/>
              <a:gd name="T60" fmla="*/ 10 w 168"/>
              <a:gd name="T61" fmla="*/ 0 h 188"/>
              <a:gd name="T62" fmla="*/ 0 w 168"/>
              <a:gd name="T63" fmla="*/ 11 h 188"/>
              <a:gd name="T64" fmla="*/ 3 w 168"/>
              <a:gd name="T65" fmla="*/ 19 h 188"/>
              <a:gd name="T66" fmla="*/ 4 w 168"/>
              <a:gd name="T67" fmla="*/ 21 h 188"/>
              <a:gd name="T68" fmla="*/ 4 w 168"/>
              <a:gd name="T69" fmla="*/ 182 h 188"/>
              <a:gd name="T70" fmla="*/ 10 w 168"/>
              <a:gd name="T71" fmla="*/ 188 h 188"/>
              <a:gd name="T72" fmla="*/ 16 w 168"/>
              <a:gd name="T73" fmla="*/ 182 h 188"/>
              <a:gd name="T74" fmla="*/ 16 w 168"/>
              <a:gd name="T75" fmla="*/ 22 h 188"/>
              <a:gd name="T76" fmla="*/ 17 w 168"/>
              <a:gd name="T77" fmla="*/ 20 h 188"/>
              <a:gd name="T78" fmla="*/ 20 w 168"/>
              <a:gd name="T79" fmla="*/ 11 h 188"/>
              <a:gd name="T80" fmla="*/ 10 w 168"/>
              <a:gd name="T81"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8">
                <a:moveTo>
                  <a:pt x="168" y="30"/>
                </a:moveTo>
                <a:cubicBezTo>
                  <a:pt x="165" y="30"/>
                  <a:pt x="161" y="30"/>
                  <a:pt x="160" y="30"/>
                </a:cubicBezTo>
                <a:cubicBezTo>
                  <a:pt x="160" y="30"/>
                  <a:pt x="160" y="30"/>
                  <a:pt x="160" y="30"/>
                </a:cubicBezTo>
                <a:cubicBezTo>
                  <a:pt x="160" y="30"/>
                  <a:pt x="160" y="30"/>
                  <a:pt x="160" y="30"/>
                </a:cubicBezTo>
                <a:cubicBezTo>
                  <a:pt x="151" y="32"/>
                  <a:pt x="143" y="33"/>
                  <a:pt x="135" y="33"/>
                </a:cubicBezTo>
                <a:cubicBezTo>
                  <a:pt x="116" y="33"/>
                  <a:pt x="100" y="25"/>
                  <a:pt x="78" y="16"/>
                </a:cubicBezTo>
                <a:cubicBezTo>
                  <a:pt x="71" y="13"/>
                  <a:pt x="65" y="12"/>
                  <a:pt x="59" y="12"/>
                </a:cubicBezTo>
                <a:cubicBezTo>
                  <a:pt x="42" y="12"/>
                  <a:pt x="29" y="21"/>
                  <a:pt x="25" y="24"/>
                </a:cubicBezTo>
                <a:cubicBezTo>
                  <a:pt x="24" y="25"/>
                  <a:pt x="24" y="25"/>
                  <a:pt x="24" y="26"/>
                </a:cubicBezTo>
                <a:cubicBezTo>
                  <a:pt x="24" y="110"/>
                  <a:pt x="24" y="110"/>
                  <a:pt x="24" y="110"/>
                </a:cubicBezTo>
                <a:cubicBezTo>
                  <a:pt x="24" y="111"/>
                  <a:pt x="25" y="112"/>
                  <a:pt x="27" y="112"/>
                </a:cubicBezTo>
                <a:cubicBezTo>
                  <a:pt x="27" y="112"/>
                  <a:pt x="28" y="112"/>
                  <a:pt x="28" y="112"/>
                </a:cubicBezTo>
                <a:cubicBezTo>
                  <a:pt x="32" y="110"/>
                  <a:pt x="38" y="108"/>
                  <a:pt x="38" y="108"/>
                </a:cubicBezTo>
                <a:cubicBezTo>
                  <a:pt x="47" y="104"/>
                  <a:pt x="56" y="102"/>
                  <a:pt x="64" y="102"/>
                </a:cubicBezTo>
                <a:cubicBezTo>
                  <a:pt x="84" y="102"/>
                  <a:pt x="101" y="110"/>
                  <a:pt x="112" y="117"/>
                </a:cubicBezTo>
                <a:cubicBezTo>
                  <a:pt x="118" y="120"/>
                  <a:pt x="126" y="121"/>
                  <a:pt x="133" y="121"/>
                </a:cubicBezTo>
                <a:cubicBezTo>
                  <a:pt x="146" y="121"/>
                  <a:pt x="159" y="118"/>
                  <a:pt x="163" y="117"/>
                </a:cubicBezTo>
                <a:cubicBezTo>
                  <a:pt x="164" y="117"/>
                  <a:pt x="164" y="117"/>
                  <a:pt x="164" y="117"/>
                </a:cubicBezTo>
                <a:cubicBezTo>
                  <a:pt x="168" y="30"/>
                  <a:pt x="168" y="30"/>
                  <a:pt x="168" y="30"/>
                </a:cubicBezTo>
                <a:close/>
                <a:moveTo>
                  <a:pt x="152" y="107"/>
                </a:moveTo>
                <a:cubicBezTo>
                  <a:pt x="147" y="108"/>
                  <a:pt x="140" y="109"/>
                  <a:pt x="133" y="109"/>
                </a:cubicBezTo>
                <a:cubicBezTo>
                  <a:pt x="127" y="109"/>
                  <a:pt x="122" y="108"/>
                  <a:pt x="118" y="106"/>
                </a:cubicBezTo>
                <a:cubicBezTo>
                  <a:pt x="99" y="95"/>
                  <a:pt x="81" y="90"/>
                  <a:pt x="64" y="90"/>
                </a:cubicBezTo>
                <a:cubicBezTo>
                  <a:pt x="54" y="90"/>
                  <a:pt x="45" y="92"/>
                  <a:pt x="36" y="96"/>
                </a:cubicBezTo>
                <a:cubicBezTo>
                  <a:pt x="36" y="31"/>
                  <a:pt x="36" y="31"/>
                  <a:pt x="36" y="31"/>
                </a:cubicBezTo>
                <a:cubicBezTo>
                  <a:pt x="41" y="28"/>
                  <a:pt x="49" y="24"/>
                  <a:pt x="59" y="24"/>
                </a:cubicBezTo>
                <a:cubicBezTo>
                  <a:pt x="64" y="24"/>
                  <a:pt x="69" y="25"/>
                  <a:pt x="74" y="27"/>
                </a:cubicBezTo>
                <a:cubicBezTo>
                  <a:pt x="95" y="36"/>
                  <a:pt x="114" y="45"/>
                  <a:pt x="135" y="45"/>
                </a:cubicBezTo>
                <a:cubicBezTo>
                  <a:pt x="142" y="45"/>
                  <a:pt x="148" y="44"/>
                  <a:pt x="155" y="43"/>
                </a:cubicBezTo>
                <a:lnTo>
                  <a:pt x="152" y="107"/>
                </a:lnTo>
                <a:close/>
                <a:moveTo>
                  <a:pt x="10" y="0"/>
                </a:moveTo>
                <a:cubicBezTo>
                  <a:pt x="4" y="0"/>
                  <a:pt x="0" y="5"/>
                  <a:pt x="0" y="11"/>
                </a:cubicBezTo>
                <a:cubicBezTo>
                  <a:pt x="0" y="15"/>
                  <a:pt x="1" y="17"/>
                  <a:pt x="3" y="19"/>
                </a:cubicBezTo>
                <a:cubicBezTo>
                  <a:pt x="4" y="20"/>
                  <a:pt x="4" y="21"/>
                  <a:pt x="4" y="21"/>
                </a:cubicBezTo>
                <a:cubicBezTo>
                  <a:pt x="4" y="182"/>
                  <a:pt x="4" y="182"/>
                  <a:pt x="4" y="182"/>
                </a:cubicBezTo>
                <a:cubicBezTo>
                  <a:pt x="4" y="185"/>
                  <a:pt x="7" y="188"/>
                  <a:pt x="10" y="188"/>
                </a:cubicBezTo>
                <a:cubicBezTo>
                  <a:pt x="13" y="188"/>
                  <a:pt x="16" y="185"/>
                  <a:pt x="16" y="182"/>
                </a:cubicBezTo>
                <a:cubicBezTo>
                  <a:pt x="16" y="22"/>
                  <a:pt x="16" y="22"/>
                  <a:pt x="16" y="22"/>
                </a:cubicBezTo>
                <a:cubicBezTo>
                  <a:pt x="16" y="21"/>
                  <a:pt x="16" y="20"/>
                  <a:pt x="17" y="20"/>
                </a:cubicBezTo>
                <a:cubicBezTo>
                  <a:pt x="19" y="18"/>
                  <a:pt x="20" y="15"/>
                  <a:pt x="20" y="11"/>
                </a:cubicBezTo>
                <a:cubicBezTo>
                  <a:pt x="20" y="4"/>
                  <a:pt x="16" y="0"/>
                  <a:pt x="10"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ru-RU" sz="1350" dirty="0"/>
          </a:p>
        </p:txBody>
      </p:sp>
      <p:sp>
        <p:nvSpPr>
          <p:cNvPr id="4" name="Прямоугольник 3">
            <a:extLst>
              <a:ext uri="{FF2B5EF4-FFF2-40B4-BE49-F238E27FC236}">
                <a16:creationId xmlns:a16="http://schemas.microsoft.com/office/drawing/2014/main" id="{F68AEE5D-F293-4DF1-B27C-DC73C6D5CEAC}"/>
              </a:ext>
            </a:extLst>
          </p:cNvPr>
          <p:cNvSpPr/>
          <p:nvPr/>
        </p:nvSpPr>
        <p:spPr>
          <a:xfrm>
            <a:off x="7032105" y="6444347"/>
            <a:ext cx="3565913" cy="286232"/>
          </a:xfrm>
          <a:prstGeom prst="rect">
            <a:avLst/>
          </a:prstGeom>
        </p:spPr>
        <p:txBody>
          <a:bodyPr wrap="none">
            <a:spAutoFit/>
          </a:bodyPr>
          <a:lstStyle/>
          <a:p>
            <a:pPr lvl="0">
              <a:lnSpc>
                <a:spcPct val="90000"/>
              </a:lnSpc>
              <a:spcBef>
                <a:spcPct val="0"/>
              </a:spcBef>
              <a:defRPr/>
            </a:pPr>
            <a:r>
              <a:rPr lang="ru-RU" sz="1400" dirty="0">
                <a:latin typeface="Times New Roman" panose="02020603050405020304" pitchFamily="18" charset="0"/>
                <a:cs typeface="Times New Roman" panose="02020603050405020304" pitchFamily="18" charset="0"/>
              </a:rPr>
              <a:t>Конфиденциальная информация – далее КИ</a:t>
            </a:r>
          </a:p>
        </p:txBody>
      </p:sp>
      <p:pic>
        <p:nvPicPr>
          <p:cNvPr id="3" name="Рисунок 2">
            <a:extLst>
              <a:ext uri="{FF2B5EF4-FFF2-40B4-BE49-F238E27FC236}">
                <a16:creationId xmlns:a16="http://schemas.microsoft.com/office/drawing/2014/main" id="{55497A4F-3382-4475-9C9C-C75732B9DECC}"/>
              </a:ext>
            </a:extLst>
          </p:cNvPr>
          <p:cNvPicPr>
            <a:picLocks noChangeAspect="1"/>
          </p:cNvPicPr>
          <p:nvPr/>
        </p:nvPicPr>
        <p:blipFill>
          <a:blip r:embed="rId7"/>
          <a:stretch>
            <a:fillRect/>
          </a:stretch>
        </p:blipFill>
        <p:spPr>
          <a:xfrm>
            <a:off x="8858418" y="250840"/>
            <a:ext cx="212628" cy="236699"/>
          </a:xfrm>
          <a:prstGeom prst="rect">
            <a:avLst/>
          </a:prstGeom>
        </p:spPr>
      </p:pic>
    </p:spTree>
    <p:custDataLst>
      <p:tags r:id="rId1"/>
    </p:custDataLst>
    <p:extLst>
      <p:ext uri="{BB962C8B-B14F-4D97-AF65-F5344CB8AC3E}">
        <p14:creationId xmlns:p14="http://schemas.microsoft.com/office/powerpoint/2010/main" val="3052622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1250"/>
                                        <p:tgtEl>
                                          <p:spTgt spid="7">
                                            <p:txEl>
                                              <p:pRg st="0" end="0"/>
                                            </p:txEl>
                                          </p:spTgt>
                                        </p:tgtEl>
                                      </p:cBhvr>
                                    </p:animEffect>
                                  </p:childTnLst>
                                </p:cTn>
                              </p:par>
                            </p:childTnLst>
                          </p:cTn>
                        </p:par>
                        <p:par>
                          <p:cTn id="8" fill="hold">
                            <p:stCondLst>
                              <p:cond delay="1250"/>
                            </p:stCondLst>
                            <p:childTnLst>
                              <p:par>
                                <p:cTn id="9" presetID="22" presetClass="entr" presetSubtype="8" fill="hold"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wipe(left)">
                                      <p:cBhvr>
                                        <p:cTn id="11" dur="1250"/>
                                        <p:tgtEl>
                                          <p:spTgt spid="7">
                                            <p:txEl>
                                              <p:pRg st="1" end="1"/>
                                            </p:txEl>
                                          </p:spTgt>
                                        </p:tgtEl>
                                      </p:cBhvr>
                                    </p:animEffect>
                                  </p:childTnLst>
                                </p:cTn>
                              </p:par>
                            </p:childTnLst>
                          </p:cTn>
                        </p:par>
                        <p:par>
                          <p:cTn id="12" fill="hold">
                            <p:stCondLst>
                              <p:cond delay="2500"/>
                            </p:stCondLst>
                            <p:childTnLst>
                              <p:par>
                                <p:cTn id="13" presetID="22" presetClass="entr" presetSubtype="8" fill="hold" nodeType="after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left)">
                                      <p:cBhvr>
                                        <p:cTn id="15" dur="1250"/>
                                        <p:tgtEl>
                                          <p:spTgt spid="7">
                                            <p:txEl>
                                              <p:pRg st="2" end="2"/>
                                            </p:txEl>
                                          </p:spTgt>
                                        </p:tgtEl>
                                      </p:cBhvr>
                                    </p:animEffect>
                                  </p:childTnLst>
                                </p:cTn>
                              </p:par>
                            </p:childTnLst>
                          </p:cTn>
                        </p:par>
                        <p:par>
                          <p:cTn id="16" fill="hold">
                            <p:stCondLst>
                              <p:cond delay="3750"/>
                            </p:stCondLst>
                            <p:childTnLst>
                              <p:par>
                                <p:cTn id="17" presetID="10" presetClass="entr" presetSubtype="0" fill="hold" nodeType="after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1250"/>
                                        <p:tgtEl>
                                          <p:spTgt spid="7">
                                            <p:txEl>
                                              <p:pRg st="3" end="3"/>
                                            </p:txEl>
                                          </p:spTgt>
                                        </p:tgtEl>
                                      </p:cBhvr>
                                    </p:animEffect>
                                  </p:childTnLst>
                                </p:cTn>
                              </p:par>
                            </p:childTnLst>
                          </p:cTn>
                        </p:par>
                        <p:par>
                          <p:cTn id="20" fill="hold">
                            <p:stCondLst>
                              <p:cond delay="5000"/>
                            </p:stCondLst>
                            <p:childTnLst>
                              <p:par>
                                <p:cTn id="21" presetID="22" presetClass="entr" presetSubtype="1"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up)">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08368" y="332662"/>
            <a:ext cx="2736304" cy="12825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93288"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6"/>
          <a:stretch>
            <a:fillRect/>
          </a:stretch>
        </p:blipFill>
        <p:spPr>
          <a:xfrm>
            <a:off x="360436" y="6429947"/>
            <a:ext cx="1390008" cy="268247"/>
          </a:xfrm>
          <a:prstGeom prst="rect">
            <a:avLst/>
          </a:prstGeom>
        </p:spPr>
      </p:pic>
      <p:sp>
        <p:nvSpPr>
          <p:cNvPr id="7" name="Заголовок 1">
            <a:extLst>
              <a:ext uri="{FF2B5EF4-FFF2-40B4-BE49-F238E27FC236}">
                <a16:creationId xmlns:a16="http://schemas.microsoft.com/office/drawing/2014/main" id="{FCA7CE74-48EB-4E21-8137-5FF2990D4E4D}"/>
              </a:ext>
            </a:extLst>
          </p:cNvPr>
          <p:cNvSpPr>
            <a:spLocks noGrp="1"/>
          </p:cNvSpPr>
          <p:nvPr>
            <p:ph type="title"/>
          </p:nvPr>
        </p:nvSpPr>
        <p:spPr>
          <a:xfrm>
            <a:off x="2044933" y="103805"/>
            <a:ext cx="7958118" cy="720080"/>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Коммерческая тайна</a:t>
            </a:r>
          </a:p>
        </p:txBody>
      </p:sp>
      <p:sp>
        <p:nvSpPr>
          <p:cNvPr id="9" name="Текст  1">
            <a:extLst>
              <a:ext uri="{FF2B5EF4-FFF2-40B4-BE49-F238E27FC236}">
                <a16:creationId xmlns:a16="http://schemas.microsoft.com/office/drawing/2014/main" id="{9AE324E6-BC66-4AEC-A828-F7A1A5542CA4}"/>
              </a:ext>
            </a:extLst>
          </p:cNvPr>
          <p:cNvSpPr txBox="1">
            <a:spLocks/>
          </p:cNvSpPr>
          <p:nvPr/>
        </p:nvSpPr>
        <p:spPr>
          <a:xfrm>
            <a:off x="1055440" y="1988840"/>
            <a:ext cx="10801200" cy="1224135"/>
          </a:xfrm>
          <a:prstGeom prst="rect">
            <a:avLst/>
          </a:prstGeom>
        </p:spPr>
        <p:txBody>
          <a:bodyPr vert="horz" lIns="91440" tIns="45720" rIns="91440" bIns="45720" rtlCol="0" anchor="ctr"/>
          <a:lstStyle>
            <a:defPPr>
              <a:defRPr lang="ru-RU"/>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600"/>
              </a:spcBef>
            </a:pPr>
            <a:r>
              <a:rPr lang="ru-RU" sz="2000" dirty="0">
                <a:solidFill>
                  <a:schemeClr val="tx1"/>
                </a:solidFill>
                <a:latin typeface="Times New Roman" panose="02020603050405020304" pitchFamily="18" charset="0"/>
                <a:cs typeface="Times New Roman" panose="02020603050405020304" pitchFamily="18" charset="0"/>
              </a:rPr>
              <a:t>- сведения о структуре производства, производственных мощностях, типе и размещении оборудования, запасах сырья, материалов, комплектующих, готовой продукции, финансовых и людских ресурсах;</a:t>
            </a:r>
          </a:p>
          <a:p>
            <a:pPr algn="just">
              <a:spcBef>
                <a:spcPts val="600"/>
              </a:spcBef>
            </a:pPr>
            <a:r>
              <a:rPr lang="ru-RU" sz="2000" dirty="0">
                <a:solidFill>
                  <a:schemeClr val="tx1"/>
                </a:solidFill>
                <a:latin typeface="Times New Roman" panose="02020603050405020304" pitchFamily="18" charset="0"/>
                <a:cs typeface="Times New Roman" panose="02020603050405020304" pitchFamily="18" charset="0"/>
              </a:rPr>
              <a:t>- сведения о применяемых оригинальных методах управления Обществом;</a:t>
            </a:r>
          </a:p>
          <a:p>
            <a:pPr algn="just">
              <a:spcBef>
                <a:spcPts val="600"/>
              </a:spcBef>
            </a:pPr>
            <a:r>
              <a:rPr lang="ru-RU" sz="2000" dirty="0">
                <a:solidFill>
                  <a:schemeClr val="tx1"/>
                </a:solidFill>
                <a:latin typeface="Times New Roman" panose="02020603050405020304" pitchFamily="18" charset="0"/>
                <a:cs typeface="Times New Roman" panose="02020603050405020304" pitchFamily="18" charset="0"/>
              </a:rPr>
              <a:t>- сведения о подготовке, принятии и исполнении отдельных решений руководства Общества;</a:t>
            </a:r>
          </a:p>
          <a:p>
            <a:pPr algn="just">
              <a:spcBef>
                <a:spcPts val="600"/>
              </a:spcBef>
            </a:pPr>
            <a:r>
              <a:rPr lang="ru-RU" sz="2000" dirty="0">
                <a:solidFill>
                  <a:schemeClr val="tx1"/>
                </a:solidFill>
                <a:latin typeface="Times New Roman" panose="02020603050405020304" pitchFamily="18" charset="0"/>
                <a:cs typeface="Times New Roman" panose="02020603050405020304" pitchFamily="18" charset="0"/>
              </a:rPr>
              <a:t>- сведения о предполагаемом создании дочерних и зависимых организаций;</a:t>
            </a:r>
          </a:p>
          <a:p>
            <a:pPr algn="just">
              <a:spcBef>
                <a:spcPts val="600"/>
              </a:spcBef>
            </a:pPr>
            <a:r>
              <a:rPr lang="ru-RU" sz="2000" dirty="0">
                <a:solidFill>
                  <a:schemeClr val="tx1"/>
                </a:solidFill>
                <a:latin typeface="Times New Roman" panose="02020603050405020304" pitchFamily="18" charset="0"/>
                <a:cs typeface="Times New Roman" panose="02020603050405020304" pitchFamily="18" charset="0"/>
              </a:rPr>
              <a:t>- сведения о планах расширения или свертывания производства различных видов продукции и их технико-экономических обоснованиях;</a:t>
            </a:r>
          </a:p>
          <a:p>
            <a:pPr marL="171450" indent="-171450" algn="just">
              <a:spcBef>
                <a:spcPts val="600"/>
              </a:spcBef>
              <a:buFontTx/>
              <a:buChar char="-"/>
            </a:pPr>
            <a:r>
              <a:rPr lang="ru-RU" sz="2000" dirty="0">
                <a:solidFill>
                  <a:schemeClr val="tx1"/>
                </a:solidFill>
                <a:latin typeface="Times New Roman" panose="02020603050405020304" pitchFamily="18" charset="0"/>
                <a:cs typeface="Times New Roman" panose="02020603050405020304" pitchFamily="18" charset="0"/>
              </a:rPr>
              <a:t>сведения о планах инвестиций, закупок и продаж и т.п.</a:t>
            </a:r>
            <a:endParaRPr lang="ru-RU" sz="2000" strike="sngStrike" dirty="0">
              <a:solidFill>
                <a:schemeClr val="tx1"/>
              </a:solidFill>
              <a:latin typeface="Times New Roman" panose="02020603050405020304" pitchFamily="18" charset="0"/>
              <a:cs typeface="Times New Roman" panose="02020603050405020304" pitchFamily="18" charset="0"/>
            </a:endParaRPr>
          </a:p>
          <a:p>
            <a:pPr lvl="0" algn="ctr">
              <a:spcBef>
                <a:spcPts val="600"/>
              </a:spcBef>
              <a:defRPr/>
            </a:pPr>
            <a:r>
              <a:rPr lang="ru-RU" sz="1600" i="1" dirty="0">
                <a:solidFill>
                  <a:prstClr val="black"/>
                </a:solidFill>
                <a:latin typeface="Times New Roman" panose="02020603050405020304" pitchFamily="18" charset="0"/>
                <a:cs typeface="Times New Roman" panose="02020603050405020304" pitchFamily="18" charset="0"/>
              </a:rPr>
              <a:t>С полным Перечнем информации, составляющим КИ, Вы можете ознакомиться в </a:t>
            </a:r>
            <a:r>
              <a:rPr lang="ru-RU" sz="1600" i="1" dirty="0">
                <a:solidFill>
                  <a:schemeClr val="tx1"/>
                </a:solidFill>
                <a:latin typeface="Times New Roman" panose="02020603050405020304" pitchFamily="18" charset="0"/>
                <a:cs typeface="Times New Roman" panose="02020603050405020304" pitchFamily="18" charset="0"/>
              </a:rPr>
              <a:t>Положении о коммерческой тайне и конфиденциальной информации (Приложение №</a:t>
            </a:r>
            <a:r>
              <a:rPr lang="en-US" sz="1600" i="1" dirty="0">
                <a:solidFill>
                  <a:schemeClr val="tx1"/>
                </a:solidFill>
                <a:latin typeface="Times New Roman" panose="02020603050405020304" pitchFamily="18" charset="0"/>
                <a:cs typeface="Times New Roman" panose="02020603050405020304" pitchFamily="18" charset="0"/>
              </a:rPr>
              <a:t>2</a:t>
            </a:r>
            <a:r>
              <a:rPr lang="ru-RU" sz="1600" i="1" dirty="0">
                <a:solidFill>
                  <a:schemeClr val="tx1"/>
                </a:solidFill>
                <a:latin typeface="Times New Roman" panose="02020603050405020304" pitchFamily="18" charset="0"/>
                <a:cs typeface="Times New Roman" panose="02020603050405020304" pitchFamily="18" charset="0"/>
              </a:rPr>
              <a:t>)</a:t>
            </a:r>
          </a:p>
        </p:txBody>
      </p:sp>
      <p:sp>
        <p:nvSpPr>
          <p:cNvPr id="11" name="Текст  2">
            <a:extLst>
              <a:ext uri="{FF2B5EF4-FFF2-40B4-BE49-F238E27FC236}">
                <a16:creationId xmlns:a16="http://schemas.microsoft.com/office/drawing/2014/main" id="{77B8E9A6-2DFE-4B34-AC4C-E2CF1F24E7A9}"/>
              </a:ext>
            </a:extLst>
          </p:cNvPr>
          <p:cNvSpPr txBox="1">
            <a:spLocks/>
          </p:cNvSpPr>
          <p:nvPr/>
        </p:nvSpPr>
        <p:spPr>
          <a:xfrm>
            <a:off x="7824192" y="6429749"/>
            <a:ext cx="2664296" cy="268445"/>
          </a:xfrm>
          <a:prstGeom prst="rect">
            <a:avLst/>
          </a:prstGeom>
        </p:spPr>
        <p:txBody>
          <a:bodyPr vert="horz" wrap="square" lIns="91440" tIns="45720" rIns="91440" bIns="45720" rtlCol="0">
            <a:noAutofit/>
          </a:bodyPr>
          <a:lstStyle>
            <a:lvl1pPr marL="0" indent="0" algn="l" defTabSz="914400" rtl="0" eaLnBrk="1" latinLnBrk="0" hangingPunct="1">
              <a:lnSpc>
                <a:spcPct val="114000"/>
              </a:lnSpc>
              <a:spcBef>
                <a:spcPts val="1000"/>
              </a:spcBef>
              <a:buFont typeface="Arial" panose="020B0604020202020204" pitchFamily="34" charset="0"/>
              <a:buNone/>
              <a:defRPr lang="ru-RU" sz="900" kern="1200" baseline="0" dirty="0">
                <a:solidFill>
                  <a:schemeClr val="tx2">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r>
              <a:rPr lang="ru-RU" altLang="ru-RU" sz="1400" dirty="0">
                <a:solidFill>
                  <a:schemeClr val="tx1"/>
                </a:solidFill>
                <a:latin typeface="Times New Roman" panose="02020603050405020304" pitchFamily="18" charset="0"/>
                <a:cs typeface="Times New Roman" panose="02020603050405020304" pitchFamily="18" charset="0"/>
              </a:rPr>
              <a:t>Коммерческая тайна – далее КТ</a:t>
            </a:r>
            <a:endParaRPr lang="en-US" altLang="ru-RU" sz="1400" dirty="0">
              <a:solidFill>
                <a:schemeClr val="tx1"/>
              </a:solidFill>
              <a:latin typeface="Times New Roman" panose="02020603050405020304" pitchFamily="18" charset="0"/>
              <a:cs typeface="Times New Roman" panose="02020603050405020304" pitchFamily="18" charset="0"/>
            </a:endParaRPr>
          </a:p>
        </p:txBody>
      </p:sp>
      <p:sp>
        <p:nvSpPr>
          <p:cNvPr id="12" name="Иконка  3">
            <a:extLst>
              <a:ext uri="{FF2B5EF4-FFF2-40B4-BE49-F238E27FC236}">
                <a16:creationId xmlns:a16="http://schemas.microsoft.com/office/drawing/2014/main" id="{B067D12E-C8EB-435C-985D-38E508F12A12}"/>
              </a:ext>
            </a:extLst>
          </p:cNvPr>
          <p:cNvSpPr>
            <a:spLocks noChangeAspect="1" noEditPoints="1"/>
          </p:cNvSpPr>
          <p:nvPr>
            <p:custDataLst>
              <p:tags r:id="rId2"/>
            </p:custDataLst>
          </p:nvPr>
        </p:nvSpPr>
        <p:spPr bwMode="auto">
          <a:xfrm>
            <a:off x="7464152" y="6362240"/>
            <a:ext cx="360040" cy="403461"/>
          </a:xfrm>
          <a:custGeom>
            <a:avLst/>
            <a:gdLst>
              <a:gd name="T0" fmla="*/ 168 w 168"/>
              <a:gd name="T1" fmla="*/ 30 h 188"/>
              <a:gd name="T2" fmla="*/ 160 w 168"/>
              <a:gd name="T3" fmla="*/ 30 h 188"/>
              <a:gd name="T4" fmla="*/ 160 w 168"/>
              <a:gd name="T5" fmla="*/ 30 h 188"/>
              <a:gd name="T6" fmla="*/ 160 w 168"/>
              <a:gd name="T7" fmla="*/ 30 h 188"/>
              <a:gd name="T8" fmla="*/ 135 w 168"/>
              <a:gd name="T9" fmla="*/ 33 h 188"/>
              <a:gd name="T10" fmla="*/ 78 w 168"/>
              <a:gd name="T11" fmla="*/ 16 h 188"/>
              <a:gd name="T12" fmla="*/ 59 w 168"/>
              <a:gd name="T13" fmla="*/ 12 h 188"/>
              <a:gd name="T14" fmla="*/ 25 w 168"/>
              <a:gd name="T15" fmla="*/ 24 h 188"/>
              <a:gd name="T16" fmla="*/ 24 w 168"/>
              <a:gd name="T17" fmla="*/ 26 h 188"/>
              <a:gd name="T18" fmla="*/ 24 w 168"/>
              <a:gd name="T19" fmla="*/ 110 h 188"/>
              <a:gd name="T20" fmla="*/ 27 w 168"/>
              <a:gd name="T21" fmla="*/ 112 h 188"/>
              <a:gd name="T22" fmla="*/ 28 w 168"/>
              <a:gd name="T23" fmla="*/ 112 h 188"/>
              <a:gd name="T24" fmla="*/ 38 w 168"/>
              <a:gd name="T25" fmla="*/ 108 h 188"/>
              <a:gd name="T26" fmla="*/ 64 w 168"/>
              <a:gd name="T27" fmla="*/ 102 h 188"/>
              <a:gd name="T28" fmla="*/ 112 w 168"/>
              <a:gd name="T29" fmla="*/ 117 h 188"/>
              <a:gd name="T30" fmla="*/ 133 w 168"/>
              <a:gd name="T31" fmla="*/ 121 h 188"/>
              <a:gd name="T32" fmla="*/ 163 w 168"/>
              <a:gd name="T33" fmla="*/ 117 h 188"/>
              <a:gd name="T34" fmla="*/ 164 w 168"/>
              <a:gd name="T35" fmla="*/ 117 h 188"/>
              <a:gd name="T36" fmla="*/ 168 w 168"/>
              <a:gd name="T37" fmla="*/ 30 h 188"/>
              <a:gd name="T38" fmla="*/ 152 w 168"/>
              <a:gd name="T39" fmla="*/ 107 h 188"/>
              <a:gd name="T40" fmla="*/ 133 w 168"/>
              <a:gd name="T41" fmla="*/ 109 h 188"/>
              <a:gd name="T42" fmla="*/ 118 w 168"/>
              <a:gd name="T43" fmla="*/ 106 h 188"/>
              <a:gd name="T44" fmla="*/ 64 w 168"/>
              <a:gd name="T45" fmla="*/ 90 h 188"/>
              <a:gd name="T46" fmla="*/ 36 w 168"/>
              <a:gd name="T47" fmla="*/ 96 h 188"/>
              <a:gd name="T48" fmla="*/ 36 w 168"/>
              <a:gd name="T49" fmla="*/ 31 h 188"/>
              <a:gd name="T50" fmla="*/ 59 w 168"/>
              <a:gd name="T51" fmla="*/ 24 h 188"/>
              <a:gd name="T52" fmla="*/ 74 w 168"/>
              <a:gd name="T53" fmla="*/ 27 h 188"/>
              <a:gd name="T54" fmla="*/ 135 w 168"/>
              <a:gd name="T55" fmla="*/ 45 h 188"/>
              <a:gd name="T56" fmla="*/ 155 w 168"/>
              <a:gd name="T57" fmla="*/ 43 h 188"/>
              <a:gd name="T58" fmla="*/ 152 w 168"/>
              <a:gd name="T59" fmla="*/ 107 h 188"/>
              <a:gd name="T60" fmla="*/ 10 w 168"/>
              <a:gd name="T61" fmla="*/ 0 h 188"/>
              <a:gd name="T62" fmla="*/ 0 w 168"/>
              <a:gd name="T63" fmla="*/ 11 h 188"/>
              <a:gd name="T64" fmla="*/ 3 w 168"/>
              <a:gd name="T65" fmla="*/ 19 h 188"/>
              <a:gd name="T66" fmla="*/ 4 w 168"/>
              <a:gd name="T67" fmla="*/ 21 h 188"/>
              <a:gd name="T68" fmla="*/ 4 w 168"/>
              <a:gd name="T69" fmla="*/ 182 h 188"/>
              <a:gd name="T70" fmla="*/ 10 w 168"/>
              <a:gd name="T71" fmla="*/ 188 h 188"/>
              <a:gd name="T72" fmla="*/ 16 w 168"/>
              <a:gd name="T73" fmla="*/ 182 h 188"/>
              <a:gd name="T74" fmla="*/ 16 w 168"/>
              <a:gd name="T75" fmla="*/ 22 h 188"/>
              <a:gd name="T76" fmla="*/ 17 w 168"/>
              <a:gd name="T77" fmla="*/ 20 h 188"/>
              <a:gd name="T78" fmla="*/ 20 w 168"/>
              <a:gd name="T79" fmla="*/ 11 h 188"/>
              <a:gd name="T80" fmla="*/ 10 w 168"/>
              <a:gd name="T81"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8">
                <a:moveTo>
                  <a:pt x="168" y="30"/>
                </a:moveTo>
                <a:cubicBezTo>
                  <a:pt x="165" y="30"/>
                  <a:pt x="161" y="30"/>
                  <a:pt x="160" y="30"/>
                </a:cubicBezTo>
                <a:cubicBezTo>
                  <a:pt x="160" y="30"/>
                  <a:pt x="160" y="30"/>
                  <a:pt x="160" y="30"/>
                </a:cubicBezTo>
                <a:cubicBezTo>
                  <a:pt x="160" y="30"/>
                  <a:pt x="160" y="30"/>
                  <a:pt x="160" y="30"/>
                </a:cubicBezTo>
                <a:cubicBezTo>
                  <a:pt x="151" y="32"/>
                  <a:pt x="143" y="33"/>
                  <a:pt x="135" y="33"/>
                </a:cubicBezTo>
                <a:cubicBezTo>
                  <a:pt x="116" y="33"/>
                  <a:pt x="100" y="25"/>
                  <a:pt x="78" y="16"/>
                </a:cubicBezTo>
                <a:cubicBezTo>
                  <a:pt x="71" y="13"/>
                  <a:pt x="65" y="12"/>
                  <a:pt x="59" y="12"/>
                </a:cubicBezTo>
                <a:cubicBezTo>
                  <a:pt x="42" y="12"/>
                  <a:pt x="29" y="21"/>
                  <a:pt x="25" y="24"/>
                </a:cubicBezTo>
                <a:cubicBezTo>
                  <a:pt x="24" y="25"/>
                  <a:pt x="24" y="25"/>
                  <a:pt x="24" y="26"/>
                </a:cubicBezTo>
                <a:cubicBezTo>
                  <a:pt x="24" y="110"/>
                  <a:pt x="24" y="110"/>
                  <a:pt x="24" y="110"/>
                </a:cubicBezTo>
                <a:cubicBezTo>
                  <a:pt x="24" y="111"/>
                  <a:pt x="25" y="112"/>
                  <a:pt x="27" y="112"/>
                </a:cubicBezTo>
                <a:cubicBezTo>
                  <a:pt x="27" y="112"/>
                  <a:pt x="28" y="112"/>
                  <a:pt x="28" y="112"/>
                </a:cubicBezTo>
                <a:cubicBezTo>
                  <a:pt x="32" y="110"/>
                  <a:pt x="38" y="108"/>
                  <a:pt x="38" y="108"/>
                </a:cubicBezTo>
                <a:cubicBezTo>
                  <a:pt x="47" y="104"/>
                  <a:pt x="56" y="102"/>
                  <a:pt x="64" y="102"/>
                </a:cubicBezTo>
                <a:cubicBezTo>
                  <a:pt x="84" y="102"/>
                  <a:pt x="101" y="110"/>
                  <a:pt x="112" y="117"/>
                </a:cubicBezTo>
                <a:cubicBezTo>
                  <a:pt x="118" y="120"/>
                  <a:pt x="126" y="121"/>
                  <a:pt x="133" y="121"/>
                </a:cubicBezTo>
                <a:cubicBezTo>
                  <a:pt x="146" y="121"/>
                  <a:pt x="159" y="118"/>
                  <a:pt x="163" y="117"/>
                </a:cubicBezTo>
                <a:cubicBezTo>
                  <a:pt x="164" y="117"/>
                  <a:pt x="164" y="117"/>
                  <a:pt x="164" y="117"/>
                </a:cubicBezTo>
                <a:cubicBezTo>
                  <a:pt x="168" y="30"/>
                  <a:pt x="168" y="30"/>
                  <a:pt x="168" y="30"/>
                </a:cubicBezTo>
                <a:close/>
                <a:moveTo>
                  <a:pt x="152" y="107"/>
                </a:moveTo>
                <a:cubicBezTo>
                  <a:pt x="147" y="108"/>
                  <a:pt x="140" y="109"/>
                  <a:pt x="133" y="109"/>
                </a:cubicBezTo>
                <a:cubicBezTo>
                  <a:pt x="127" y="109"/>
                  <a:pt x="122" y="108"/>
                  <a:pt x="118" y="106"/>
                </a:cubicBezTo>
                <a:cubicBezTo>
                  <a:pt x="99" y="95"/>
                  <a:pt x="81" y="90"/>
                  <a:pt x="64" y="90"/>
                </a:cubicBezTo>
                <a:cubicBezTo>
                  <a:pt x="54" y="90"/>
                  <a:pt x="45" y="92"/>
                  <a:pt x="36" y="96"/>
                </a:cubicBezTo>
                <a:cubicBezTo>
                  <a:pt x="36" y="31"/>
                  <a:pt x="36" y="31"/>
                  <a:pt x="36" y="31"/>
                </a:cubicBezTo>
                <a:cubicBezTo>
                  <a:pt x="41" y="28"/>
                  <a:pt x="49" y="24"/>
                  <a:pt x="59" y="24"/>
                </a:cubicBezTo>
                <a:cubicBezTo>
                  <a:pt x="64" y="24"/>
                  <a:pt x="69" y="25"/>
                  <a:pt x="74" y="27"/>
                </a:cubicBezTo>
                <a:cubicBezTo>
                  <a:pt x="95" y="36"/>
                  <a:pt x="114" y="45"/>
                  <a:pt x="135" y="45"/>
                </a:cubicBezTo>
                <a:cubicBezTo>
                  <a:pt x="142" y="45"/>
                  <a:pt x="148" y="44"/>
                  <a:pt x="155" y="43"/>
                </a:cubicBezTo>
                <a:lnTo>
                  <a:pt x="152" y="107"/>
                </a:lnTo>
                <a:close/>
                <a:moveTo>
                  <a:pt x="10" y="0"/>
                </a:moveTo>
                <a:cubicBezTo>
                  <a:pt x="4" y="0"/>
                  <a:pt x="0" y="5"/>
                  <a:pt x="0" y="11"/>
                </a:cubicBezTo>
                <a:cubicBezTo>
                  <a:pt x="0" y="15"/>
                  <a:pt x="1" y="17"/>
                  <a:pt x="3" y="19"/>
                </a:cubicBezTo>
                <a:cubicBezTo>
                  <a:pt x="4" y="20"/>
                  <a:pt x="4" y="21"/>
                  <a:pt x="4" y="21"/>
                </a:cubicBezTo>
                <a:cubicBezTo>
                  <a:pt x="4" y="182"/>
                  <a:pt x="4" y="182"/>
                  <a:pt x="4" y="182"/>
                </a:cubicBezTo>
                <a:cubicBezTo>
                  <a:pt x="4" y="185"/>
                  <a:pt x="7" y="188"/>
                  <a:pt x="10" y="188"/>
                </a:cubicBezTo>
                <a:cubicBezTo>
                  <a:pt x="13" y="188"/>
                  <a:pt x="16" y="185"/>
                  <a:pt x="16" y="182"/>
                </a:cubicBezTo>
                <a:cubicBezTo>
                  <a:pt x="16" y="22"/>
                  <a:pt x="16" y="22"/>
                  <a:pt x="16" y="22"/>
                </a:cubicBezTo>
                <a:cubicBezTo>
                  <a:pt x="16" y="21"/>
                  <a:pt x="16" y="20"/>
                  <a:pt x="17" y="20"/>
                </a:cubicBezTo>
                <a:cubicBezTo>
                  <a:pt x="19" y="18"/>
                  <a:pt x="20" y="15"/>
                  <a:pt x="20" y="11"/>
                </a:cubicBezTo>
                <a:cubicBezTo>
                  <a:pt x="20" y="4"/>
                  <a:pt x="16" y="0"/>
                  <a:pt x="10"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ru-RU" sz="1350" dirty="0"/>
          </a:p>
        </p:txBody>
      </p:sp>
      <p:pic>
        <p:nvPicPr>
          <p:cNvPr id="8" name="Рисунок 7">
            <a:extLst>
              <a:ext uri="{FF2B5EF4-FFF2-40B4-BE49-F238E27FC236}">
                <a16:creationId xmlns:a16="http://schemas.microsoft.com/office/drawing/2014/main" id="{2CA3DA3E-94C4-4487-8173-A063FF7967EA}"/>
              </a:ext>
            </a:extLst>
          </p:cNvPr>
          <p:cNvPicPr>
            <a:picLocks noChangeAspect="1"/>
          </p:cNvPicPr>
          <p:nvPr/>
        </p:nvPicPr>
        <p:blipFill>
          <a:blip r:embed="rId7"/>
          <a:stretch>
            <a:fillRect/>
          </a:stretch>
        </p:blipFill>
        <p:spPr>
          <a:xfrm>
            <a:off x="4295800" y="4449700"/>
            <a:ext cx="3456384" cy="1912540"/>
          </a:xfrm>
          <a:prstGeom prst="rect">
            <a:avLst/>
          </a:prstGeom>
          <a:effectLst>
            <a:softEdge rad="127000"/>
          </a:effectLst>
        </p:spPr>
      </p:pic>
      <p:sp>
        <p:nvSpPr>
          <p:cNvPr id="10" name="Иконка  3">
            <a:extLst>
              <a:ext uri="{FF2B5EF4-FFF2-40B4-BE49-F238E27FC236}">
                <a16:creationId xmlns:a16="http://schemas.microsoft.com/office/drawing/2014/main" id="{83DE88CB-E633-41A9-B7B2-269B88370781}"/>
              </a:ext>
            </a:extLst>
          </p:cNvPr>
          <p:cNvSpPr>
            <a:spLocks noChangeAspect="1" noEditPoints="1"/>
          </p:cNvSpPr>
          <p:nvPr>
            <p:custDataLst>
              <p:tags r:id="rId3"/>
            </p:custDataLst>
          </p:nvPr>
        </p:nvSpPr>
        <p:spPr bwMode="auto">
          <a:xfrm>
            <a:off x="7644172" y="160279"/>
            <a:ext cx="179133" cy="200737"/>
          </a:xfrm>
          <a:custGeom>
            <a:avLst/>
            <a:gdLst>
              <a:gd name="T0" fmla="*/ 168 w 168"/>
              <a:gd name="T1" fmla="*/ 30 h 188"/>
              <a:gd name="T2" fmla="*/ 160 w 168"/>
              <a:gd name="T3" fmla="*/ 30 h 188"/>
              <a:gd name="T4" fmla="*/ 160 w 168"/>
              <a:gd name="T5" fmla="*/ 30 h 188"/>
              <a:gd name="T6" fmla="*/ 160 w 168"/>
              <a:gd name="T7" fmla="*/ 30 h 188"/>
              <a:gd name="T8" fmla="*/ 135 w 168"/>
              <a:gd name="T9" fmla="*/ 33 h 188"/>
              <a:gd name="T10" fmla="*/ 78 w 168"/>
              <a:gd name="T11" fmla="*/ 16 h 188"/>
              <a:gd name="T12" fmla="*/ 59 w 168"/>
              <a:gd name="T13" fmla="*/ 12 h 188"/>
              <a:gd name="T14" fmla="*/ 25 w 168"/>
              <a:gd name="T15" fmla="*/ 24 h 188"/>
              <a:gd name="T16" fmla="*/ 24 w 168"/>
              <a:gd name="T17" fmla="*/ 26 h 188"/>
              <a:gd name="T18" fmla="*/ 24 w 168"/>
              <a:gd name="T19" fmla="*/ 110 h 188"/>
              <a:gd name="T20" fmla="*/ 27 w 168"/>
              <a:gd name="T21" fmla="*/ 112 h 188"/>
              <a:gd name="T22" fmla="*/ 28 w 168"/>
              <a:gd name="T23" fmla="*/ 112 h 188"/>
              <a:gd name="T24" fmla="*/ 38 w 168"/>
              <a:gd name="T25" fmla="*/ 108 h 188"/>
              <a:gd name="T26" fmla="*/ 64 w 168"/>
              <a:gd name="T27" fmla="*/ 102 h 188"/>
              <a:gd name="T28" fmla="*/ 112 w 168"/>
              <a:gd name="T29" fmla="*/ 117 h 188"/>
              <a:gd name="T30" fmla="*/ 133 w 168"/>
              <a:gd name="T31" fmla="*/ 121 h 188"/>
              <a:gd name="T32" fmla="*/ 163 w 168"/>
              <a:gd name="T33" fmla="*/ 117 h 188"/>
              <a:gd name="T34" fmla="*/ 164 w 168"/>
              <a:gd name="T35" fmla="*/ 117 h 188"/>
              <a:gd name="T36" fmla="*/ 168 w 168"/>
              <a:gd name="T37" fmla="*/ 30 h 188"/>
              <a:gd name="T38" fmla="*/ 152 w 168"/>
              <a:gd name="T39" fmla="*/ 107 h 188"/>
              <a:gd name="T40" fmla="*/ 133 w 168"/>
              <a:gd name="T41" fmla="*/ 109 h 188"/>
              <a:gd name="T42" fmla="*/ 118 w 168"/>
              <a:gd name="T43" fmla="*/ 106 h 188"/>
              <a:gd name="T44" fmla="*/ 64 w 168"/>
              <a:gd name="T45" fmla="*/ 90 h 188"/>
              <a:gd name="T46" fmla="*/ 36 w 168"/>
              <a:gd name="T47" fmla="*/ 96 h 188"/>
              <a:gd name="T48" fmla="*/ 36 w 168"/>
              <a:gd name="T49" fmla="*/ 31 h 188"/>
              <a:gd name="T50" fmla="*/ 59 w 168"/>
              <a:gd name="T51" fmla="*/ 24 h 188"/>
              <a:gd name="T52" fmla="*/ 74 w 168"/>
              <a:gd name="T53" fmla="*/ 27 h 188"/>
              <a:gd name="T54" fmla="*/ 135 w 168"/>
              <a:gd name="T55" fmla="*/ 45 h 188"/>
              <a:gd name="T56" fmla="*/ 155 w 168"/>
              <a:gd name="T57" fmla="*/ 43 h 188"/>
              <a:gd name="T58" fmla="*/ 152 w 168"/>
              <a:gd name="T59" fmla="*/ 107 h 188"/>
              <a:gd name="T60" fmla="*/ 10 w 168"/>
              <a:gd name="T61" fmla="*/ 0 h 188"/>
              <a:gd name="T62" fmla="*/ 0 w 168"/>
              <a:gd name="T63" fmla="*/ 11 h 188"/>
              <a:gd name="T64" fmla="*/ 3 w 168"/>
              <a:gd name="T65" fmla="*/ 19 h 188"/>
              <a:gd name="T66" fmla="*/ 4 w 168"/>
              <a:gd name="T67" fmla="*/ 21 h 188"/>
              <a:gd name="T68" fmla="*/ 4 w 168"/>
              <a:gd name="T69" fmla="*/ 182 h 188"/>
              <a:gd name="T70" fmla="*/ 10 w 168"/>
              <a:gd name="T71" fmla="*/ 188 h 188"/>
              <a:gd name="T72" fmla="*/ 16 w 168"/>
              <a:gd name="T73" fmla="*/ 182 h 188"/>
              <a:gd name="T74" fmla="*/ 16 w 168"/>
              <a:gd name="T75" fmla="*/ 22 h 188"/>
              <a:gd name="T76" fmla="*/ 17 w 168"/>
              <a:gd name="T77" fmla="*/ 20 h 188"/>
              <a:gd name="T78" fmla="*/ 20 w 168"/>
              <a:gd name="T79" fmla="*/ 11 h 188"/>
              <a:gd name="T80" fmla="*/ 10 w 168"/>
              <a:gd name="T81"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8">
                <a:moveTo>
                  <a:pt x="168" y="30"/>
                </a:moveTo>
                <a:cubicBezTo>
                  <a:pt x="165" y="30"/>
                  <a:pt x="161" y="30"/>
                  <a:pt x="160" y="30"/>
                </a:cubicBezTo>
                <a:cubicBezTo>
                  <a:pt x="160" y="30"/>
                  <a:pt x="160" y="30"/>
                  <a:pt x="160" y="30"/>
                </a:cubicBezTo>
                <a:cubicBezTo>
                  <a:pt x="160" y="30"/>
                  <a:pt x="160" y="30"/>
                  <a:pt x="160" y="30"/>
                </a:cubicBezTo>
                <a:cubicBezTo>
                  <a:pt x="151" y="32"/>
                  <a:pt x="143" y="33"/>
                  <a:pt x="135" y="33"/>
                </a:cubicBezTo>
                <a:cubicBezTo>
                  <a:pt x="116" y="33"/>
                  <a:pt x="100" y="25"/>
                  <a:pt x="78" y="16"/>
                </a:cubicBezTo>
                <a:cubicBezTo>
                  <a:pt x="71" y="13"/>
                  <a:pt x="65" y="12"/>
                  <a:pt x="59" y="12"/>
                </a:cubicBezTo>
                <a:cubicBezTo>
                  <a:pt x="42" y="12"/>
                  <a:pt x="29" y="21"/>
                  <a:pt x="25" y="24"/>
                </a:cubicBezTo>
                <a:cubicBezTo>
                  <a:pt x="24" y="25"/>
                  <a:pt x="24" y="25"/>
                  <a:pt x="24" y="26"/>
                </a:cubicBezTo>
                <a:cubicBezTo>
                  <a:pt x="24" y="110"/>
                  <a:pt x="24" y="110"/>
                  <a:pt x="24" y="110"/>
                </a:cubicBezTo>
                <a:cubicBezTo>
                  <a:pt x="24" y="111"/>
                  <a:pt x="25" y="112"/>
                  <a:pt x="27" y="112"/>
                </a:cubicBezTo>
                <a:cubicBezTo>
                  <a:pt x="27" y="112"/>
                  <a:pt x="28" y="112"/>
                  <a:pt x="28" y="112"/>
                </a:cubicBezTo>
                <a:cubicBezTo>
                  <a:pt x="32" y="110"/>
                  <a:pt x="38" y="108"/>
                  <a:pt x="38" y="108"/>
                </a:cubicBezTo>
                <a:cubicBezTo>
                  <a:pt x="47" y="104"/>
                  <a:pt x="56" y="102"/>
                  <a:pt x="64" y="102"/>
                </a:cubicBezTo>
                <a:cubicBezTo>
                  <a:pt x="84" y="102"/>
                  <a:pt x="101" y="110"/>
                  <a:pt x="112" y="117"/>
                </a:cubicBezTo>
                <a:cubicBezTo>
                  <a:pt x="118" y="120"/>
                  <a:pt x="126" y="121"/>
                  <a:pt x="133" y="121"/>
                </a:cubicBezTo>
                <a:cubicBezTo>
                  <a:pt x="146" y="121"/>
                  <a:pt x="159" y="118"/>
                  <a:pt x="163" y="117"/>
                </a:cubicBezTo>
                <a:cubicBezTo>
                  <a:pt x="164" y="117"/>
                  <a:pt x="164" y="117"/>
                  <a:pt x="164" y="117"/>
                </a:cubicBezTo>
                <a:cubicBezTo>
                  <a:pt x="168" y="30"/>
                  <a:pt x="168" y="30"/>
                  <a:pt x="168" y="30"/>
                </a:cubicBezTo>
                <a:close/>
                <a:moveTo>
                  <a:pt x="152" y="107"/>
                </a:moveTo>
                <a:cubicBezTo>
                  <a:pt x="147" y="108"/>
                  <a:pt x="140" y="109"/>
                  <a:pt x="133" y="109"/>
                </a:cubicBezTo>
                <a:cubicBezTo>
                  <a:pt x="127" y="109"/>
                  <a:pt x="122" y="108"/>
                  <a:pt x="118" y="106"/>
                </a:cubicBezTo>
                <a:cubicBezTo>
                  <a:pt x="99" y="95"/>
                  <a:pt x="81" y="90"/>
                  <a:pt x="64" y="90"/>
                </a:cubicBezTo>
                <a:cubicBezTo>
                  <a:pt x="54" y="90"/>
                  <a:pt x="45" y="92"/>
                  <a:pt x="36" y="96"/>
                </a:cubicBezTo>
                <a:cubicBezTo>
                  <a:pt x="36" y="31"/>
                  <a:pt x="36" y="31"/>
                  <a:pt x="36" y="31"/>
                </a:cubicBezTo>
                <a:cubicBezTo>
                  <a:pt x="41" y="28"/>
                  <a:pt x="49" y="24"/>
                  <a:pt x="59" y="24"/>
                </a:cubicBezTo>
                <a:cubicBezTo>
                  <a:pt x="64" y="24"/>
                  <a:pt x="69" y="25"/>
                  <a:pt x="74" y="27"/>
                </a:cubicBezTo>
                <a:cubicBezTo>
                  <a:pt x="95" y="36"/>
                  <a:pt x="114" y="45"/>
                  <a:pt x="135" y="45"/>
                </a:cubicBezTo>
                <a:cubicBezTo>
                  <a:pt x="142" y="45"/>
                  <a:pt x="148" y="44"/>
                  <a:pt x="155" y="43"/>
                </a:cubicBezTo>
                <a:lnTo>
                  <a:pt x="152" y="107"/>
                </a:lnTo>
                <a:close/>
                <a:moveTo>
                  <a:pt x="10" y="0"/>
                </a:moveTo>
                <a:cubicBezTo>
                  <a:pt x="4" y="0"/>
                  <a:pt x="0" y="5"/>
                  <a:pt x="0" y="11"/>
                </a:cubicBezTo>
                <a:cubicBezTo>
                  <a:pt x="0" y="15"/>
                  <a:pt x="1" y="17"/>
                  <a:pt x="3" y="19"/>
                </a:cubicBezTo>
                <a:cubicBezTo>
                  <a:pt x="4" y="20"/>
                  <a:pt x="4" y="21"/>
                  <a:pt x="4" y="21"/>
                </a:cubicBezTo>
                <a:cubicBezTo>
                  <a:pt x="4" y="182"/>
                  <a:pt x="4" y="182"/>
                  <a:pt x="4" y="182"/>
                </a:cubicBezTo>
                <a:cubicBezTo>
                  <a:pt x="4" y="185"/>
                  <a:pt x="7" y="188"/>
                  <a:pt x="10" y="188"/>
                </a:cubicBezTo>
                <a:cubicBezTo>
                  <a:pt x="13" y="188"/>
                  <a:pt x="16" y="185"/>
                  <a:pt x="16" y="182"/>
                </a:cubicBezTo>
                <a:cubicBezTo>
                  <a:pt x="16" y="22"/>
                  <a:pt x="16" y="22"/>
                  <a:pt x="16" y="22"/>
                </a:cubicBezTo>
                <a:cubicBezTo>
                  <a:pt x="16" y="21"/>
                  <a:pt x="16" y="20"/>
                  <a:pt x="17" y="20"/>
                </a:cubicBezTo>
                <a:cubicBezTo>
                  <a:pt x="19" y="18"/>
                  <a:pt x="20" y="15"/>
                  <a:pt x="20" y="11"/>
                </a:cubicBezTo>
                <a:cubicBezTo>
                  <a:pt x="20" y="4"/>
                  <a:pt x="16" y="0"/>
                  <a:pt x="10"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ru-RU" sz="1350" dirty="0"/>
          </a:p>
        </p:txBody>
      </p:sp>
    </p:spTree>
    <p:custDataLst>
      <p:tags r:id="rId1"/>
    </p:custDataLst>
    <p:extLst>
      <p:ext uri="{BB962C8B-B14F-4D97-AF65-F5344CB8AC3E}">
        <p14:creationId xmlns:p14="http://schemas.microsoft.com/office/powerpoint/2010/main" val="7338433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1250"/>
                                        <p:tgtEl>
                                          <p:spTgt spid="9">
                                            <p:txEl>
                                              <p:pRg st="0" end="0"/>
                                            </p:txEl>
                                          </p:spTgt>
                                        </p:tgtEl>
                                      </p:cBhvr>
                                    </p:animEffect>
                                  </p:childTnLst>
                                </p:cTn>
                              </p:par>
                            </p:childTnLst>
                          </p:cTn>
                        </p:par>
                        <p:par>
                          <p:cTn id="8" fill="hold">
                            <p:stCondLst>
                              <p:cond delay="1250"/>
                            </p:stCondLst>
                            <p:childTnLst>
                              <p:par>
                                <p:cTn id="9" presetID="22" presetClass="entr" presetSubtype="8" fill="hold"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wipe(left)">
                                      <p:cBhvr>
                                        <p:cTn id="11" dur="1250"/>
                                        <p:tgtEl>
                                          <p:spTgt spid="9">
                                            <p:txEl>
                                              <p:pRg st="1" end="1"/>
                                            </p:txEl>
                                          </p:spTgt>
                                        </p:tgtEl>
                                      </p:cBhvr>
                                    </p:animEffect>
                                  </p:childTnLst>
                                </p:cTn>
                              </p:par>
                            </p:childTnLst>
                          </p:cTn>
                        </p:par>
                        <p:par>
                          <p:cTn id="12" fill="hold">
                            <p:stCondLst>
                              <p:cond delay="2500"/>
                            </p:stCondLst>
                            <p:childTnLst>
                              <p:par>
                                <p:cTn id="13" presetID="22" presetClass="entr" presetSubtype="8" fill="hold" nodeType="after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wipe(left)">
                                      <p:cBhvr>
                                        <p:cTn id="15" dur="1250"/>
                                        <p:tgtEl>
                                          <p:spTgt spid="9">
                                            <p:txEl>
                                              <p:pRg st="2" end="2"/>
                                            </p:txEl>
                                          </p:spTgt>
                                        </p:tgtEl>
                                      </p:cBhvr>
                                    </p:animEffect>
                                  </p:childTnLst>
                                </p:cTn>
                              </p:par>
                            </p:childTnLst>
                          </p:cTn>
                        </p:par>
                        <p:par>
                          <p:cTn id="16" fill="hold">
                            <p:stCondLst>
                              <p:cond delay="3750"/>
                            </p:stCondLst>
                            <p:childTnLst>
                              <p:par>
                                <p:cTn id="17" presetID="22" presetClass="entr" presetSubtype="8" fill="hold" nodeType="after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wipe(left)">
                                      <p:cBhvr>
                                        <p:cTn id="19" dur="1250"/>
                                        <p:tgtEl>
                                          <p:spTgt spid="9">
                                            <p:txEl>
                                              <p:pRg st="3" end="3"/>
                                            </p:txEl>
                                          </p:spTgt>
                                        </p:tgtEl>
                                      </p:cBhvr>
                                    </p:animEffect>
                                  </p:childTnLst>
                                </p:cTn>
                              </p:par>
                            </p:childTnLst>
                          </p:cTn>
                        </p:par>
                        <p:par>
                          <p:cTn id="20" fill="hold">
                            <p:stCondLst>
                              <p:cond delay="5000"/>
                            </p:stCondLst>
                            <p:childTnLst>
                              <p:par>
                                <p:cTn id="21" presetID="22" presetClass="entr" presetSubtype="8" fill="hold" nodeType="after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Effect transition="in" filter="wipe(left)">
                                      <p:cBhvr>
                                        <p:cTn id="23" dur="1250"/>
                                        <p:tgtEl>
                                          <p:spTgt spid="9">
                                            <p:txEl>
                                              <p:pRg st="4" end="4"/>
                                            </p:txEl>
                                          </p:spTgt>
                                        </p:tgtEl>
                                      </p:cBhvr>
                                    </p:animEffect>
                                  </p:childTnLst>
                                </p:cTn>
                              </p:par>
                            </p:childTnLst>
                          </p:cTn>
                        </p:par>
                        <p:par>
                          <p:cTn id="24" fill="hold">
                            <p:stCondLst>
                              <p:cond delay="6250"/>
                            </p:stCondLst>
                            <p:childTnLst>
                              <p:par>
                                <p:cTn id="25" presetID="22" presetClass="entr" presetSubtype="8" fill="hold" nodeType="after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wipe(left)">
                                      <p:cBhvr>
                                        <p:cTn id="27" dur="1250"/>
                                        <p:tgtEl>
                                          <p:spTgt spid="9">
                                            <p:txEl>
                                              <p:pRg st="5" end="5"/>
                                            </p:txEl>
                                          </p:spTgt>
                                        </p:tgtEl>
                                      </p:cBhvr>
                                    </p:animEffect>
                                  </p:childTnLst>
                                </p:cTn>
                              </p:par>
                            </p:childTnLst>
                          </p:cTn>
                        </p:par>
                        <p:par>
                          <p:cTn id="28" fill="hold">
                            <p:stCondLst>
                              <p:cond delay="7500"/>
                            </p:stCondLst>
                            <p:childTnLst>
                              <p:par>
                                <p:cTn id="29" presetID="22" presetClass="entr" presetSubtype="8" fill="hold" nodeType="after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Effect transition="in" filter="wipe(left)">
                                      <p:cBhvr>
                                        <p:cTn id="31" dur="1250"/>
                                        <p:tgtEl>
                                          <p:spTgt spid="9">
                                            <p:txEl>
                                              <p:pRg st="6" end="6"/>
                                            </p:txEl>
                                          </p:spTgt>
                                        </p:tgtEl>
                                      </p:cBhvr>
                                    </p:animEffect>
                                  </p:childTnLst>
                                </p:cTn>
                              </p:par>
                            </p:childTnLst>
                          </p:cTn>
                        </p:par>
                        <p:par>
                          <p:cTn id="32" fill="hold">
                            <p:stCondLst>
                              <p:cond delay="8750"/>
                            </p:stCondLst>
                            <p:childTnLst>
                              <p:par>
                                <p:cTn id="33" presetID="22" presetClass="entr" presetSubtype="1"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15778" y="383495"/>
            <a:ext cx="2584878"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407368" y="6324600"/>
            <a:ext cx="11449272"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6"/>
          <a:stretch>
            <a:fillRect/>
          </a:stretch>
        </p:blipFill>
        <p:spPr>
          <a:xfrm>
            <a:off x="407368" y="6439304"/>
            <a:ext cx="1390008" cy="268247"/>
          </a:xfrm>
          <a:prstGeom prst="rect">
            <a:avLst/>
          </a:prstGeom>
        </p:spPr>
      </p:pic>
      <p:sp>
        <p:nvSpPr>
          <p:cNvPr id="7" name="Заголовок 1">
            <a:extLst>
              <a:ext uri="{FF2B5EF4-FFF2-40B4-BE49-F238E27FC236}">
                <a16:creationId xmlns:a16="http://schemas.microsoft.com/office/drawing/2014/main" id="{FCA7CE74-48EB-4E21-8137-5FF2990D4E4D}"/>
              </a:ext>
            </a:extLst>
          </p:cNvPr>
          <p:cNvSpPr>
            <a:spLocks noGrp="1"/>
          </p:cNvSpPr>
          <p:nvPr>
            <p:ph type="title"/>
          </p:nvPr>
        </p:nvSpPr>
        <p:spPr>
          <a:xfrm>
            <a:off x="3040769" y="314880"/>
            <a:ext cx="6758534" cy="648072"/>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Информация для служебного пользования</a:t>
            </a:r>
          </a:p>
        </p:txBody>
      </p:sp>
      <p:sp>
        <p:nvSpPr>
          <p:cNvPr id="9" name="Текст  2">
            <a:extLst>
              <a:ext uri="{FF2B5EF4-FFF2-40B4-BE49-F238E27FC236}">
                <a16:creationId xmlns:a16="http://schemas.microsoft.com/office/drawing/2014/main" id="{043580A9-9DB2-4A7A-9BA9-FCE72B5D2B85}"/>
              </a:ext>
            </a:extLst>
          </p:cNvPr>
          <p:cNvSpPr txBox="1">
            <a:spLocks/>
          </p:cNvSpPr>
          <p:nvPr/>
        </p:nvSpPr>
        <p:spPr>
          <a:xfrm>
            <a:off x="7032104" y="6408898"/>
            <a:ext cx="3552736" cy="268445"/>
          </a:xfrm>
          <a:prstGeom prst="rect">
            <a:avLst/>
          </a:prstGeom>
        </p:spPr>
        <p:txBody>
          <a:bodyPr vert="horz" wrap="square" lIns="91440" tIns="45720" rIns="91440" bIns="45720" rtlCol="0">
            <a:noAutofit/>
          </a:bodyPr>
          <a:lstStyle>
            <a:lvl1pPr marL="0" indent="0" algn="l" defTabSz="914400" rtl="0" eaLnBrk="1" latinLnBrk="0" hangingPunct="1">
              <a:lnSpc>
                <a:spcPct val="114000"/>
              </a:lnSpc>
              <a:spcBef>
                <a:spcPts val="1000"/>
              </a:spcBef>
              <a:buFont typeface="Arial" panose="020B0604020202020204" pitchFamily="34" charset="0"/>
              <a:buNone/>
              <a:defRPr lang="ru-RU" sz="900" kern="1200" baseline="0" dirty="0">
                <a:solidFill>
                  <a:schemeClr val="tx2">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r>
              <a:rPr lang="ru-RU" altLang="ru-RU" sz="1400" dirty="0">
                <a:solidFill>
                  <a:schemeClr val="tx1"/>
                </a:solidFill>
                <a:latin typeface="Times New Roman" panose="02020603050405020304" pitchFamily="18" charset="0"/>
                <a:cs typeface="Times New Roman" panose="02020603050405020304" pitchFamily="18" charset="0"/>
              </a:rPr>
              <a:t>Для служебного пользования - далее  ДСП</a:t>
            </a:r>
          </a:p>
        </p:txBody>
      </p:sp>
      <p:sp>
        <p:nvSpPr>
          <p:cNvPr id="10" name="Иконка  3">
            <a:extLst>
              <a:ext uri="{FF2B5EF4-FFF2-40B4-BE49-F238E27FC236}">
                <a16:creationId xmlns:a16="http://schemas.microsoft.com/office/drawing/2014/main" id="{3BF2C918-6E85-44CA-B4C0-83886AA0FF3A}"/>
              </a:ext>
            </a:extLst>
          </p:cNvPr>
          <p:cNvSpPr>
            <a:spLocks noChangeAspect="1" noEditPoints="1"/>
          </p:cNvSpPr>
          <p:nvPr>
            <p:custDataLst>
              <p:tags r:id="rId2"/>
            </p:custDataLst>
          </p:nvPr>
        </p:nvSpPr>
        <p:spPr bwMode="auto">
          <a:xfrm>
            <a:off x="6672064" y="6371698"/>
            <a:ext cx="360040" cy="403461"/>
          </a:xfrm>
          <a:custGeom>
            <a:avLst/>
            <a:gdLst>
              <a:gd name="T0" fmla="*/ 168 w 168"/>
              <a:gd name="T1" fmla="*/ 30 h 188"/>
              <a:gd name="T2" fmla="*/ 160 w 168"/>
              <a:gd name="T3" fmla="*/ 30 h 188"/>
              <a:gd name="T4" fmla="*/ 160 w 168"/>
              <a:gd name="T5" fmla="*/ 30 h 188"/>
              <a:gd name="T6" fmla="*/ 160 w 168"/>
              <a:gd name="T7" fmla="*/ 30 h 188"/>
              <a:gd name="T8" fmla="*/ 135 w 168"/>
              <a:gd name="T9" fmla="*/ 33 h 188"/>
              <a:gd name="T10" fmla="*/ 78 w 168"/>
              <a:gd name="T11" fmla="*/ 16 h 188"/>
              <a:gd name="T12" fmla="*/ 59 w 168"/>
              <a:gd name="T13" fmla="*/ 12 h 188"/>
              <a:gd name="T14" fmla="*/ 25 w 168"/>
              <a:gd name="T15" fmla="*/ 24 h 188"/>
              <a:gd name="T16" fmla="*/ 24 w 168"/>
              <a:gd name="T17" fmla="*/ 26 h 188"/>
              <a:gd name="T18" fmla="*/ 24 w 168"/>
              <a:gd name="T19" fmla="*/ 110 h 188"/>
              <a:gd name="T20" fmla="*/ 27 w 168"/>
              <a:gd name="T21" fmla="*/ 112 h 188"/>
              <a:gd name="T22" fmla="*/ 28 w 168"/>
              <a:gd name="T23" fmla="*/ 112 h 188"/>
              <a:gd name="T24" fmla="*/ 38 w 168"/>
              <a:gd name="T25" fmla="*/ 108 h 188"/>
              <a:gd name="T26" fmla="*/ 64 w 168"/>
              <a:gd name="T27" fmla="*/ 102 h 188"/>
              <a:gd name="T28" fmla="*/ 112 w 168"/>
              <a:gd name="T29" fmla="*/ 117 h 188"/>
              <a:gd name="T30" fmla="*/ 133 w 168"/>
              <a:gd name="T31" fmla="*/ 121 h 188"/>
              <a:gd name="T32" fmla="*/ 163 w 168"/>
              <a:gd name="T33" fmla="*/ 117 h 188"/>
              <a:gd name="T34" fmla="*/ 164 w 168"/>
              <a:gd name="T35" fmla="*/ 117 h 188"/>
              <a:gd name="T36" fmla="*/ 168 w 168"/>
              <a:gd name="T37" fmla="*/ 30 h 188"/>
              <a:gd name="T38" fmla="*/ 152 w 168"/>
              <a:gd name="T39" fmla="*/ 107 h 188"/>
              <a:gd name="T40" fmla="*/ 133 w 168"/>
              <a:gd name="T41" fmla="*/ 109 h 188"/>
              <a:gd name="T42" fmla="*/ 118 w 168"/>
              <a:gd name="T43" fmla="*/ 106 h 188"/>
              <a:gd name="T44" fmla="*/ 64 w 168"/>
              <a:gd name="T45" fmla="*/ 90 h 188"/>
              <a:gd name="T46" fmla="*/ 36 w 168"/>
              <a:gd name="T47" fmla="*/ 96 h 188"/>
              <a:gd name="T48" fmla="*/ 36 w 168"/>
              <a:gd name="T49" fmla="*/ 31 h 188"/>
              <a:gd name="T50" fmla="*/ 59 w 168"/>
              <a:gd name="T51" fmla="*/ 24 h 188"/>
              <a:gd name="T52" fmla="*/ 74 w 168"/>
              <a:gd name="T53" fmla="*/ 27 h 188"/>
              <a:gd name="T54" fmla="*/ 135 w 168"/>
              <a:gd name="T55" fmla="*/ 45 h 188"/>
              <a:gd name="T56" fmla="*/ 155 w 168"/>
              <a:gd name="T57" fmla="*/ 43 h 188"/>
              <a:gd name="T58" fmla="*/ 152 w 168"/>
              <a:gd name="T59" fmla="*/ 107 h 188"/>
              <a:gd name="T60" fmla="*/ 10 w 168"/>
              <a:gd name="T61" fmla="*/ 0 h 188"/>
              <a:gd name="T62" fmla="*/ 0 w 168"/>
              <a:gd name="T63" fmla="*/ 11 h 188"/>
              <a:gd name="T64" fmla="*/ 3 w 168"/>
              <a:gd name="T65" fmla="*/ 19 h 188"/>
              <a:gd name="T66" fmla="*/ 4 w 168"/>
              <a:gd name="T67" fmla="*/ 21 h 188"/>
              <a:gd name="T68" fmla="*/ 4 w 168"/>
              <a:gd name="T69" fmla="*/ 182 h 188"/>
              <a:gd name="T70" fmla="*/ 10 w 168"/>
              <a:gd name="T71" fmla="*/ 188 h 188"/>
              <a:gd name="T72" fmla="*/ 16 w 168"/>
              <a:gd name="T73" fmla="*/ 182 h 188"/>
              <a:gd name="T74" fmla="*/ 16 w 168"/>
              <a:gd name="T75" fmla="*/ 22 h 188"/>
              <a:gd name="T76" fmla="*/ 17 w 168"/>
              <a:gd name="T77" fmla="*/ 20 h 188"/>
              <a:gd name="T78" fmla="*/ 20 w 168"/>
              <a:gd name="T79" fmla="*/ 11 h 188"/>
              <a:gd name="T80" fmla="*/ 10 w 168"/>
              <a:gd name="T81"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8">
                <a:moveTo>
                  <a:pt x="168" y="30"/>
                </a:moveTo>
                <a:cubicBezTo>
                  <a:pt x="165" y="30"/>
                  <a:pt x="161" y="30"/>
                  <a:pt x="160" y="30"/>
                </a:cubicBezTo>
                <a:cubicBezTo>
                  <a:pt x="160" y="30"/>
                  <a:pt x="160" y="30"/>
                  <a:pt x="160" y="30"/>
                </a:cubicBezTo>
                <a:cubicBezTo>
                  <a:pt x="160" y="30"/>
                  <a:pt x="160" y="30"/>
                  <a:pt x="160" y="30"/>
                </a:cubicBezTo>
                <a:cubicBezTo>
                  <a:pt x="151" y="32"/>
                  <a:pt x="143" y="33"/>
                  <a:pt x="135" y="33"/>
                </a:cubicBezTo>
                <a:cubicBezTo>
                  <a:pt x="116" y="33"/>
                  <a:pt x="100" y="25"/>
                  <a:pt x="78" y="16"/>
                </a:cubicBezTo>
                <a:cubicBezTo>
                  <a:pt x="71" y="13"/>
                  <a:pt x="65" y="12"/>
                  <a:pt x="59" y="12"/>
                </a:cubicBezTo>
                <a:cubicBezTo>
                  <a:pt x="42" y="12"/>
                  <a:pt x="29" y="21"/>
                  <a:pt x="25" y="24"/>
                </a:cubicBezTo>
                <a:cubicBezTo>
                  <a:pt x="24" y="25"/>
                  <a:pt x="24" y="25"/>
                  <a:pt x="24" y="26"/>
                </a:cubicBezTo>
                <a:cubicBezTo>
                  <a:pt x="24" y="110"/>
                  <a:pt x="24" y="110"/>
                  <a:pt x="24" y="110"/>
                </a:cubicBezTo>
                <a:cubicBezTo>
                  <a:pt x="24" y="111"/>
                  <a:pt x="25" y="112"/>
                  <a:pt x="27" y="112"/>
                </a:cubicBezTo>
                <a:cubicBezTo>
                  <a:pt x="27" y="112"/>
                  <a:pt x="28" y="112"/>
                  <a:pt x="28" y="112"/>
                </a:cubicBezTo>
                <a:cubicBezTo>
                  <a:pt x="32" y="110"/>
                  <a:pt x="38" y="108"/>
                  <a:pt x="38" y="108"/>
                </a:cubicBezTo>
                <a:cubicBezTo>
                  <a:pt x="47" y="104"/>
                  <a:pt x="56" y="102"/>
                  <a:pt x="64" y="102"/>
                </a:cubicBezTo>
                <a:cubicBezTo>
                  <a:pt x="84" y="102"/>
                  <a:pt x="101" y="110"/>
                  <a:pt x="112" y="117"/>
                </a:cubicBezTo>
                <a:cubicBezTo>
                  <a:pt x="118" y="120"/>
                  <a:pt x="126" y="121"/>
                  <a:pt x="133" y="121"/>
                </a:cubicBezTo>
                <a:cubicBezTo>
                  <a:pt x="146" y="121"/>
                  <a:pt x="159" y="118"/>
                  <a:pt x="163" y="117"/>
                </a:cubicBezTo>
                <a:cubicBezTo>
                  <a:pt x="164" y="117"/>
                  <a:pt x="164" y="117"/>
                  <a:pt x="164" y="117"/>
                </a:cubicBezTo>
                <a:cubicBezTo>
                  <a:pt x="168" y="30"/>
                  <a:pt x="168" y="30"/>
                  <a:pt x="168" y="30"/>
                </a:cubicBezTo>
                <a:close/>
                <a:moveTo>
                  <a:pt x="152" y="107"/>
                </a:moveTo>
                <a:cubicBezTo>
                  <a:pt x="147" y="108"/>
                  <a:pt x="140" y="109"/>
                  <a:pt x="133" y="109"/>
                </a:cubicBezTo>
                <a:cubicBezTo>
                  <a:pt x="127" y="109"/>
                  <a:pt x="122" y="108"/>
                  <a:pt x="118" y="106"/>
                </a:cubicBezTo>
                <a:cubicBezTo>
                  <a:pt x="99" y="95"/>
                  <a:pt x="81" y="90"/>
                  <a:pt x="64" y="90"/>
                </a:cubicBezTo>
                <a:cubicBezTo>
                  <a:pt x="54" y="90"/>
                  <a:pt x="45" y="92"/>
                  <a:pt x="36" y="96"/>
                </a:cubicBezTo>
                <a:cubicBezTo>
                  <a:pt x="36" y="31"/>
                  <a:pt x="36" y="31"/>
                  <a:pt x="36" y="31"/>
                </a:cubicBezTo>
                <a:cubicBezTo>
                  <a:pt x="41" y="28"/>
                  <a:pt x="49" y="24"/>
                  <a:pt x="59" y="24"/>
                </a:cubicBezTo>
                <a:cubicBezTo>
                  <a:pt x="64" y="24"/>
                  <a:pt x="69" y="25"/>
                  <a:pt x="74" y="27"/>
                </a:cubicBezTo>
                <a:cubicBezTo>
                  <a:pt x="95" y="36"/>
                  <a:pt x="114" y="45"/>
                  <a:pt x="135" y="45"/>
                </a:cubicBezTo>
                <a:cubicBezTo>
                  <a:pt x="142" y="45"/>
                  <a:pt x="148" y="44"/>
                  <a:pt x="155" y="43"/>
                </a:cubicBezTo>
                <a:lnTo>
                  <a:pt x="152" y="107"/>
                </a:lnTo>
                <a:close/>
                <a:moveTo>
                  <a:pt x="10" y="0"/>
                </a:moveTo>
                <a:cubicBezTo>
                  <a:pt x="4" y="0"/>
                  <a:pt x="0" y="5"/>
                  <a:pt x="0" y="11"/>
                </a:cubicBezTo>
                <a:cubicBezTo>
                  <a:pt x="0" y="15"/>
                  <a:pt x="1" y="17"/>
                  <a:pt x="3" y="19"/>
                </a:cubicBezTo>
                <a:cubicBezTo>
                  <a:pt x="4" y="20"/>
                  <a:pt x="4" y="21"/>
                  <a:pt x="4" y="21"/>
                </a:cubicBezTo>
                <a:cubicBezTo>
                  <a:pt x="4" y="182"/>
                  <a:pt x="4" y="182"/>
                  <a:pt x="4" y="182"/>
                </a:cubicBezTo>
                <a:cubicBezTo>
                  <a:pt x="4" y="185"/>
                  <a:pt x="7" y="188"/>
                  <a:pt x="10" y="188"/>
                </a:cubicBezTo>
                <a:cubicBezTo>
                  <a:pt x="13" y="188"/>
                  <a:pt x="16" y="185"/>
                  <a:pt x="16" y="182"/>
                </a:cubicBezTo>
                <a:cubicBezTo>
                  <a:pt x="16" y="22"/>
                  <a:pt x="16" y="22"/>
                  <a:pt x="16" y="22"/>
                </a:cubicBezTo>
                <a:cubicBezTo>
                  <a:pt x="16" y="21"/>
                  <a:pt x="16" y="20"/>
                  <a:pt x="17" y="20"/>
                </a:cubicBezTo>
                <a:cubicBezTo>
                  <a:pt x="19" y="18"/>
                  <a:pt x="20" y="15"/>
                  <a:pt x="20" y="11"/>
                </a:cubicBezTo>
                <a:cubicBezTo>
                  <a:pt x="20" y="4"/>
                  <a:pt x="16" y="0"/>
                  <a:pt x="10"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ru-RU" sz="1350" dirty="0"/>
          </a:p>
        </p:txBody>
      </p:sp>
      <p:sp>
        <p:nvSpPr>
          <p:cNvPr id="11" name="Текст  1">
            <a:extLst>
              <a:ext uri="{FF2B5EF4-FFF2-40B4-BE49-F238E27FC236}">
                <a16:creationId xmlns:a16="http://schemas.microsoft.com/office/drawing/2014/main" id="{24E2B536-33A0-4685-8F53-5445C7E7F852}"/>
              </a:ext>
            </a:extLst>
          </p:cNvPr>
          <p:cNvSpPr txBox="1">
            <a:spLocks/>
          </p:cNvSpPr>
          <p:nvPr/>
        </p:nvSpPr>
        <p:spPr>
          <a:xfrm>
            <a:off x="1127448" y="1412776"/>
            <a:ext cx="10801200" cy="1440160"/>
          </a:xfrm>
          <a:prstGeom prst="rect">
            <a:avLst/>
          </a:prstGeom>
        </p:spPr>
        <p:txBody>
          <a:bodyPr vert="horz" lIns="91440" tIns="45720" rIns="91440" bIns="45720" rtlCol="0" anchor="ctr"/>
          <a:lstStyle>
            <a:defPPr>
              <a:defRPr lang="ru-RU"/>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600"/>
              </a:spcBef>
            </a:pPr>
            <a:r>
              <a:rPr lang="ru-RU" sz="2000" dirty="0">
                <a:solidFill>
                  <a:schemeClr val="tx1"/>
                </a:solidFill>
                <a:latin typeface="Times New Roman" panose="02020603050405020304" pitchFamily="18" charset="0"/>
                <a:cs typeface="Times New Roman" panose="02020603050405020304" pitchFamily="18" charset="0"/>
              </a:rPr>
              <a:t>- внутренняя информация Общества, имеющая действительную или потенциальную коммерческую ценность для Общества в силу неизвестности третьим лицам;</a:t>
            </a:r>
          </a:p>
          <a:p>
            <a:pPr algn="just">
              <a:spcBef>
                <a:spcPts val="600"/>
              </a:spcBef>
            </a:pPr>
            <a:r>
              <a:rPr lang="ru-RU" sz="2000" dirty="0">
                <a:solidFill>
                  <a:schemeClr val="tx1"/>
                </a:solidFill>
                <a:latin typeface="Times New Roman" panose="02020603050405020304" pitchFamily="18" charset="0"/>
                <a:cs typeface="Times New Roman" panose="02020603050405020304" pitchFamily="18" charset="0"/>
              </a:rPr>
              <a:t>- сведения, которые не могут быть опубликованы в СМИ без ущерба для деятельности Общества;</a:t>
            </a:r>
          </a:p>
          <a:p>
            <a:pPr algn="just">
              <a:spcBef>
                <a:spcPts val="600"/>
              </a:spcBef>
            </a:pPr>
            <a:r>
              <a:rPr lang="ru-RU" sz="2000" dirty="0">
                <a:solidFill>
                  <a:schemeClr val="tx1"/>
                </a:solidFill>
                <a:latin typeface="Times New Roman" panose="02020603050405020304" pitchFamily="18" charset="0"/>
                <a:cs typeface="Times New Roman" panose="02020603050405020304" pitchFamily="18" charset="0"/>
              </a:rPr>
              <a:t>- сведения, оказывающие непосредственное влияние на нормальную работу Общества, процесс восстановления которых либо невозможен, либо связан с большими затратами. </a:t>
            </a:r>
          </a:p>
        </p:txBody>
      </p:sp>
      <p:pic>
        <p:nvPicPr>
          <p:cNvPr id="4" name="Рисунок 3">
            <a:extLst>
              <a:ext uri="{FF2B5EF4-FFF2-40B4-BE49-F238E27FC236}">
                <a16:creationId xmlns:a16="http://schemas.microsoft.com/office/drawing/2014/main" id="{F9D88696-8DB4-4F1C-BA3F-729F7AB9BF74}"/>
              </a:ext>
            </a:extLst>
          </p:cNvPr>
          <p:cNvPicPr>
            <a:picLocks noChangeAspect="1"/>
          </p:cNvPicPr>
          <p:nvPr/>
        </p:nvPicPr>
        <p:blipFill>
          <a:blip r:embed="rId7"/>
          <a:stretch>
            <a:fillRect/>
          </a:stretch>
        </p:blipFill>
        <p:spPr>
          <a:xfrm>
            <a:off x="3215680" y="3284985"/>
            <a:ext cx="5832648" cy="2924906"/>
          </a:xfrm>
          <a:prstGeom prst="rect">
            <a:avLst/>
          </a:prstGeom>
          <a:effectLst>
            <a:softEdge rad="127000"/>
          </a:effectLst>
        </p:spPr>
      </p:pic>
      <p:sp>
        <p:nvSpPr>
          <p:cNvPr id="12" name="Иконка  3">
            <a:extLst>
              <a:ext uri="{FF2B5EF4-FFF2-40B4-BE49-F238E27FC236}">
                <a16:creationId xmlns:a16="http://schemas.microsoft.com/office/drawing/2014/main" id="{C98B02C8-9A4E-42F0-9B16-616D752EA319}"/>
              </a:ext>
            </a:extLst>
          </p:cNvPr>
          <p:cNvSpPr>
            <a:spLocks noChangeAspect="1" noEditPoints="1"/>
          </p:cNvSpPr>
          <p:nvPr>
            <p:custDataLst>
              <p:tags r:id="rId3"/>
            </p:custDataLst>
          </p:nvPr>
        </p:nvSpPr>
        <p:spPr bwMode="auto">
          <a:xfrm>
            <a:off x="9689989" y="309136"/>
            <a:ext cx="218627" cy="244994"/>
          </a:xfrm>
          <a:custGeom>
            <a:avLst/>
            <a:gdLst>
              <a:gd name="T0" fmla="*/ 168 w 168"/>
              <a:gd name="T1" fmla="*/ 30 h 188"/>
              <a:gd name="T2" fmla="*/ 160 w 168"/>
              <a:gd name="T3" fmla="*/ 30 h 188"/>
              <a:gd name="T4" fmla="*/ 160 w 168"/>
              <a:gd name="T5" fmla="*/ 30 h 188"/>
              <a:gd name="T6" fmla="*/ 160 w 168"/>
              <a:gd name="T7" fmla="*/ 30 h 188"/>
              <a:gd name="T8" fmla="*/ 135 w 168"/>
              <a:gd name="T9" fmla="*/ 33 h 188"/>
              <a:gd name="T10" fmla="*/ 78 w 168"/>
              <a:gd name="T11" fmla="*/ 16 h 188"/>
              <a:gd name="T12" fmla="*/ 59 w 168"/>
              <a:gd name="T13" fmla="*/ 12 h 188"/>
              <a:gd name="T14" fmla="*/ 25 w 168"/>
              <a:gd name="T15" fmla="*/ 24 h 188"/>
              <a:gd name="T16" fmla="*/ 24 w 168"/>
              <a:gd name="T17" fmla="*/ 26 h 188"/>
              <a:gd name="T18" fmla="*/ 24 w 168"/>
              <a:gd name="T19" fmla="*/ 110 h 188"/>
              <a:gd name="T20" fmla="*/ 27 w 168"/>
              <a:gd name="T21" fmla="*/ 112 h 188"/>
              <a:gd name="T22" fmla="*/ 28 w 168"/>
              <a:gd name="T23" fmla="*/ 112 h 188"/>
              <a:gd name="T24" fmla="*/ 38 w 168"/>
              <a:gd name="T25" fmla="*/ 108 h 188"/>
              <a:gd name="T26" fmla="*/ 64 w 168"/>
              <a:gd name="T27" fmla="*/ 102 h 188"/>
              <a:gd name="T28" fmla="*/ 112 w 168"/>
              <a:gd name="T29" fmla="*/ 117 h 188"/>
              <a:gd name="T30" fmla="*/ 133 w 168"/>
              <a:gd name="T31" fmla="*/ 121 h 188"/>
              <a:gd name="T32" fmla="*/ 163 w 168"/>
              <a:gd name="T33" fmla="*/ 117 h 188"/>
              <a:gd name="T34" fmla="*/ 164 w 168"/>
              <a:gd name="T35" fmla="*/ 117 h 188"/>
              <a:gd name="T36" fmla="*/ 168 w 168"/>
              <a:gd name="T37" fmla="*/ 30 h 188"/>
              <a:gd name="T38" fmla="*/ 152 w 168"/>
              <a:gd name="T39" fmla="*/ 107 h 188"/>
              <a:gd name="T40" fmla="*/ 133 w 168"/>
              <a:gd name="T41" fmla="*/ 109 h 188"/>
              <a:gd name="T42" fmla="*/ 118 w 168"/>
              <a:gd name="T43" fmla="*/ 106 h 188"/>
              <a:gd name="T44" fmla="*/ 64 w 168"/>
              <a:gd name="T45" fmla="*/ 90 h 188"/>
              <a:gd name="T46" fmla="*/ 36 w 168"/>
              <a:gd name="T47" fmla="*/ 96 h 188"/>
              <a:gd name="T48" fmla="*/ 36 w 168"/>
              <a:gd name="T49" fmla="*/ 31 h 188"/>
              <a:gd name="T50" fmla="*/ 59 w 168"/>
              <a:gd name="T51" fmla="*/ 24 h 188"/>
              <a:gd name="T52" fmla="*/ 74 w 168"/>
              <a:gd name="T53" fmla="*/ 27 h 188"/>
              <a:gd name="T54" fmla="*/ 135 w 168"/>
              <a:gd name="T55" fmla="*/ 45 h 188"/>
              <a:gd name="T56" fmla="*/ 155 w 168"/>
              <a:gd name="T57" fmla="*/ 43 h 188"/>
              <a:gd name="T58" fmla="*/ 152 w 168"/>
              <a:gd name="T59" fmla="*/ 107 h 188"/>
              <a:gd name="T60" fmla="*/ 10 w 168"/>
              <a:gd name="T61" fmla="*/ 0 h 188"/>
              <a:gd name="T62" fmla="*/ 0 w 168"/>
              <a:gd name="T63" fmla="*/ 11 h 188"/>
              <a:gd name="T64" fmla="*/ 3 w 168"/>
              <a:gd name="T65" fmla="*/ 19 h 188"/>
              <a:gd name="T66" fmla="*/ 4 w 168"/>
              <a:gd name="T67" fmla="*/ 21 h 188"/>
              <a:gd name="T68" fmla="*/ 4 w 168"/>
              <a:gd name="T69" fmla="*/ 182 h 188"/>
              <a:gd name="T70" fmla="*/ 10 w 168"/>
              <a:gd name="T71" fmla="*/ 188 h 188"/>
              <a:gd name="T72" fmla="*/ 16 w 168"/>
              <a:gd name="T73" fmla="*/ 182 h 188"/>
              <a:gd name="T74" fmla="*/ 16 w 168"/>
              <a:gd name="T75" fmla="*/ 22 h 188"/>
              <a:gd name="T76" fmla="*/ 17 w 168"/>
              <a:gd name="T77" fmla="*/ 20 h 188"/>
              <a:gd name="T78" fmla="*/ 20 w 168"/>
              <a:gd name="T79" fmla="*/ 11 h 188"/>
              <a:gd name="T80" fmla="*/ 10 w 168"/>
              <a:gd name="T81"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8">
                <a:moveTo>
                  <a:pt x="168" y="30"/>
                </a:moveTo>
                <a:cubicBezTo>
                  <a:pt x="165" y="30"/>
                  <a:pt x="161" y="30"/>
                  <a:pt x="160" y="30"/>
                </a:cubicBezTo>
                <a:cubicBezTo>
                  <a:pt x="160" y="30"/>
                  <a:pt x="160" y="30"/>
                  <a:pt x="160" y="30"/>
                </a:cubicBezTo>
                <a:cubicBezTo>
                  <a:pt x="160" y="30"/>
                  <a:pt x="160" y="30"/>
                  <a:pt x="160" y="30"/>
                </a:cubicBezTo>
                <a:cubicBezTo>
                  <a:pt x="151" y="32"/>
                  <a:pt x="143" y="33"/>
                  <a:pt x="135" y="33"/>
                </a:cubicBezTo>
                <a:cubicBezTo>
                  <a:pt x="116" y="33"/>
                  <a:pt x="100" y="25"/>
                  <a:pt x="78" y="16"/>
                </a:cubicBezTo>
                <a:cubicBezTo>
                  <a:pt x="71" y="13"/>
                  <a:pt x="65" y="12"/>
                  <a:pt x="59" y="12"/>
                </a:cubicBezTo>
                <a:cubicBezTo>
                  <a:pt x="42" y="12"/>
                  <a:pt x="29" y="21"/>
                  <a:pt x="25" y="24"/>
                </a:cubicBezTo>
                <a:cubicBezTo>
                  <a:pt x="24" y="25"/>
                  <a:pt x="24" y="25"/>
                  <a:pt x="24" y="26"/>
                </a:cubicBezTo>
                <a:cubicBezTo>
                  <a:pt x="24" y="110"/>
                  <a:pt x="24" y="110"/>
                  <a:pt x="24" y="110"/>
                </a:cubicBezTo>
                <a:cubicBezTo>
                  <a:pt x="24" y="111"/>
                  <a:pt x="25" y="112"/>
                  <a:pt x="27" y="112"/>
                </a:cubicBezTo>
                <a:cubicBezTo>
                  <a:pt x="27" y="112"/>
                  <a:pt x="28" y="112"/>
                  <a:pt x="28" y="112"/>
                </a:cubicBezTo>
                <a:cubicBezTo>
                  <a:pt x="32" y="110"/>
                  <a:pt x="38" y="108"/>
                  <a:pt x="38" y="108"/>
                </a:cubicBezTo>
                <a:cubicBezTo>
                  <a:pt x="47" y="104"/>
                  <a:pt x="56" y="102"/>
                  <a:pt x="64" y="102"/>
                </a:cubicBezTo>
                <a:cubicBezTo>
                  <a:pt x="84" y="102"/>
                  <a:pt x="101" y="110"/>
                  <a:pt x="112" y="117"/>
                </a:cubicBezTo>
                <a:cubicBezTo>
                  <a:pt x="118" y="120"/>
                  <a:pt x="126" y="121"/>
                  <a:pt x="133" y="121"/>
                </a:cubicBezTo>
                <a:cubicBezTo>
                  <a:pt x="146" y="121"/>
                  <a:pt x="159" y="118"/>
                  <a:pt x="163" y="117"/>
                </a:cubicBezTo>
                <a:cubicBezTo>
                  <a:pt x="164" y="117"/>
                  <a:pt x="164" y="117"/>
                  <a:pt x="164" y="117"/>
                </a:cubicBezTo>
                <a:cubicBezTo>
                  <a:pt x="168" y="30"/>
                  <a:pt x="168" y="30"/>
                  <a:pt x="168" y="30"/>
                </a:cubicBezTo>
                <a:close/>
                <a:moveTo>
                  <a:pt x="152" y="107"/>
                </a:moveTo>
                <a:cubicBezTo>
                  <a:pt x="147" y="108"/>
                  <a:pt x="140" y="109"/>
                  <a:pt x="133" y="109"/>
                </a:cubicBezTo>
                <a:cubicBezTo>
                  <a:pt x="127" y="109"/>
                  <a:pt x="122" y="108"/>
                  <a:pt x="118" y="106"/>
                </a:cubicBezTo>
                <a:cubicBezTo>
                  <a:pt x="99" y="95"/>
                  <a:pt x="81" y="90"/>
                  <a:pt x="64" y="90"/>
                </a:cubicBezTo>
                <a:cubicBezTo>
                  <a:pt x="54" y="90"/>
                  <a:pt x="45" y="92"/>
                  <a:pt x="36" y="96"/>
                </a:cubicBezTo>
                <a:cubicBezTo>
                  <a:pt x="36" y="31"/>
                  <a:pt x="36" y="31"/>
                  <a:pt x="36" y="31"/>
                </a:cubicBezTo>
                <a:cubicBezTo>
                  <a:pt x="41" y="28"/>
                  <a:pt x="49" y="24"/>
                  <a:pt x="59" y="24"/>
                </a:cubicBezTo>
                <a:cubicBezTo>
                  <a:pt x="64" y="24"/>
                  <a:pt x="69" y="25"/>
                  <a:pt x="74" y="27"/>
                </a:cubicBezTo>
                <a:cubicBezTo>
                  <a:pt x="95" y="36"/>
                  <a:pt x="114" y="45"/>
                  <a:pt x="135" y="45"/>
                </a:cubicBezTo>
                <a:cubicBezTo>
                  <a:pt x="142" y="45"/>
                  <a:pt x="148" y="44"/>
                  <a:pt x="155" y="43"/>
                </a:cubicBezTo>
                <a:lnTo>
                  <a:pt x="152" y="107"/>
                </a:lnTo>
                <a:close/>
                <a:moveTo>
                  <a:pt x="10" y="0"/>
                </a:moveTo>
                <a:cubicBezTo>
                  <a:pt x="4" y="0"/>
                  <a:pt x="0" y="5"/>
                  <a:pt x="0" y="11"/>
                </a:cubicBezTo>
                <a:cubicBezTo>
                  <a:pt x="0" y="15"/>
                  <a:pt x="1" y="17"/>
                  <a:pt x="3" y="19"/>
                </a:cubicBezTo>
                <a:cubicBezTo>
                  <a:pt x="4" y="20"/>
                  <a:pt x="4" y="21"/>
                  <a:pt x="4" y="21"/>
                </a:cubicBezTo>
                <a:cubicBezTo>
                  <a:pt x="4" y="182"/>
                  <a:pt x="4" y="182"/>
                  <a:pt x="4" y="182"/>
                </a:cubicBezTo>
                <a:cubicBezTo>
                  <a:pt x="4" y="185"/>
                  <a:pt x="7" y="188"/>
                  <a:pt x="10" y="188"/>
                </a:cubicBezTo>
                <a:cubicBezTo>
                  <a:pt x="13" y="188"/>
                  <a:pt x="16" y="185"/>
                  <a:pt x="16" y="182"/>
                </a:cubicBezTo>
                <a:cubicBezTo>
                  <a:pt x="16" y="22"/>
                  <a:pt x="16" y="22"/>
                  <a:pt x="16" y="22"/>
                </a:cubicBezTo>
                <a:cubicBezTo>
                  <a:pt x="16" y="21"/>
                  <a:pt x="16" y="20"/>
                  <a:pt x="17" y="20"/>
                </a:cubicBezTo>
                <a:cubicBezTo>
                  <a:pt x="19" y="18"/>
                  <a:pt x="20" y="15"/>
                  <a:pt x="20" y="11"/>
                </a:cubicBezTo>
                <a:cubicBezTo>
                  <a:pt x="20" y="4"/>
                  <a:pt x="16" y="0"/>
                  <a:pt x="10"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ru-RU" sz="1350" dirty="0"/>
          </a:p>
        </p:txBody>
      </p:sp>
    </p:spTree>
    <p:custDataLst>
      <p:tags r:id="rId1"/>
    </p:custDataLst>
    <p:extLst>
      <p:ext uri="{BB962C8B-B14F-4D97-AF65-F5344CB8AC3E}">
        <p14:creationId xmlns:p14="http://schemas.microsoft.com/office/powerpoint/2010/main" val="10011365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1250"/>
                                        <p:tgtEl>
                                          <p:spTgt spid="11">
                                            <p:txEl>
                                              <p:pRg st="0" end="0"/>
                                            </p:txEl>
                                          </p:spTgt>
                                        </p:tgtEl>
                                      </p:cBhvr>
                                    </p:animEffect>
                                  </p:childTnLst>
                                </p:cTn>
                              </p:par>
                            </p:childTnLst>
                          </p:cTn>
                        </p:par>
                        <p:par>
                          <p:cTn id="8" fill="hold">
                            <p:stCondLst>
                              <p:cond delay="1250"/>
                            </p:stCondLst>
                            <p:childTnLst>
                              <p:par>
                                <p:cTn id="9" presetID="22" presetClass="entr" presetSubtype="8"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wipe(left)">
                                      <p:cBhvr>
                                        <p:cTn id="11" dur="1250"/>
                                        <p:tgtEl>
                                          <p:spTgt spid="11">
                                            <p:txEl>
                                              <p:pRg st="1" end="1"/>
                                            </p:txEl>
                                          </p:spTgt>
                                        </p:tgtEl>
                                      </p:cBhvr>
                                    </p:animEffect>
                                  </p:childTnLst>
                                </p:cTn>
                              </p:par>
                            </p:childTnLst>
                          </p:cTn>
                        </p:par>
                        <p:par>
                          <p:cTn id="12" fill="hold">
                            <p:stCondLst>
                              <p:cond delay="2500"/>
                            </p:stCondLst>
                            <p:childTnLst>
                              <p:par>
                                <p:cTn id="13" presetID="22" presetClass="entr" presetSubtype="8"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wipe(left)">
                                      <p:cBhvr>
                                        <p:cTn id="15" dur="1250"/>
                                        <p:tgtEl>
                                          <p:spTgt spid="11">
                                            <p:txEl>
                                              <p:pRg st="2" end="2"/>
                                            </p:txEl>
                                          </p:spTgt>
                                        </p:tgtEl>
                                      </p:cBhvr>
                                    </p:animEffect>
                                  </p:childTnLst>
                                </p:cTn>
                              </p:par>
                              <p:par>
                                <p:cTn id="16" presetID="42"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15778" y="404595"/>
            <a:ext cx="2512870"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4"/>
          <a:stretch>
            <a:fillRect/>
          </a:stretch>
        </p:blipFill>
        <p:spPr>
          <a:xfrm>
            <a:off x="360436" y="6448336"/>
            <a:ext cx="1390008" cy="268247"/>
          </a:xfrm>
          <a:prstGeom prst="rect">
            <a:avLst/>
          </a:prstGeom>
        </p:spPr>
      </p:pic>
      <p:sp>
        <p:nvSpPr>
          <p:cNvPr id="7" name="Заголовок 1">
            <a:extLst>
              <a:ext uri="{FF2B5EF4-FFF2-40B4-BE49-F238E27FC236}">
                <a16:creationId xmlns:a16="http://schemas.microsoft.com/office/drawing/2014/main" id="{F344905D-E903-406D-957B-253FF9F968FB}"/>
              </a:ext>
            </a:extLst>
          </p:cNvPr>
          <p:cNvSpPr>
            <a:spLocks noGrp="1"/>
          </p:cNvSpPr>
          <p:nvPr>
            <p:ph type="title"/>
          </p:nvPr>
        </p:nvSpPr>
        <p:spPr>
          <a:xfrm>
            <a:off x="2963652" y="229603"/>
            <a:ext cx="6840760" cy="717845"/>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Охрана конфиденциальности информации</a:t>
            </a:r>
          </a:p>
        </p:txBody>
      </p:sp>
      <p:sp>
        <p:nvSpPr>
          <p:cNvPr id="9" name="Объект 2">
            <a:extLst>
              <a:ext uri="{FF2B5EF4-FFF2-40B4-BE49-F238E27FC236}">
                <a16:creationId xmlns:a16="http://schemas.microsoft.com/office/drawing/2014/main" id="{A87FBDDF-7ED6-43EA-AD18-214CE6890B74}"/>
              </a:ext>
            </a:extLst>
          </p:cNvPr>
          <p:cNvSpPr>
            <a:spLocks noGrp="1"/>
          </p:cNvSpPr>
          <p:nvPr>
            <p:ph idx="1"/>
          </p:nvPr>
        </p:nvSpPr>
        <p:spPr>
          <a:xfrm>
            <a:off x="1055440" y="1071183"/>
            <a:ext cx="10801200" cy="5326433"/>
          </a:xfrm>
        </p:spPr>
        <p:txBody>
          <a:bodyPr>
            <a:normAutofit/>
          </a:bodyPr>
          <a:lstStyle/>
          <a:p>
            <a:pPr marL="0" indent="0" algn="just">
              <a:spcBef>
                <a:spcPts val="600"/>
              </a:spcBef>
              <a:buNone/>
            </a:pPr>
            <a:r>
              <a:rPr lang="ru-RU" sz="2000" dirty="0">
                <a:latin typeface="Times New Roman" panose="02020603050405020304" pitchFamily="18" charset="0"/>
                <a:cs typeface="Times New Roman" panose="02020603050405020304" pitchFamily="18" charset="0"/>
              </a:rPr>
              <a:t>Обществом принимаются меры, направленные на охрану КИ и КТ.</a:t>
            </a:r>
          </a:p>
          <a:p>
            <a:pPr marL="0" indent="0" algn="just">
              <a:spcBef>
                <a:spcPts val="600"/>
              </a:spcBef>
              <a:buNone/>
            </a:pPr>
            <a:r>
              <a:rPr lang="ru-RU" sz="2000" dirty="0">
                <a:latin typeface="Times New Roman" panose="02020603050405020304" pitchFamily="18" charset="0"/>
                <a:cs typeface="Times New Roman" panose="02020603050405020304" pitchFamily="18" charset="0"/>
              </a:rPr>
              <a:t>Работники, имеющие доступ к КИ и КТ, в обязательном порядке знакомятся с Порядком обращения с информацией каждого типа под подпись.</a:t>
            </a:r>
          </a:p>
          <a:p>
            <a:pPr marL="0" indent="0" algn="just">
              <a:spcBef>
                <a:spcPts val="600"/>
              </a:spcBef>
              <a:buNone/>
            </a:pPr>
            <a:r>
              <a:rPr lang="ru-RU" sz="2000" dirty="0">
                <a:latin typeface="Times New Roman" panose="02020603050405020304" pitchFamily="18" charset="0"/>
                <a:cs typeface="Times New Roman" panose="02020603050405020304" pitchFamily="18" charset="0"/>
              </a:rPr>
              <a:t>Доступ к КТ работников, должность и подразделения которых не соответствуют перечню, указанному в Порядке,  производится на основании аргументированной служебной записки владельца информации и только по приказу генерального директора или уполномоченного лица Общества, путем внесения изменений в данный Порядок. </a:t>
            </a:r>
          </a:p>
          <a:p>
            <a:pPr marL="0" indent="0" algn="just">
              <a:spcBef>
                <a:spcPts val="600"/>
              </a:spcBef>
              <a:buNone/>
            </a:pPr>
            <a:endParaRPr lang="ru-RU" sz="2000" dirty="0">
              <a:latin typeface="Times New Roman" panose="02020603050405020304" pitchFamily="18" charset="0"/>
              <a:cs typeface="Times New Roman" panose="02020603050405020304" pitchFamily="18" charset="0"/>
            </a:endParaRPr>
          </a:p>
          <a:p>
            <a:pPr marL="0" indent="0" algn="just">
              <a:spcBef>
                <a:spcPts val="600"/>
              </a:spcBef>
              <a:buNone/>
            </a:pPr>
            <a:r>
              <a:rPr lang="ru-RU" sz="2000" dirty="0">
                <a:latin typeface="Times New Roman" panose="02020603050405020304" pitchFamily="18" charset="0"/>
                <a:cs typeface="Times New Roman" panose="02020603050405020304" pitchFamily="18" charset="0"/>
              </a:rPr>
              <a:t>Работник, имеющий доступ к информации, составляющей КТ, обязан:</a:t>
            </a:r>
          </a:p>
          <a:p>
            <a:pPr marL="0" indent="0" algn="just">
              <a:spcBef>
                <a:spcPts val="600"/>
              </a:spcBef>
              <a:buNone/>
            </a:pPr>
            <a:r>
              <a:rPr lang="ru-RU" sz="2000" dirty="0">
                <a:latin typeface="Times New Roman" panose="02020603050405020304" pitchFamily="18" charset="0"/>
                <a:cs typeface="Times New Roman" panose="02020603050405020304" pitchFamily="18" charset="0"/>
              </a:rPr>
              <a:t>- не разглашать и не использовать информацию в личных целях в течение всего строка действия режима КТ, в том числе после прекращения действия трудового договора;</a:t>
            </a:r>
          </a:p>
          <a:p>
            <a:pPr marL="0" indent="0" algn="just">
              <a:spcBef>
                <a:spcPts val="600"/>
              </a:spcBef>
              <a:buNone/>
            </a:pPr>
            <a:r>
              <a:rPr lang="ru-RU" sz="2000" dirty="0">
                <a:latin typeface="Times New Roman" panose="02020603050405020304" pitchFamily="18" charset="0"/>
                <a:cs typeface="Times New Roman" panose="02020603050405020304" pitchFamily="18" charset="0"/>
              </a:rPr>
              <a:t>- возместить причиненные Обществу убытки, причиненных ему разглашением информации, составляющих КТ;</a:t>
            </a:r>
          </a:p>
          <a:p>
            <a:pPr marL="0" indent="0" algn="just">
              <a:spcBef>
                <a:spcPts val="600"/>
              </a:spcBef>
              <a:buFontTx/>
              <a:buChar char="-"/>
            </a:pPr>
            <a:r>
              <a:rPr lang="ru-RU" sz="2000" dirty="0">
                <a:latin typeface="Times New Roman" panose="02020603050405020304" pitchFamily="18" charset="0"/>
                <a:cs typeface="Times New Roman" panose="02020603050405020304" pitchFamily="18" charset="0"/>
              </a:rPr>
              <a:t> передать при прекращении или расторжении трудового договора носители информации, составляющую КТ.</a:t>
            </a:r>
          </a:p>
        </p:txBody>
      </p:sp>
    </p:spTree>
    <p:custDataLst>
      <p:tags r:id="rId1"/>
    </p:custDataLst>
    <p:extLst>
      <p:ext uri="{BB962C8B-B14F-4D97-AF65-F5344CB8AC3E}">
        <p14:creationId xmlns:p14="http://schemas.microsoft.com/office/powerpoint/2010/main" val="17721428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250"/>
                                        <p:tgtEl>
                                          <p:spTgt spid="9">
                                            <p:txEl>
                                              <p:pRg st="0" end="0"/>
                                            </p:txEl>
                                          </p:spTgt>
                                        </p:tgtEl>
                                      </p:cBhvr>
                                    </p:animEffect>
                                    <p:anim calcmode="lin" valueType="num">
                                      <p:cBhvr>
                                        <p:cTn id="8" dur="125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25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42" presetClass="entr" presetSubtype="0" fill="hold" grpId="0" nodeType="after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1250"/>
                                        <p:tgtEl>
                                          <p:spTgt spid="9">
                                            <p:txEl>
                                              <p:pRg st="1" end="1"/>
                                            </p:txEl>
                                          </p:spTgt>
                                        </p:tgtEl>
                                      </p:cBhvr>
                                    </p:animEffect>
                                    <p:anim calcmode="lin" valueType="num">
                                      <p:cBhvr>
                                        <p:cTn id="14" dur="125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5" dur="125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500"/>
                            </p:stCondLst>
                            <p:childTnLst>
                              <p:par>
                                <p:cTn id="17" presetID="42" presetClass="entr" presetSubtype="0" fill="hold" grpId="0" nodeType="after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250"/>
                                        <p:tgtEl>
                                          <p:spTgt spid="9">
                                            <p:txEl>
                                              <p:pRg st="2" end="2"/>
                                            </p:txEl>
                                          </p:spTgt>
                                        </p:tgtEl>
                                      </p:cBhvr>
                                    </p:animEffect>
                                    <p:anim calcmode="lin" valueType="num">
                                      <p:cBhvr>
                                        <p:cTn id="20" dur="125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25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750"/>
                            </p:stCondLst>
                            <p:childTnLst>
                              <p:par>
                                <p:cTn id="23" presetID="42" presetClass="entr" presetSubtype="0" fill="hold" grpId="0" nodeType="after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Effect transition="in" filter="fade">
                                      <p:cBhvr>
                                        <p:cTn id="25" dur="1250"/>
                                        <p:tgtEl>
                                          <p:spTgt spid="9">
                                            <p:txEl>
                                              <p:pRg st="4" end="4"/>
                                            </p:txEl>
                                          </p:spTgt>
                                        </p:tgtEl>
                                      </p:cBhvr>
                                    </p:animEffect>
                                    <p:anim calcmode="lin" valueType="num">
                                      <p:cBhvr>
                                        <p:cTn id="26" dur="125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7" dur="125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par>
                          <p:cTn id="28" fill="hold">
                            <p:stCondLst>
                              <p:cond delay="5000"/>
                            </p:stCondLst>
                            <p:childTnLst>
                              <p:par>
                                <p:cTn id="29" presetID="42" presetClass="entr" presetSubtype="0" fill="hold" grpId="0" nodeType="after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Effect transition="in" filter="fade">
                                      <p:cBhvr>
                                        <p:cTn id="31" dur="1250"/>
                                        <p:tgtEl>
                                          <p:spTgt spid="9">
                                            <p:txEl>
                                              <p:pRg st="5" end="5"/>
                                            </p:txEl>
                                          </p:spTgt>
                                        </p:tgtEl>
                                      </p:cBhvr>
                                    </p:animEffect>
                                    <p:anim calcmode="lin" valueType="num">
                                      <p:cBhvr>
                                        <p:cTn id="32" dur="125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3" dur="125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par>
                          <p:cTn id="34" fill="hold">
                            <p:stCondLst>
                              <p:cond delay="6250"/>
                            </p:stCondLst>
                            <p:childTnLst>
                              <p:par>
                                <p:cTn id="35" presetID="42" presetClass="entr" presetSubtype="0" fill="hold" grpId="0" nodeType="after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1250"/>
                                        <p:tgtEl>
                                          <p:spTgt spid="9">
                                            <p:txEl>
                                              <p:pRg st="6" end="6"/>
                                            </p:txEl>
                                          </p:spTgt>
                                        </p:tgtEl>
                                      </p:cBhvr>
                                    </p:animEffect>
                                    <p:anim calcmode="lin" valueType="num">
                                      <p:cBhvr>
                                        <p:cTn id="38" dur="125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9" dur="125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par>
                          <p:cTn id="40" fill="hold">
                            <p:stCondLst>
                              <p:cond delay="7500"/>
                            </p:stCondLst>
                            <p:childTnLst>
                              <p:par>
                                <p:cTn id="41" presetID="42" presetClass="entr" presetSubtype="0" fill="hold" grpId="0" nodeType="after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1250"/>
                                        <p:tgtEl>
                                          <p:spTgt spid="9">
                                            <p:txEl>
                                              <p:pRg st="7" end="7"/>
                                            </p:txEl>
                                          </p:spTgt>
                                        </p:tgtEl>
                                      </p:cBhvr>
                                    </p:animEffect>
                                    <p:anim calcmode="lin" valueType="num">
                                      <p:cBhvr>
                                        <p:cTn id="44" dur="125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45" dur="125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80376" y="365585"/>
            <a:ext cx="2520280"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4"/>
          <a:stretch>
            <a:fillRect/>
          </a:stretch>
        </p:blipFill>
        <p:spPr>
          <a:xfrm>
            <a:off x="360766" y="6453336"/>
            <a:ext cx="1390008" cy="268247"/>
          </a:xfrm>
          <a:prstGeom prst="rect">
            <a:avLst/>
          </a:prstGeom>
        </p:spPr>
      </p:pic>
      <p:sp>
        <p:nvSpPr>
          <p:cNvPr id="7" name="Заголовок 1">
            <a:extLst>
              <a:ext uri="{FF2B5EF4-FFF2-40B4-BE49-F238E27FC236}">
                <a16:creationId xmlns:a16="http://schemas.microsoft.com/office/drawing/2014/main" id="{F344905D-E903-406D-957B-253FF9F968FB}"/>
              </a:ext>
            </a:extLst>
          </p:cNvPr>
          <p:cNvSpPr>
            <a:spLocks noGrp="1"/>
          </p:cNvSpPr>
          <p:nvPr>
            <p:ph type="title"/>
          </p:nvPr>
        </p:nvSpPr>
        <p:spPr>
          <a:xfrm>
            <a:off x="2963652" y="229603"/>
            <a:ext cx="6840760" cy="717845"/>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Защита конфиденциальности информации</a:t>
            </a:r>
          </a:p>
        </p:txBody>
      </p:sp>
      <p:sp>
        <p:nvSpPr>
          <p:cNvPr id="9" name="Объект 2">
            <a:extLst>
              <a:ext uri="{FF2B5EF4-FFF2-40B4-BE49-F238E27FC236}">
                <a16:creationId xmlns:a16="http://schemas.microsoft.com/office/drawing/2014/main" id="{A87FBDDF-7ED6-43EA-AD18-214CE6890B74}"/>
              </a:ext>
            </a:extLst>
          </p:cNvPr>
          <p:cNvSpPr>
            <a:spLocks noGrp="1"/>
          </p:cNvSpPr>
          <p:nvPr>
            <p:ph idx="1"/>
          </p:nvPr>
        </p:nvSpPr>
        <p:spPr>
          <a:xfrm>
            <a:off x="1055440" y="1076188"/>
            <a:ext cx="10801200" cy="4015010"/>
          </a:xfrm>
        </p:spPr>
        <p:txBody>
          <a:bodyPr>
            <a:normAutofit/>
          </a:bodyPr>
          <a:lstStyle/>
          <a:p>
            <a:pPr marL="0" indent="0" algn="just">
              <a:spcBef>
                <a:spcPts val="600"/>
              </a:spcBef>
              <a:buNone/>
            </a:pPr>
            <a:r>
              <a:rPr lang="ru-RU" sz="2000" dirty="0">
                <a:latin typeface="Times New Roman" panose="02020603050405020304" pitchFamily="18" charset="0"/>
                <a:cs typeface="Times New Roman" panose="02020603050405020304" pitchFamily="18" charset="0"/>
              </a:rPr>
              <a:t>В случае посещения объектов Общества представителями сторонних организаций ответственное лицо может знакомить посетителей только с конкретной информацией и объектами, которые определены генеральным директором или уполномоченным лицом Общества.</a:t>
            </a:r>
          </a:p>
          <a:p>
            <a:pPr marL="0" indent="0" algn="just">
              <a:spcBef>
                <a:spcPts val="600"/>
              </a:spcBef>
              <a:buNone/>
            </a:pPr>
            <a:endParaRPr lang="ru-RU" sz="2000" i="1" dirty="0">
              <a:latin typeface="Times New Roman" panose="02020603050405020304" pitchFamily="18" charset="0"/>
              <a:cs typeface="Times New Roman" panose="02020603050405020304" pitchFamily="18" charset="0"/>
            </a:endParaRPr>
          </a:p>
          <a:p>
            <a:pPr marL="0" indent="0" algn="just">
              <a:spcBef>
                <a:spcPts val="600"/>
              </a:spcBef>
              <a:buNone/>
            </a:pPr>
            <a:r>
              <a:rPr lang="ru-RU" sz="2000" dirty="0">
                <a:latin typeface="Times New Roman" panose="02020603050405020304" pitchFamily="18" charset="0"/>
                <a:cs typeface="Times New Roman" panose="02020603050405020304" pitchFamily="18" charset="0"/>
              </a:rPr>
              <a:t>Ознакомление с информацией, проведение осмотров, фото-, видеосъемок документов, объектов (процессов), отнесенных к КТ, возможно только после получения разрешения генерального директора или уполномоченного лица Общества и подписания «Обязательства о соблюдении КТ посетителями объектов».</a:t>
            </a:r>
            <a:r>
              <a:rPr lang="ru-RU" sz="2000" i="1" kern="0" spc="-20" dirty="0">
                <a:latin typeface="Times New Roman" panose="02020603050405020304" pitchFamily="18" charset="0"/>
                <a:cs typeface="Times New Roman" panose="02020603050405020304" pitchFamily="18" charset="0"/>
              </a:rPr>
              <a:t> </a:t>
            </a:r>
          </a:p>
          <a:p>
            <a:pPr marL="0" indent="0" algn="ctr">
              <a:spcBef>
                <a:spcPts val="600"/>
              </a:spcBef>
              <a:buNone/>
            </a:pPr>
            <a:r>
              <a:rPr lang="ru-RU" sz="1600" i="1" kern="0" spc="-20" dirty="0">
                <a:latin typeface="Times New Roman" panose="02020603050405020304" pitchFamily="18" charset="0"/>
                <a:cs typeface="Times New Roman" panose="02020603050405020304" pitchFamily="18" charset="0"/>
              </a:rPr>
              <a:t>Форма Обязательства размещена в Положении о коммерческой тайне и конфиденциальной информации </a:t>
            </a:r>
            <a:endParaRPr lang="en-US" sz="1600" i="1" kern="0" spc="-20" dirty="0">
              <a:latin typeface="Times New Roman" panose="02020603050405020304" pitchFamily="18" charset="0"/>
              <a:cs typeface="Times New Roman" panose="02020603050405020304" pitchFamily="18" charset="0"/>
            </a:endParaRPr>
          </a:p>
          <a:p>
            <a:pPr marL="0" indent="0" algn="ctr">
              <a:spcBef>
                <a:spcPts val="600"/>
              </a:spcBef>
              <a:buNone/>
            </a:pPr>
            <a:r>
              <a:rPr lang="ru-RU" sz="1600" i="1" kern="0" spc="-20" dirty="0">
                <a:latin typeface="Times New Roman" panose="02020603050405020304" pitchFamily="18" charset="0"/>
                <a:cs typeface="Times New Roman" panose="02020603050405020304" pitchFamily="18" charset="0"/>
              </a:rPr>
              <a:t>(Приложение № 4)</a:t>
            </a:r>
          </a:p>
          <a:p>
            <a:pPr marL="0" indent="0" algn="just">
              <a:spcBef>
                <a:spcPts val="0"/>
              </a:spcBef>
              <a:buNone/>
            </a:pPr>
            <a:endParaRPr lang="ru-RU" sz="2000" dirty="0">
              <a:latin typeface="Times New Roman" panose="02020603050405020304" pitchFamily="18" charset="0"/>
              <a:cs typeface="Times New Roman" panose="02020603050405020304" pitchFamily="18" charset="0"/>
            </a:endParaRPr>
          </a:p>
          <a:p>
            <a:pPr marL="0" indent="0" algn="just">
              <a:spcBef>
                <a:spcPts val="0"/>
              </a:spcBef>
              <a:buNone/>
            </a:pPr>
            <a:endParaRPr lang="ru-RU" sz="2000" i="1" dirty="0">
              <a:solidFill>
                <a:srgbClr val="FF0000"/>
              </a:solidFill>
              <a:latin typeface="Times New Roman" panose="02020603050405020304" pitchFamily="18" charset="0"/>
              <a:cs typeface="Times New Roman" panose="02020603050405020304" pitchFamily="18" charset="0"/>
            </a:endParaRPr>
          </a:p>
        </p:txBody>
      </p:sp>
      <p:pic>
        <p:nvPicPr>
          <p:cNvPr id="3" name="Рисунок 2">
            <a:extLst>
              <a:ext uri="{FF2B5EF4-FFF2-40B4-BE49-F238E27FC236}">
                <a16:creationId xmlns:a16="http://schemas.microsoft.com/office/drawing/2014/main" id="{32782698-2162-45B5-A351-723080AFAAE8}"/>
              </a:ext>
            </a:extLst>
          </p:cNvPr>
          <p:cNvPicPr>
            <a:picLocks noChangeAspect="1"/>
          </p:cNvPicPr>
          <p:nvPr/>
        </p:nvPicPr>
        <p:blipFill>
          <a:blip r:embed="rId5"/>
          <a:stretch>
            <a:fillRect/>
          </a:stretch>
        </p:blipFill>
        <p:spPr>
          <a:xfrm>
            <a:off x="3503712" y="4176811"/>
            <a:ext cx="6211619" cy="2261984"/>
          </a:xfrm>
          <a:prstGeom prst="rect">
            <a:avLst/>
          </a:prstGeom>
          <a:effectLst>
            <a:softEdge rad="317500"/>
          </a:effectLst>
        </p:spPr>
      </p:pic>
    </p:spTree>
    <p:custDataLst>
      <p:tags r:id="rId1"/>
    </p:custDataLst>
    <p:extLst>
      <p:ext uri="{BB962C8B-B14F-4D97-AF65-F5344CB8AC3E}">
        <p14:creationId xmlns:p14="http://schemas.microsoft.com/office/powerpoint/2010/main" val="33064640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250"/>
                                        <p:tgtEl>
                                          <p:spTgt spid="9">
                                            <p:txEl>
                                              <p:pRg st="0" end="0"/>
                                            </p:txEl>
                                          </p:spTgt>
                                        </p:tgtEl>
                                      </p:cBhvr>
                                    </p:animEffect>
                                    <p:anim calcmode="lin" valueType="num">
                                      <p:cBhvr>
                                        <p:cTn id="8" dur="125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25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42" presetClass="entr" presetSubtype="0" fill="hold" grpId="0" nodeType="after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1250"/>
                                        <p:tgtEl>
                                          <p:spTgt spid="9">
                                            <p:txEl>
                                              <p:pRg st="2" end="2"/>
                                            </p:txEl>
                                          </p:spTgt>
                                        </p:tgtEl>
                                      </p:cBhvr>
                                    </p:animEffect>
                                    <p:anim calcmode="lin" valueType="num">
                                      <p:cBhvr>
                                        <p:cTn id="14" dur="125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5" dur="125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500"/>
                            </p:stCondLst>
                            <p:childTnLst>
                              <p:par>
                                <p:cTn id="17" presetID="42" presetClass="entr" presetSubtype="0" fill="hold" grpId="0" nodeType="after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fade">
                                      <p:cBhvr>
                                        <p:cTn id="19" dur="1000"/>
                                        <p:tgtEl>
                                          <p:spTgt spid="9">
                                            <p:txEl>
                                              <p:pRg st="3" end="3"/>
                                            </p:txEl>
                                          </p:spTgt>
                                        </p:tgtEl>
                                      </p:cBhvr>
                                    </p:animEffect>
                                    <p:anim calcmode="lin" valueType="num">
                                      <p:cBhvr>
                                        <p:cTn id="20"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par>
                          <p:cTn id="22" fill="hold">
                            <p:stCondLst>
                              <p:cond delay="3500"/>
                            </p:stCondLst>
                            <p:childTnLst>
                              <p:par>
                                <p:cTn id="23" presetID="42" presetClass="entr" presetSubtype="0" fill="hold" grpId="0" nodeType="after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Effect transition="in" filter="fade">
                                      <p:cBhvr>
                                        <p:cTn id="25" dur="1000"/>
                                        <p:tgtEl>
                                          <p:spTgt spid="9">
                                            <p:txEl>
                                              <p:pRg st="4" end="4"/>
                                            </p:txEl>
                                          </p:spTgt>
                                        </p:tgtEl>
                                      </p:cBhvr>
                                    </p:animEffect>
                                    <p:anim calcmode="lin" valueType="num">
                                      <p:cBhvr>
                                        <p:cTn id="26"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0"/>
                                        <p:tgtEl>
                                          <p:spTgt spid="3"/>
                                        </p:tgtEl>
                                      </p:cBhvr>
                                    </p:animEffect>
                                    <p:anim calcmode="lin" valueType="num">
                                      <p:cBhvr>
                                        <p:cTn id="31" dur="1000" fill="hold"/>
                                        <p:tgtEl>
                                          <p:spTgt spid="3"/>
                                        </p:tgtEl>
                                        <p:attrNameLst>
                                          <p:attrName>ppt_x</p:attrName>
                                        </p:attrNameLst>
                                      </p:cBhvr>
                                      <p:tavLst>
                                        <p:tav tm="0">
                                          <p:val>
                                            <p:strVal val="#ppt_x"/>
                                          </p:val>
                                        </p:tav>
                                        <p:tav tm="100000">
                                          <p:val>
                                            <p:strVal val="#ppt_x"/>
                                          </p:val>
                                        </p:tav>
                                      </p:tavLst>
                                    </p:anim>
                                    <p:anim calcmode="lin" valueType="num">
                                      <p:cBhvr>
                                        <p:cTn id="3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79626" y="371672"/>
            <a:ext cx="2449021"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4"/>
          <a:stretch>
            <a:fillRect/>
          </a:stretch>
        </p:blipFill>
        <p:spPr>
          <a:xfrm>
            <a:off x="335360" y="6453336"/>
            <a:ext cx="1390008" cy="268247"/>
          </a:xfrm>
          <a:prstGeom prst="rect">
            <a:avLst/>
          </a:prstGeom>
        </p:spPr>
      </p:pic>
      <p:sp>
        <p:nvSpPr>
          <p:cNvPr id="7" name="Заголовок 1">
            <a:extLst>
              <a:ext uri="{FF2B5EF4-FFF2-40B4-BE49-F238E27FC236}">
                <a16:creationId xmlns:a16="http://schemas.microsoft.com/office/drawing/2014/main" id="{F344905D-E903-406D-957B-253FF9F968FB}"/>
              </a:ext>
            </a:extLst>
          </p:cNvPr>
          <p:cNvSpPr>
            <a:spLocks noGrp="1"/>
          </p:cNvSpPr>
          <p:nvPr>
            <p:ph type="title"/>
          </p:nvPr>
        </p:nvSpPr>
        <p:spPr>
          <a:xfrm>
            <a:off x="3071663" y="239517"/>
            <a:ext cx="6768752" cy="536273"/>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Передача конфиденциальной информации</a:t>
            </a:r>
          </a:p>
        </p:txBody>
      </p:sp>
      <p:sp>
        <p:nvSpPr>
          <p:cNvPr id="9" name="Объект 2">
            <a:extLst>
              <a:ext uri="{FF2B5EF4-FFF2-40B4-BE49-F238E27FC236}">
                <a16:creationId xmlns:a16="http://schemas.microsoft.com/office/drawing/2014/main" id="{A87FBDDF-7ED6-43EA-AD18-214CE6890B74}"/>
              </a:ext>
            </a:extLst>
          </p:cNvPr>
          <p:cNvSpPr>
            <a:spLocks noGrp="1"/>
          </p:cNvSpPr>
          <p:nvPr>
            <p:ph idx="1"/>
          </p:nvPr>
        </p:nvSpPr>
        <p:spPr>
          <a:xfrm>
            <a:off x="2495599" y="1500166"/>
            <a:ext cx="7920880" cy="2332856"/>
          </a:xfrm>
        </p:spPr>
        <p:txBody>
          <a:bodyPr/>
          <a:lstStyle/>
          <a:p>
            <a:pPr marL="0" indent="0" algn="just">
              <a:buNone/>
            </a:pPr>
            <a:r>
              <a:rPr lang="ru-RU" sz="2400" dirty="0">
                <a:latin typeface="Times New Roman" panose="02020603050405020304" pitchFamily="18" charset="0"/>
                <a:cs typeface="Times New Roman" panose="02020603050405020304" pitchFamily="18" charset="0"/>
              </a:rPr>
              <a:t>	</a:t>
            </a:r>
            <a:endParaRPr lang="ru-RU" dirty="0"/>
          </a:p>
        </p:txBody>
      </p:sp>
      <p:sp>
        <p:nvSpPr>
          <p:cNvPr id="8" name="Объект 2">
            <a:extLst>
              <a:ext uri="{FF2B5EF4-FFF2-40B4-BE49-F238E27FC236}">
                <a16:creationId xmlns:a16="http://schemas.microsoft.com/office/drawing/2014/main" id="{CAE07B50-1C60-416F-96DB-C27D5DE004AA}"/>
              </a:ext>
            </a:extLst>
          </p:cNvPr>
          <p:cNvSpPr txBox="1">
            <a:spLocks/>
          </p:cNvSpPr>
          <p:nvPr/>
        </p:nvSpPr>
        <p:spPr>
          <a:xfrm>
            <a:off x="1030364" y="904525"/>
            <a:ext cx="10801201" cy="337539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600"/>
              </a:spcBef>
              <a:buNone/>
            </a:pPr>
            <a:r>
              <a:rPr lang="ru-RU" sz="2000" dirty="0">
                <a:latin typeface="Times New Roman" panose="02020603050405020304" pitchFamily="18" charset="0"/>
                <a:cs typeface="Times New Roman" panose="02020603050405020304" pitchFamily="18" charset="0"/>
              </a:rPr>
              <a:t>При участии контрагентов в совместных с Обществом проектах знакомить их представителей с КТ возможно только после подписания Соглашения о конфиденциальности и принятия решения об ее передаче в соответствии с действующими нормативными правовыми актами РФ и документами по защите информации.</a:t>
            </a:r>
          </a:p>
          <a:p>
            <a:pPr marL="0" indent="0" algn="ctr">
              <a:spcBef>
                <a:spcPts val="600"/>
              </a:spcBef>
              <a:buNone/>
            </a:pPr>
            <a:r>
              <a:rPr lang="ru-RU" sz="1600" i="1" dirty="0">
                <a:latin typeface="Times New Roman" panose="02020603050405020304" pitchFamily="18" charset="0"/>
                <a:cs typeface="Times New Roman" panose="02020603050405020304" pitchFamily="18" charset="0"/>
              </a:rPr>
              <a:t>Форма Соглашения размещена в Положении о коммерческой тайне и конфиденциальной информации </a:t>
            </a:r>
          </a:p>
          <a:p>
            <a:pPr marL="0" indent="0" algn="ctr">
              <a:spcBef>
                <a:spcPts val="0"/>
              </a:spcBef>
              <a:buNone/>
            </a:pPr>
            <a:r>
              <a:rPr lang="ru-RU" sz="1600" i="1" dirty="0">
                <a:latin typeface="Times New Roman" panose="02020603050405020304" pitchFamily="18" charset="0"/>
                <a:cs typeface="Times New Roman" panose="02020603050405020304" pitchFamily="18" charset="0"/>
              </a:rPr>
              <a:t>(Приложение №13)</a:t>
            </a:r>
          </a:p>
          <a:p>
            <a:pPr marL="0" indent="0" algn="just">
              <a:spcBef>
                <a:spcPts val="600"/>
              </a:spcBef>
              <a:buNone/>
            </a:pPr>
            <a:r>
              <a:rPr lang="ru-RU" sz="2000" dirty="0">
                <a:latin typeface="Times New Roman" panose="02020603050405020304" pitchFamily="18" charset="0"/>
                <a:cs typeface="Times New Roman" panose="02020603050405020304" pitchFamily="18" charset="0"/>
              </a:rPr>
              <a:t>В каждом случае передача информации, составляющей КТ, или предоставлении доступа к ней, должны осуществляться по Акту приема-передачи.</a:t>
            </a:r>
          </a:p>
          <a:p>
            <a:pPr marL="0" indent="0" algn="just">
              <a:spcBef>
                <a:spcPts val="600"/>
              </a:spcBef>
              <a:buNone/>
            </a:pPr>
            <a:r>
              <a:rPr lang="ru-RU" sz="2000" dirty="0">
                <a:latin typeface="Times New Roman" panose="02020603050405020304" pitchFamily="18" charset="0"/>
                <a:cs typeface="Times New Roman" panose="02020603050405020304" pitchFamily="18" charset="0"/>
              </a:rPr>
              <a:t>Копии подписанного Соглашения о конфиденциальности и Акта приема-передачи информации, составляющей КТ, направляются на адрес электронной почты «Отдел внутренней безопасности».</a:t>
            </a:r>
          </a:p>
          <a:p>
            <a:pPr marL="0" indent="0" algn="just">
              <a:buNone/>
            </a:pPr>
            <a:endParaRPr lang="ru-RU" sz="2000" dirty="0"/>
          </a:p>
        </p:txBody>
      </p:sp>
      <p:pic>
        <p:nvPicPr>
          <p:cNvPr id="3" name="Рисунок 2">
            <a:extLst>
              <a:ext uri="{FF2B5EF4-FFF2-40B4-BE49-F238E27FC236}">
                <a16:creationId xmlns:a16="http://schemas.microsoft.com/office/drawing/2014/main" id="{11DDD85F-A264-4DDF-A60C-8DE7174FB62C}"/>
              </a:ext>
            </a:extLst>
          </p:cNvPr>
          <p:cNvPicPr>
            <a:picLocks noChangeAspect="1"/>
          </p:cNvPicPr>
          <p:nvPr/>
        </p:nvPicPr>
        <p:blipFill>
          <a:blip r:embed="rId5"/>
          <a:stretch>
            <a:fillRect/>
          </a:stretch>
        </p:blipFill>
        <p:spPr>
          <a:xfrm>
            <a:off x="4007768" y="4605820"/>
            <a:ext cx="4058580" cy="1743921"/>
          </a:xfrm>
          <a:prstGeom prst="rect">
            <a:avLst/>
          </a:prstGeom>
          <a:effectLst>
            <a:softEdge rad="127000"/>
          </a:effectLst>
        </p:spPr>
      </p:pic>
    </p:spTree>
    <p:custDataLst>
      <p:tags r:id="rId1"/>
    </p:custDataLst>
    <p:extLst>
      <p:ext uri="{BB962C8B-B14F-4D97-AF65-F5344CB8AC3E}">
        <p14:creationId xmlns:p14="http://schemas.microsoft.com/office/powerpoint/2010/main" val="24033989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250"/>
                                        <p:tgtEl>
                                          <p:spTgt spid="8">
                                            <p:txEl>
                                              <p:pRg st="0" end="0"/>
                                            </p:txEl>
                                          </p:spTgt>
                                        </p:tgtEl>
                                      </p:cBhvr>
                                    </p:animEffect>
                                    <p:anim calcmode="lin" valueType="num">
                                      <p:cBhvr>
                                        <p:cTn id="14" dur="125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25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250"/>
                            </p:stCondLst>
                            <p:childTnLst>
                              <p:par>
                                <p:cTn id="17" presetID="42" presetClass="entr" presetSubtype="0" fill="hold" grpId="0" nodeType="after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1250"/>
                                        <p:tgtEl>
                                          <p:spTgt spid="8">
                                            <p:txEl>
                                              <p:pRg st="1" end="1"/>
                                            </p:txEl>
                                          </p:spTgt>
                                        </p:tgtEl>
                                      </p:cBhvr>
                                    </p:animEffect>
                                    <p:anim calcmode="lin" valueType="num">
                                      <p:cBhvr>
                                        <p:cTn id="20" dur="125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1" dur="125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3500"/>
                            </p:stCondLst>
                            <p:childTnLst>
                              <p:par>
                                <p:cTn id="23" presetID="42" presetClass="entr" presetSubtype="0" fill="hold" grpId="0" nodeType="after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fade">
                                      <p:cBhvr>
                                        <p:cTn id="25" dur="1250"/>
                                        <p:tgtEl>
                                          <p:spTgt spid="8">
                                            <p:txEl>
                                              <p:pRg st="2" end="2"/>
                                            </p:txEl>
                                          </p:spTgt>
                                        </p:tgtEl>
                                      </p:cBhvr>
                                    </p:animEffect>
                                    <p:anim calcmode="lin" valueType="num">
                                      <p:cBhvr>
                                        <p:cTn id="26" dur="125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7" dur="125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4750"/>
                            </p:stCondLst>
                            <p:childTnLst>
                              <p:par>
                                <p:cTn id="29" presetID="42" presetClass="entr" presetSubtype="0" fill="hold" grpId="0" nodeType="after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animEffect transition="in" filter="fade">
                                      <p:cBhvr>
                                        <p:cTn id="31" dur="1250"/>
                                        <p:tgtEl>
                                          <p:spTgt spid="8">
                                            <p:txEl>
                                              <p:pRg st="3" end="3"/>
                                            </p:txEl>
                                          </p:spTgt>
                                        </p:tgtEl>
                                      </p:cBhvr>
                                    </p:animEffect>
                                    <p:anim calcmode="lin" valueType="num">
                                      <p:cBhvr>
                                        <p:cTn id="32" dur="125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3" dur="125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par>
                          <p:cTn id="34" fill="hold">
                            <p:stCondLst>
                              <p:cond delay="6000"/>
                            </p:stCondLst>
                            <p:childTnLst>
                              <p:par>
                                <p:cTn id="35" presetID="42" presetClass="entr" presetSubtype="0" fill="hold" grpId="0" nodeType="after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animEffect transition="in" filter="fade">
                                      <p:cBhvr>
                                        <p:cTn id="37" dur="1250"/>
                                        <p:tgtEl>
                                          <p:spTgt spid="8">
                                            <p:txEl>
                                              <p:pRg st="4" end="4"/>
                                            </p:txEl>
                                          </p:spTgt>
                                        </p:tgtEl>
                                      </p:cBhvr>
                                    </p:animEffect>
                                    <p:anim calcmode="lin" valueType="num">
                                      <p:cBhvr>
                                        <p:cTn id="38" dur="125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9" dur="125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par>
                          <p:cTn id="40" fill="hold">
                            <p:stCondLst>
                              <p:cond delay="7250"/>
                            </p:stCondLst>
                            <p:childTnLst>
                              <p:par>
                                <p:cTn id="41" presetID="22" presetClass="entr" presetSubtype="1" fill="hold" nodeType="after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up)">
                                      <p:cBhvr>
                                        <p:cTn id="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87784" y="323797"/>
            <a:ext cx="2440863"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5"/>
          <a:stretch>
            <a:fillRect/>
          </a:stretch>
        </p:blipFill>
        <p:spPr>
          <a:xfrm>
            <a:off x="360436" y="6458863"/>
            <a:ext cx="1390008" cy="268247"/>
          </a:xfrm>
          <a:prstGeom prst="rect">
            <a:avLst/>
          </a:prstGeom>
        </p:spPr>
      </p:pic>
      <p:sp>
        <p:nvSpPr>
          <p:cNvPr id="7" name="Заголовок 1">
            <a:extLst>
              <a:ext uri="{FF2B5EF4-FFF2-40B4-BE49-F238E27FC236}">
                <a16:creationId xmlns:a16="http://schemas.microsoft.com/office/drawing/2014/main" id="{F344905D-E903-406D-957B-253FF9F968FB}"/>
              </a:ext>
            </a:extLst>
          </p:cNvPr>
          <p:cNvSpPr>
            <a:spLocks noGrp="1"/>
          </p:cNvSpPr>
          <p:nvPr>
            <p:ph type="title"/>
          </p:nvPr>
        </p:nvSpPr>
        <p:spPr>
          <a:xfrm>
            <a:off x="3014091" y="323797"/>
            <a:ext cx="6768752" cy="536273"/>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Передача конфиденциальной информации</a:t>
            </a:r>
          </a:p>
        </p:txBody>
      </p:sp>
      <p:sp>
        <p:nvSpPr>
          <p:cNvPr id="9" name="Объект 2">
            <a:extLst>
              <a:ext uri="{FF2B5EF4-FFF2-40B4-BE49-F238E27FC236}">
                <a16:creationId xmlns:a16="http://schemas.microsoft.com/office/drawing/2014/main" id="{A87FBDDF-7ED6-43EA-AD18-214CE6890B74}"/>
              </a:ext>
            </a:extLst>
          </p:cNvPr>
          <p:cNvSpPr>
            <a:spLocks noGrp="1"/>
          </p:cNvSpPr>
          <p:nvPr>
            <p:ph idx="1"/>
          </p:nvPr>
        </p:nvSpPr>
        <p:spPr>
          <a:xfrm>
            <a:off x="2495599" y="1500166"/>
            <a:ext cx="7920880" cy="2332856"/>
          </a:xfrm>
        </p:spPr>
        <p:txBody>
          <a:bodyPr/>
          <a:lstStyle/>
          <a:p>
            <a:pPr marL="0" indent="0" algn="just">
              <a:buNone/>
            </a:pPr>
            <a:r>
              <a:rPr lang="ru-RU" sz="2400" dirty="0">
                <a:latin typeface="Times New Roman" panose="02020603050405020304" pitchFamily="18" charset="0"/>
                <a:cs typeface="Times New Roman" panose="02020603050405020304" pitchFamily="18" charset="0"/>
              </a:rPr>
              <a:t>	</a:t>
            </a:r>
            <a:endParaRPr lang="ru-RU" dirty="0"/>
          </a:p>
        </p:txBody>
      </p:sp>
      <p:sp>
        <p:nvSpPr>
          <p:cNvPr id="8" name="Объект 2">
            <a:extLst>
              <a:ext uri="{FF2B5EF4-FFF2-40B4-BE49-F238E27FC236}">
                <a16:creationId xmlns:a16="http://schemas.microsoft.com/office/drawing/2014/main" id="{CAE07B50-1C60-416F-96DB-C27D5DE004AA}"/>
              </a:ext>
            </a:extLst>
          </p:cNvPr>
          <p:cNvSpPr txBox="1">
            <a:spLocks/>
          </p:cNvSpPr>
          <p:nvPr/>
        </p:nvSpPr>
        <p:spPr>
          <a:xfrm>
            <a:off x="1055439" y="1088741"/>
            <a:ext cx="10801200" cy="3636395"/>
          </a:xfrm>
          <a:prstGeom prst="rect">
            <a:avLst/>
          </a:prstGeom>
        </p:spPr>
        <p:txBody>
          <a:bodyPr vert="horz" lIns="91440" tIns="45720" rIns="91440" bIns="45720" rtlCol="0">
            <a:normAutofit fontScale="2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ts val="600"/>
              </a:spcBef>
              <a:buNone/>
            </a:pPr>
            <a:r>
              <a:rPr lang="ru-RU" sz="8000" dirty="0">
                <a:latin typeface="Times New Roman" panose="02020603050405020304" pitchFamily="18" charset="0"/>
                <a:cs typeface="Times New Roman" panose="02020603050405020304" pitchFamily="18" charset="0"/>
              </a:rPr>
              <a:t>При передаче КИ на носителях </a:t>
            </a:r>
            <a:r>
              <a:rPr lang="ru-RU" sz="8000" b="1" dirty="0">
                <a:latin typeface="Times New Roman" panose="02020603050405020304" pitchFamily="18" charset="0"/>
                <a:cs typeface="Times New Roman" panose="02020603050405020304" pitchFamily="18" charset="0"/>
              </a:rPr>
              <a:t>в виде физических объектов</a:t>
            </a:r>
            <a:r>
              <a:rPr lang="ru-RU" sz="8000" dirty="0">
                <a:latin typeface="Times New Roman" panose="02020603050405020304" pitchFamily="18" charset="0"/>
                <a:cs typeface="Times New Roman" panose="02020603050405020304" pitchFamily="18" charset="0"/>
              </a:rPr>
              <a:t>, меры по ее безопасности должны обеспечивать адекватную защиту от доступа третьих лиц: доставка лично, курьером, использование соответствующих служб, необходимой упаковки и т.п.</a:t>
            </a:r>
          </a:p>
          <a:p>
            <a:pPr marL="0" indent="0" algn="just">
              <a:lnSpc>
                <a:spcPct val="120000"/>
              </a:lnSpc>
              <a:spcBef>
                <a:spcPts val="600"/>
              </a:spcBef>
              <a:buNone/>
            </a:pPr>
            <a:r>
              <a:rPr lang="ru-RU" sz="8000" dirty="0">
                <a:latin typeface="Times New Roman" panose="02020603050405020304" pitchFamily="18" charset="0"/>
                <a:cs typeface="Times New Roman" panose="02020603050405020304" pitchFamily="18" charset="0"/>
              </a:rPr>
              <a:t>При передаче КИ </a:t>
            </a:r>
            <a:r>
              <a:rPr lang="ru-RU" sz="8000" b="1" dirty="0">
                <a:latin typeface="Times New Roman" panose="02020603050405020304" pitchFamily="18" charset="0"/>
                <a:cs typeface="Times New Roman" panose="02020603050405020304" pitchFamily="18" charset="0"/>
              </a:rPr>
              <a:t>в электронной форме </a:t>
            </a:r>
            <a:r>
              <a:rPr lang="ru-RU" sz="8000" dirty="0">
                <a:latin typeface="Times New Roman" panose="02020603050405020304" pitchFamily="18" charset="0"/>
                <a:cs typeface="Times New Roman" panose="02020603050405020304" pitchFamily="18" charset="0"/>
              </a:rPr>
              <a:t>(электронные документы) необходимо применение адекватных средств защиты передаваемой информации - авторизация, шифрование, электронная цифровая подпись и т.п.</a:t>
            </a:r>
          </a:p>
          <a:p>
            <a:pPr marL="0" indent="0" algn="just">
              <a:lnSpc>
                <a:spcPct val="120000"/>
              </a:lnSpc>
              <a:spcBef>
                <a:spcPts val="600"/>
              </a:spcBef>
              <a:buNone/>
            </a:pPr>
            <a:r>
              <a:rPr lang="ru-RU" sz="8000" dirty="0">
                <a:latin typeface="Times New Roman" panose="02020603050405020304" pitchFamily="18" charset="0"/>
                <a:cs typeface="Times New Roman" panose="02020603050405020304" pitchFamily="18" charset="0"/>
              </a:rPr>
              <a:t>Передача КИ </a:t>
            </a:r>
            <a:r>
              <a:rPr lang="ru-RU" sz="8000" b="1" dirty="0">
                <a:latin typeface="Times New Roman" panose="02020603050405020304" pitchFamily="18" charset="0"/>
                <a:cs typeface="Times New Roman" panose="02020603050405020304" pitchFamily="18" charset="0"/>
              </a:rPr>
              <a:t>по открытым каналам связи </a:t>
            </a:r>
            <a:r>
              <a:rPr lang="ru-RU" sz="8000" dirty="0">
                <a:latin typeface="Times New Roman" panose="02020603050405020304" pitchFamily="18" charset="0"/>
                <a:cs typeface="Times New Roman" panose="02020603050405020304" pitchFamily="18" charset="0"/>
              </a:rPr>
              <a:t>(в т.ч. глобальной сети Интернет) допускается только в зашифрованном и подписанном виде, обеспечивающем ее безопасность - авторизация, шифрование, ЭЦП и т.п. </a:t>
            </a:r>
          </a:p>
          <a:p>
            <a:pPr marL="0" indent="0" algn="just">
              <a:buNone/>
            </a:pPr>
            <a:endParaRPr lang="ru-RU" sz="1900" dirty="0"/>
          </a:p>
        </p:txBody>
      </p:sp>
      <p:pic>
        <p:nvPicPr>
          <p:cNvPr id="3" name="Рисунок 2">
            <a:extLst>
              <a:ext uri="{FF2B5EF4-FFF2-40B4-BE49-F238E27FC236}">
                <a16:creationId xmlns:a16="http://schemas.microsoft.com/office/drawing/2014/main" id="{88930ADF-176D-4175-A529-7CBD8F003FA6}"/>
              </a:ext>
            </a:extLst>
          </p:cNvPr>
          <p:cNvPicPr>
            <a:picLocks noChangeAspect="1"/>
          </p:cNvPicPr>
          <p:nvPr/>
        </p:nvPicPr>
        <p:blipFill>
          <a:blip r:embed="rId6"/>
          <a:stretch>
            <a:fillRect/>
          </a:stretch>
        </p:blipFill>
        <p:spPr>
          <a:xfrm>
            <a:off x="6516208" y="6409228"/>
            <a:ext cx="288032" cy="332345"/>
          </a:xfrm>
          <a:prstGeom prst="rect">
            <a:avLst/>
          </a:prstGeom>
        </p:spPr>
      </p:pic>
      <p:sp>
        <p:nvSpPr>
          <p:cNvPr id="4" name="Прямоугольник 3">
            <a:extLst>
              <a:ext uri="{FF2B5EF4-FFF2-40B4-BE49-F238E27FC236}">
                <a16:creationId xmlns:a16="http://schemas.microsoft.com/office/drawing/2014/main" id="{FE52488A-AB73-4C50-A0E8-2388933CB71F}"/>
              </a:ext>
            </a:extLst>
          </p:cNvPr>
          <p:cNvSpPr/>
          <p:nvPr/>
        </p:nvSpPr>
        <p:spPr>
          <a:xfrm>
            <a:off x="6804240" y="6390599"/>
            <a:ext cx="4572000" cy="307777"/>
          </a:xfrm>
          <a:prstGeom prst="rect">
            <a:avLst/>
          </a:prstGeom>
        </p:spPr>
        <p:txBody>
          <a:bodyPr>
            <a:spAutoFit/>
          </a:bodyPr>
          <a:lstStyle/>
          <a:p>
            <a:r>
              <a:rPr lang="ru-RU" sz="1400" dirty="0">
                <a:solidFill>
                  <a:prstClr val="black"/>
                </a:solidFill>
                <a:latin typeface="Times New Roman" panose="02020603050405020304" pitchFamily="18" charset="0"/>
                <a:cs typeface="Times New Roman" panose="02020603050405020304" pitchFamily="18" charset="0"/>
              </a:rPr>
              <a:t>Электронная цифровая подпись – далее ЭЦП</a:t>
            </a:r>
            <a:endParaRPr lang="ru-RU" sz="1400" dirty="0"/>
          </a:p>
        </p:txBody>
      </p:sp>
      <p:pic>
        <p:nvPicPr>
          <p:cNvPr id="12" name="Рисунок 11">
            <a:extLst>
              <a:ext uri="{FF2B5EF4-FFF2-40B4-BE49-F238E27FC236}">
                <a16:creationId xmlns:a16="http://schemas.microsoft.com/office/drawing/2014/main" id="{B63F89A9-9465-482A-84E9-4489BA46D5EA}"/>
              </a:ext>
            </a:extLst>
          </p:cNvPr>
          <p:cNvPicPr>
            <a:picLocks noChangeAspect="1"/>
          </p:cNvPicPr>
          <p:nvPr/>
        </p:nvPicPr>
        <p:blipFill>
          <a:blip r:embed="rId7"/>
          <a:stretch>
            <a:fillRect/>
          </a:stretch>
        </p:blipFill>
        <p:spPr>
          <a:xfrm>
            <a:off x="3863752" y="4244448"/>
            <a:ext cx="4678194" cy="2146152"/>
          </a:xfrm>
          <a:prstGeom prst="rect">
            <a:avLst/>
          </a:prstGeom>
          <a:effectLst>
            <a:softEdge rad="127000"/>
          </a:effectLst>
        </p:spPr>
      </p:pic>
      <p:sp>
        <p:nvSpPr>
          <p:cNvPr id="11" name="Иконка  3">
            <a:extLst>
              <a:ext uri="{FF2B5EF4-FFF2-40B4-BE49-F238E27FC236}">
                <a16:creationId xmlns:a16="http://schemas.microsoft.com/office/drawing/2014/main" id="{B85ECD2C-C188-4661-BAE3-7DDFECA6EF4A}"/>
              </a:ext>
            </a:extLst>
          </p:cNvPr>
          <p:cNvSpPr>
            <a:spLocks noChangeAspect="1" noEditPoints="1"/>
          </p:cNvSpPr>
          <p:nvPr>
            <p:custDataLst>
              <p:tags r:id="rId2"/>
            </p:custDataLst>
          </p:nvPr>
        </p:nvSpPr>
        <p:spPr bwMode="auto">
          <a:xfrm>
            <a:off x="3215680" y="3703577"/>
            <a:ext cx="103507" cy="115990"/>
          </a:xfrm>
          <a:custGeom>
            <a:avLst/>
            <a:gdLst>
              <a:gd name="T0" fmla="*/ 168 w 168"/>
              <a:gd name="T1" fmla="*/ 30 h 188"/>
              <a:gd name="T2" fmla="*/ 160 w 168"/>
              <a:gd name="T3" fmla="*/ 30 h 188"/>
              <a:gd name="T4" fmla="*/ 160 w 168"/>
              <a:gd name="T5" fmla="*/ 30 h 188"/>
              <a:gd name="T6" fmla="*/ 160 w 168"/>
              <a:gd name="T7" fmla="*/ 30 h 188"/>
              <a:gd name="T8" fmla="*/ 135 w 168"/>
              <a:gd name="T9" fmla="*/ 33 h 188"/>
              <a:gd name="T10" fmla="*/ 78 w 168"/>
              <a:gd name="T11" fmla="*/ 16 h 188"/>
              <a:gd name="T12" fmla="*/ 59 w 168"/>
              <a:gd name="T13" fmla="*/ 12 h 188"/>
              <a:gd name="T14" fmla="*/ 25 w 168"/>
              <a:gd name="T15" fmla="*/ 24 h 188"/>
              <a:gd name="T16" fmla="*/ 24 w 168"/>
              <a:gd name="T17" fmla="*/ 26 h 188"/>
              <a:gd name="T18" fmla="*/ 24 w 168"/>
              <a:gd name="T19" fmla="*/ 110 h 188"/>
              <a:gd name="T20" fmla="*/ 27 w 168"/>
              <a:gd name="T21" fmla="*/ 112 h 188"/>
              <a:gd name="T22" fmla="*/ 28 w 168"/>
              <a:gd name="T23" fmla="*/ 112 h 188"/>
              <a:gd name="T24" fmla="*/ 38 w 168"/>
              <a:gd name="T25" fmla="*/ 108 h 188"/>
              <a:gd name="T26" fmla="*/ 64 w 168"/>
              <a:gd name="T27" fmla="*/ 102 h 188"/>
              <a:gd name="T28" fmla="*/ 112 w 168"/>
              <a:gd name="T29" fmla="*/ 117 h 188"/>
              <a:gd name="T30" fmla="*/ 133 w 168"/>
              <a:gd name="T31" fmla="*/ 121 h 188"/>
              <a:gd name="T32" fmla="*/ 163 w 168"/>
              <a:gd name="T33" fmla="*/ 117 h 188"/>
              <a:gd name="T34" fmla="*/ 164 w 168"/>
              <a:gd name="T35" fmla="*/ 117 h 188"/>
              <a:gd name="T36" fmla="*/ 168 w 168"/>
              <a:gd name="T37" fmla="*/ 30 h 188"/>
              <a:gd name="T38" fmla="*/ 152 w 168"/>
              <a:gd name="T39" fmla="*/ 107 h 188"/>
              <a:gd name="T40" fmla="*/ 133 w 168"/>
              <a:gd name="T41" fmla="*/ 109 h 188"/>
              <a:gd name="T42" fmla="*/ 118 w 168"/>
              <a:gd name="T43" fmla="*/ 106 h 188"/>
              <a:gd name="T44" fmla="*/ 64 w 168"/>
              <a:gd name="T45" fmla="*/ 90 h 188"/>
              <a:gd name="T46" fmla="*/ 36 w 168"/>
              <a:gd name="T47" fmla="*/ 96 h 188"/>
              <a:gd name="T48" fmla="*/ 36 w 168"/>
              <a:gd name="T49" fmla="*/ 31 h 188"/>
              <a:gd name="T50" fmla="*/ 59 w 168"/>
              <a:gd name="T51" fmla="*/ 24 h 188"/>
              <a:gd name="T52" fmla="*/ 74 w 168"/>
              <a:gd name="T53" fmla="*/ 27 h 188"/>
              <a:gd name="T54" fmla="*/ 135 w 168"/>
              <a:gd name="T55" fmla="*/ 45 h 188"/>
              <a:gd name="T56" fmla="*/ 155 w 168"/>
              <a:gd name="T57" fmla="*/ 43 h 188"/>
              <a:gd name="T58" fmla="*/ 152 w 168"/>
              <a:gd name="T59" fmla="*/ 107 h 188"/>
              <a:gd name="T60" fmla="*/ 10 w 168"/>
              <a:gd name="T61" fmla="*/ 0 h 188"/>
              <a:gd name="T62" fmla="*/ 0 w 168"/>
              <a:gd name="T63" fmla="*/ 11 h 188"/>
              <a:gd name="T64" fmla="*/ 3 w 168"/>
              <a:gd name="T65" fmla="*/ 19 h 188"/>
              <a:gd name="T66" fmla="*/ 4 w 168"/>
              <a:gd name="T67" fmla="*/ 21 h 188"/>
              <a:gd name="T68" fmla="*/ 4 w 168"/>
              <a:gd name="T69" fmla="*/ 182 h 188"/>
              <a:gd name="T70" fmla="*/ 10 w 168"/>
              <a:gd name="T71" fmla="*/ 188 h 188"/>
              <a:gd name="T72" fmla="*/ 16 w 168"/>
              <a:gd name="T73" fmla="*/ 182 h 188"/>
              <a:gd name="T74" fmla="*/ 16 w 168"/>
              <a:gd name="T75" fmla="*/ 22 h 188"/>
              <a:gd name="T76" fmla="*/ 17 w 168"/>
              <a:gd name="T77" fmla="*/ 20 h 188"/>
              <a:gd name="T78" fmla="*/ 20 w 168"/>
              <a:gd name="T79" fmla="*/ 11 h 188"/>
              <a:gd name="T80" fmla="*/ 10 w 168"/>
              <a:gd name="T81"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8">
                <a:moveTo>
                  <a:pt x="168" y="30"/>
                </a:moveTo>
                <a:cubicBezTo>
                  <a:pt x="165" y="30"/>
                  <a:pt x="161" y="30"/>
                  <a:pt x="160" y="30"/>
                </a:cubicBezTo>
                <a:cubicBezTo>
                  <a:pt x="160" y="30"/>
                  <a:pt x="160" y="30"/>
                  <a:pt x="160" y="30"/>
                </a:cubicBezTo>
                <a:cubicBezTo>
                  <a:pt x="160" y="30"/>
                  <a:pt x="160" y="30"/>
                  <a:pt x="160" y="30"/>
                </a:cubicBezTo>
                <a:cubicBezTo>
                  <a:pt x="151" y="32"/>
                  <a:pt x="143" y="33"/>
                  <a:pt x="135" y="33"/>
                </a:cubicBezTo>
                <a:cubicBezTo>
                  <a:pt x="116" y="33"/>
                  <a:pt x="100" y="25"/>
                  <a:pt x="78" y="16"/>
                </a:cubicBezTo>
                <a:cubicBezTo>
                  <a:pt x="71" y="13"/>
                  <a:pt x="65" y="12"/>
                  <a:pt x="59" y="12"/>
                </a:cubicBezTo>
                <a:cubicBezTo>
                  <a:pt x="42" y="12"/>
                  <a:pt x="29" y="21"/>
                  <a:pt x="25" y="24"/>
                </a:cubicBezTo>
                <a:cubicBezTo>
                  <a:pt x="24" y="25"/>
                  <a:pt x="24" y="25"/>
                  <a:pt x="24" y="26"/>
                </a:cubicBezTo>
                <a:cubicBezTo>
                  <a:pt x="24" y="110"/>
                  <a:pt x="24" y="110"/>
                  <a:pt x="24" y="110"/>
                </a:cubicBezTo>
                <a:cubicBezTo>
                  <a:pt x="24" y="111"/>
                  <a:pt x="25" y="112"/>
                  <a:pt x="27" y="112"/>
                </a:cubicBezTo>
                <a:cubicBezTo>
                  <a:pt x="27" y="112"/>
                  <a:pt x="28" y="112"/>
                  <a:pt x="28" y="112"/>
                </a:cubicBezTo>
                <a:cubicBezTo>
                  <a:pt x="32" y="110"/>
                  <a:pt x="38" y="108"/>
                  <a:pt x="38" y="108"/>
                </a:cubicBezTo>
                <a:cubicBezTo>
                  <a:pt x="47" y="104"/>
                  <a:pt x="56" y="102"/>
                  <a:pt x="64" y="102"/>
                </a:cubicBezTo>
                <a:cubicBezTo>
                  <a:pt x="84" y="102"/>
                  <a:pt x="101" y="110"/>
                  <a:pt x="112" y="117"/>
                </a:cubicBezTo>
                <a:cubicBezTo>
                  <a:pt x="118" y="120"/>
                  <a:pt x="126" y="121"/>
                  <a:pt x="133" y="121"/>
                </a:cubicBezTo>
                <a:cubicBezTo>
                  <a:pt x="146" y="121"/>
                  <a:pt x="159" y="118"/>
                  <a:pt x="163" y="117"/>
                </a:cubicBezTo>
                <a:cubicBezTo>
                  <a:pt x="164" y="117"/>
                  <a:pt x="164" y="117"/>
                  <a:pt x="164" y="117"/>
                </a:cubicBezTo>
                <a:cubicBezTo>
                  <a:pt x="168" y="30"/>
                  <a:pt x="168" y="30"/>
                  <a:pt x="168" y="30"/>
                </a:cubicBezTo>
                <a:close/>
                <a:moveTo>
                  <a:pt x="152" y="107"/>
                </a:moveTo>
                <a:cubicBezTo>
                  <a:pt x="147" y="108"/>
                  <a:pt x="140" y="109"/>
                  <a:pt x="133" y="109"/>
                </a:cubicBezTo>
                <a:cubicBezTo>
                  <a:pt x="127" y="109"/>
                  <a:pt x="122" y="108"/>
                  <a:pt x="118" y="106"/>
                </a:cubicBezTo>
                <a:cubicBezTo>
                  <a:pt x="99" y="95"/>
                  <a:pt x="81" y="90"/>
                  <a:pt x="64" y="90"/>
                </a:cubicBezTo>
                <a:cubicBezTo>
                  <a:pt x="54" y="90"/>
                  <a:pt x="45" y="92"/>
                  <a:pt x="36" y="96"/>
                </a:cubicBezTo>
                <a:cubicBezTo>
                  <a:pt x="36" y="31"/>
                  <a:pt x="36" y="31"/>
                  <a:pt x="36" y="31"/>
                </a:cubicBezTo>
                <a:cubicBezTo>
                  <a:pt x="41" y="28"/>
                  <a:pt x="49" y="24"/>
                  <a:pt x="59" y="24"/>
                </a:cubicBezTo>
                <a:cubicBezTo>
                  <a:pt x="64" y="24"/>
                  <a:pt x="69" y="25"/>
                  <a:pt x="74" y="27"/>
                </a:cubicBezTo>
                <a:cubicBezTo>
                  <a:pt x="95" y="36"/>
                  <a:pt x="114" y="45"/>
                  <a:pt x="135" y="45"/>
                </a:cubicBezTo>
                <a:cubicBezTo>
                  <a:pt x="142" y="45"/>
                  <a:pt x="148" y="44"/>
                  <a:pt x="155" y="43"/>
                </a:cubicBezTo>
                <a:lnTo>
                  <a:pt x="152" y="107"/>
                </a:lnTo>
                <a:close/>
                <a:moveTo>
                  <a:pt x="10" y="0"/>
                </a:moveTo>
                <a:cubicBezTo>
                  <a:pt x="4" y="0"/>
                  <a:pt x="0" y="5"/>
                  <a:pt x="0" y="11"/>
                </a:cubicBezTo>
                <a:cubicBezTo>
                  <a:pt x="0" y="15"/>
                  <a:pt x="1" y="17"/>
                  <a:pt x="3" y="19"/>
                </a:cubicBezTo>
                <a:cubicBezTo>
                  <a:pt x="4" y="20"/>
                  <a:pt x="4" y="21"/>
                  <a:pt x="4" y="21"/>
                </a:cubicBezTo>
                <a:cubicBezTo>
                  <a:pt x="4" y="182"/>
                  <a:pt x="4" y="182"/>
                  <a:pt x="4" y="182"/>
                </a:cubicBezTo>
                <a:cubicBezTo>
                  <a:pt x="4" y="185"/>
                  <a:pt x="7" y="188"/>
                  <a:pt x="10" y="188"/>
                </a:cubicBezTo>
                <a:cubicBezTo>
                  <a:pt x="13" y="188"/>
                  <a:pt x="16" y="185"/>
                  <a:pt x="16" y="182"/>
                </a:cubicBezTo>
                <a:cubicBezTo>
                  <a:pt x="16" y="22"/>
                  <a:pt x="16" y="22"/>
                  <a:pt x="16" y="22"/>
                </a:cubicBezTo>
                <a:cubicBezTo>
                  <a:pt x="16" y="21"/>
                  <a:pt x="16" y="20"/>
                  <a:pt x="17" y="20"/>
                </a:cubicBezTo>
                <a:cubicBezTo>
                  <a:pt x="19" y="18"/>
                  <a:pt x="20" y="15"/>
                  <a:pt x="20" y="11"/>
                </a:cubicBezTo>
                <a:cubicBezTo>
                  <a:pt x="20" y="4"/>
                  <a:pt x="16" y="0"/>
                  <a:pt x="10"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ru-RU" sz="1350" dirty="0"/>
          </a:p>
        </p:txBody>
      </p:sp>
    </p:spTree>
    <p:custDataLst>
      <p:tags r:id="rId1"/>
    </p:custDataLst>
    <p:extLst>
      <p:ext uri="{BB962C8B-B14F-4D97-AF65-F5344CB8AC3E}">
        <p14:creationId xmlns:p14="http://schemas.microsoft.com/office/powerpoint/2010/main" val="4020714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250"/>
                                        <p:tgtEl>
                                          <p:spTgt spid="8">
                                            <p:txEl>
                                              <p:pRg st="0" end="0"/>
                                            </p:txEl>
                                          </p:spTgt>
                                        </p:tgtEl>
                                      </p:cBhvr>
                                    </p:animEffect>
                                    <p:anim calcmode="lin" valueType="num">
                                      <p:cBhvr>
                                        <p:cTn id="14" dur="125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25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250"/>
                            </p:stCondLst>
                            <p:childTnLst>
                              <p:par>
                                <p:cTn id="17" presetID="42" presetClass="entr" presetSubtype="0" fill="hold" grpId="0" nodeType="after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1250"/>
                                        <p:tgtEl>
                                          <p:spTgt spid="8">
                                            <p:txEl>
                                              <p:pRg st="1" end="1"/>
                                            </p:txEl>
                                          </p:spTgt>
                                        </p:tgtEl>
                                      </p:cBhvr>
                                    </p:animEffect>
                                    <p:anim calcmode="lin" valueType="num">
                                      <p:cBhvr>
                                        <p:cTn id="20" dur="125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1" dur="125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3500"/>
                            </p:stCondLst>
                            <p:childTnLst>
                              <p:par>
                                <p:cTn id="23" presetID="42" presetClass="entr" presetSubtype="0" fill="hold" grpId="0" nodeType="after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fade">
                                      <p:cBhvr>
                                        <p:cTn id="25" dur="1250"/>
                                        <p:tgtEl>
                                          <p:spTgt spid="8">
                                            <p:txEl>
                                              <p:pRg st="2" end="2"/>
                                            </p:txEl>
                                          </p:spTgt>
                                        </p:tgtEl>
                                      </p:cBhvr>
                                    </p:animEffect>
                                    <p:anim calcmode="lin" valueType="num">
                                      <p:cBhvr>
                                        <p:cTn id="26" dur="125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7" dur="1250" fill="hold"/>
                                        <p:tgtEl>
                                          <p:spTgt spid="8">
                                            <p:txEl>
                                              <p:pRg st="2" end="2"/>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1000"/>
                                        <p:tgtEl>
                                          <p:spTgt spid="11"/>
                                        </p:tgtEl>
                                      </p:cBhvr>
                                    </p:animEffect>
                                    <p:anim calcmode="lin" valueType="num">
                                      <p:cBhvr>
                                        <p:cTn id="31" dur="1000" fill="hold"/>
                                        <p:tgtEl>
                                          <p:spTgt spid="11"/>
                                        </p:tgtEl>
                                        <p:attrNameLst>
                                          <p:attrName>ppt_x</p:attrName>
                                        </p:attrNameLst>
                                      </p:cBhvr>
                                      <p:tavLst>
                                        <p:tav tm="0">
                                          <p:val>
                                            <p:strVal val="#ppt_x"/>
                                          </p:val>
                                        </p:tav>
                                        <p:tav tm="100000">
                                          <p:val>
                                            <p:strVal val="#ppt_x"/>
                                          </p:val>
                                        </p:tav>
                                      </p:tavLst>
                                    </p:anim>
                                    <p:anim calcmode="lin" valueType="num">
                                      <p:cBhvr>
                                        <p:cTn id="32" dur="1000" fill="hold"/>
                                        <p:tgtEl>
                                          <p:spTgt spid="11"/>
                                        </p:tgtEl>
                                        <p:attrNameLst>
                                          <p:attrName>ppt_y</p:attrName>
                                        </p:attrNameLst>
                                      </p:cBhvr>
                                      <p:tavLst>
                                        <p:tav tm="0">
                                          <p:val>
                                            <p:strVal val="#ppt_y+.1"/>
                                          </p:val>
                                        </p:tav>
                                        <p:tav tm="100000">
                                          <p:val>
                                            <p:strVal val="#ppt_y"/>
                                          </p:val>
                                        </p:tav>
                                      </p:tavLst>
                                    </p:anim>
                                  </p:childTnLst>
                                </p:cTn>
                              </p:par>
                            </p:childTnLst>
                          </p:cTn>
                        </p:par>
                        <p:par>
                          <p:cTn id="33" fill="hold">
                            <p:stCondLst>
                              <p:cond delay="4750"/>
                            </p:stCondLst>
                            <p:childTnLst>
                              <p:par>
                                <p:cTn id="34" presetID="22" presetClass="entr" presetSubtype="4"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down)">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8" grpId="0" build="p"/>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79626" y="332529"/>
            <a:ext cx="2449021"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4"/>
          <a:stretch>
            <a:fillRect/>
          </a:stretch>
        </p:blipFill>
        <p:spPr>
          <a:xfrm>
            <a:off x="360410" y="6453336"/>
            <a:ext cx="1390008" cy="268247"/>
          </a:xfrm>
          <a:prstGeom prst="rect">
            <a:avLst/>
          </a:prstGeom>
        </p:spPr>
      </p:pic>
      <p:sp>
        <p:nvSpPr>
          <p:cNvPr id="7" name="Заголовок 1">
            <a:extLst>
              <a:ext uri="{FF2B5EF4-FFF2-40B4-BE49-F238E27FC236}">
                <a16:creationId xmlns:a16="http://schemas.microsoft.com/office/drawing/2014/main" id="{F344905D-E903-406D-957B-253FF9F968FB}"/>
              </a:ext>
            </a:extLst>
          </p:cNvPr>
          <p:cNvSpPr>
            <a:spLocks noGrp="1"/>
          </p:cNvSpPr>
          <p:nvPr>
            <p:ph type="title"/>
          </p:nvPr>
        </p:nvSpPr>
        <p:spPr>
          <a:xfrm>
            <a:off x="3143672" y="304633"/>
            <a:ext cx="6768752" cy="536273"/>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Передача конфиденциальной информации</a:t>
            </a:r>
          </a:p>
        </p:txBody>
      </p:sp>
      <p:sp>
        <p:nvSpPr>
          <p:cNvPr id="9" name="Объект 2">
            <a:extLst>
              <a:ext uri="{FF2B5EF4-FFF2-40B4-BE49-F238E27FC236}">
                <a16:creationId xmlns:a16="http://schemas.microsoft.com/office/drawing/2014/main" id="{A87FBDDF-7ED6-43EA-AD18-214CE6890B74}"/>
              </a:ext>
            </a:extLst>
          </p:cNvPr>
          <p:cNvSpPr>
            <a:spLocks noGrp="1"/>
          </p:cNvSpPr>
          <p:nvPr>
            <p:ph idx="1"/>
          </p:nvPr>
        </p:nvSpPr>
        <p:spPr>
          <a:xfrm>
            <a:off x="2495599" y="1500166"/>
            <a:ext cx="7920880" cy="2332856"/>
          </a:xfrm>
        </p:spPr>
        <p:txBody>
          <a:bodyPr/>
          <a:lstStyle/>
          <a:p>
            <a:pPr marL="0" indent="0" algn="just">
              <a:buNone/>
            </a:pPr>
            <a:r>
              <a:rPr lang="ru-RU" sz="2400" dirty="0">
                <a:latin typeface="Times New Roman" panose="02020603050405020304" pitchFamily="18" charset="0"/>
                <a:cs typeface="Times New Roman" panose="02020603050405020304" pitchFamily="18" charset="0"/>
              </a:rPr>
              <a:t>	</a:t>
            </a:r>
            <a:endParaRPr lang="ru-RU" dirty="0"/>
          </a:p>
        </p:txBody>
      </p:sp>
      <p:sp>
        <p:nvSpPr>
          <p:cNvPr id="8" name="Объект 2">
            <a:extLst>
              <a:ext uri="{FF2B5EF4-FFF2-40B4-BE49-F238E27FC236}">
                <a16:creationId xmlns:a16="http://schemas.microsoft.com/office/drawing/2014/main" id="{CAE07B50-1C60-416F-96DB-C27D5DE004AA}"/>
              </a:ext>
            </a:extLst>
          </p:cNvPr>
          <p:cNvSpPr txBox="1">
            <a:spLocks/>
          </p:cNvSpPr>
          <p:nvPr/>
        </p:nvSpPr>
        <p:spPr>
          <a:xfrm>
            <a:off x="1127448" y="1038600"/>
            <a:ext cx="10801199" cy="2534414"/>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ts val="600"/>
              </a:spcBef>
              <a:buNone/>
            </a:pPr>
            <a:r>
              <a:rPr lang="ru-RU" sz="3600" dirty="0">
                <a:latin typeface="Times New Roman" panose="02020603050405020304" pitchFamily="18" charset="0"/>
                <a:cs typeface="Times New Roman" panose="02020603050405020304" pitchFamily="18" charset="0"/>
              </a:rPr>
              <a:t>Передача КИ может осуществляться в форме предоставления доступа к информационному ресурсу (к месту хранения, размещения и пр.)</a:t>
            </a:r>
          </a:p>
          <a:p>
            <a:pPr marL="0" indent="0" algn="just">
              <a:lnSpc>
                <a:spcPct val="120000"/>
              </a:lnSpc>
              <a:spcBef>
                <a:spcPts val="600"/>
              </a:spcBef>
              <a:buNone/>
            </a:pPr>
            <a:r>
              <a:rPr lang="ru-RU" sz="3600" dirty="0">
                <a:latin typeface="Times New Roman" panose="02020603050405020304" pitchFamily="18" charset="0"/>
                <a:cs typeface="Times New Roman" panose="02020603050405020304" pitchFamily="18" charset="0"/>
              </a:rPr>
              <a:t>Перед отправкой в электронном виде, КИ должна быть обработана специальными крипто-программами, ограничивающими доступ к информации без соответствующего пароля.</a:t>
            </a:r>
          </a:p>
          <a:p>
            <a:pPr marL="0" indent="0" algn="just">
              <a:lnSpc>
                <a:spcPct val="120000"/>
              </a:lnSpc>
              <a:spcBef>
                <a:spcPts val="600"/>
              </a:spcBef>
              <a:buNone/>
            </a:pPr>
            <a:r>
              <a:rPr lang="ru-RU" sz="3600" dirty="0">
                <a:latin typeface="Times New Roman" panose="02020603050405020304" pitchFamily="18" charset="0"/>
                <a:cs typeface="Times New Roman" panose="02020603050405020304" pitchFamily="18" charset="0"/>
              </a:rPr>
              <a:t>Передача паролей и информации об иных средствах защиты электронных документов должна осуществляться способом, отличным от способа передачи КИ.</a:t>
            </a:r>
          </a:p>
        </p:txBody>
      </p:sp>
      <p:pic>
        <p:nvPicPr>
          <p:cNvPr id="3" name="Рисунок 2">
            <a:extLst>
              <a:ext uri="{FF2B5EF4-FFF2-40B4-BE49-F238E27FC236}">
                <a16:creationId xmlns:a16="http://schemas.microsoft.com/office/drawing/2014/main" id="{C63D35FA-5C48-43F6-8D40-4CC4E5DF1DA3}"/>
              </a:ext>
            </a:extLst>
          </p:cNvPr>
          <p:cNvPicPr>
            <a:picLocks noChangeAspect="1"/>
          </p:cNvPicPr>
          <p:nvPr/>
        </p:nvPicPr>
        <p:blipFill>
          <a:blip r:embed="rId5"/>
          <a:stretch>
            <a:fillRect/>
          </a:stretch>
        </p:blipFill>
        <p:spPr>
          <a:xfrm>
            <a:off x="1560136" y="4040404"/>
            <a:ext cx="9144000" cy="2103511"/>
          </a:xfrm>
          <a:prstGeom prst="rect">
            <a:avLst/>
          </a:prstGeom>
          <a:effectLst>
            <a:softEdge rad="127000"/>
          </a:effectLst>
        </p:spPr>
      </p:pic>
    </p:spTree>
    <p:custDataLst>
      <p:tags r:id="rId1"/>
    </p:custDataLst>
    <p:extLst>
      <p:ext uri="{BB962C8B-B14F-4D97-AF65-F5344CB8AC3E}">
        <p14:creationId xmlns:p14="http://schemas.microsoft.com/office/powerpoint/2010/main" val="31103911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fade">
                                      <p:cBhvr>
                                        <p:cTn id="11" dur="1000"/>
                                        <p:tgtEl>
                                          <p:spTgt spid="9">
                                            <p:txEl>
                                              <p:pRg st="0" end="0"/>
                                            </p:txEl>
                                          </p:spTgt>
                                        </p:tgtEl>
                                      </p:cBhvr>
                                    </p:animEffect>
                                    <p:anim calcmode="lin" valueType="num">
                                      <p:cBhvr>
                                        <p:cTn id="12"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1250"/>
                                        <p:tgtEl>
                                          <p:spTgt spid="8">
                                            <p:txEl>
                                              <p:pRg st="0" end="0"/>
                                            </p:txEl>
                                          </p:spTgt>
                                        </p:tgtEl>
                                      </p:cBhvr>
                                    </p:animEffect>
                                    <p:anim calcmode="lin" valueType="num">
                                      <p:cBhvr>
                                        <p:cTn id="18" dur="125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9" dur="125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750"/>
                            </p:stCondLst>
                            <p:childTnLst>
                              <p:par>
                                <p:cTn id="21" presetID="42" presetClass="entr" presetSubtype="0" fill="hold" grpId="0" nodeType="after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fade">
                                      <p:cBhvr>
                                        <p:cTn id="23" dur="1250"/>
                                        <p:tgtEl>
                                          <p:spTgt spid="8">
                                            <p:txEl>
                                              <p:pRg st="1" end="1"/>
                                            </p:txEl>
                                          </p:spTgt>
                                        </p:tgtEl>
                                      </p:cBhvr>
                                    </p:animEffect>
                                    <p:anim calcmode="lin" valueType="num">
                                      <p:cBhvr>
                                        <p:cTn id="24" dur="125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5" dur="125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par>
                          <p:cTn id="26" fill="hold">
                            <p:stCondLst>
                              <p:cond delay="4000"/>
                            </p:stCondLst>
                            <p:childTnLst>
                              <p:par>
                                <p:cTn id="27" presetID="42" presetClass="entr" presetSubtype="0" fill="hold" grpId="0" nodeType="after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animEffect transition="in" filter="fade">
                                      <p:cBhvr>
                                        <p:cTn id="29" dur="1250"/>
                                        <p:tgtEl>
                                          <p:spTgt spid="8">
                                            <p:txEl>
                                              <p:pRg st="2" end="2"/>
                                            </p:txEl>
                                          </p:spTgt>
                                        </p:tgtEl>
                                      </p:cBhvr>
                                    </p:animEffect>
                                    <p:anim calcmode="lin" valueType="num">
                                      <p:cBhvr>
                                        <p:cTn id="30" dur="125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1" dur="125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51782" y="355964"/>
            <a:ext cx="2476866"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93288"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4"/>
          <a:stretch>
            <a:fillRect/>
          </a:stretch>
        </p:blipFill>
        <p:spPr>
          <a:xfrm>
            <a:off x="360436" y="6453336"/>
            <a:ext cx="1390008" cy="268247"/>
          </a:xfrm>
          <a:prstGeom prst="rect">
            <a:avLst/>
          </a:prstGeom>
        </p:spPr>
      </p:pic>
      <p:sp>
        <p:nvSpPr>
          <p:cNvPr id="7" name="Заголовок 1">
            <a:extLst>
              <a:ext uri="{FF2B5EF4-FFF2-40B4-BE49-F238E27FC236}">
                <a16:creationId xmlns:a16="http://schemas.microsoft.com/office/drawing/2014/main" id="{F344905D-E903-406D-957B-253FF9F968FB}"/>
              </a:ext>
            </a:extLst>
          </p:cNvPr>
          <p:cNvSpPr>
            <a:spLocks noGrp="1"/>
          </p:cNvSpPr>
          <p:nvPr>
            <p:ph type="title"/>
          </p:nvPr>
        </p:nvSpPr>
        <p:spPr>
          <a:xfrm>
            <a:off x="3232605" y="285109"/>
            <a:ext cx="6768752" cy="536273"/>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Передача конфиденциальной информации</a:t>
            </a:r>
          </a:p>
        </p:txBody>
      </p:sp>
      <p:sp>
        <p:nvSpPr>
          <p:cNvPr id="9" name="Объект 2">
            <a:extLst>
              <a:ext uri="{FF2B5EF4-FFF2-40B4-BE49-F238E27FC236}">
                <a16:creationId xmlns:a16="http://schemas.microsoft.com/office/drawing/2014/main" id="{A87FBDDF-7ED6-43EA-AD18-214CE6890B74}"/>
              </a:ext>
            </a:extLst>
          </p:cNvPr>
          <p:cNvSpPr>
            <a:spLocks noGrp="1"/>
          </p:cNvSpPr>
          <p:nvPr>
            <p:ph idx="1"/>
          </p:nvPr>
        </p:nvSpPr>
        <p:spPr>
          <a:xfrm>
            <a:off x="2495599" y="1500166"/>
            <a:ext cx="7920880" cy="2332856"/>
          </a:xfrm>
        </p:spPr>
        <p:txBody>
          <a:bodyPr/>
          <a:lstStyle/>
          <a:p>
            <a:pPr marL="0" indent="0" algn="just">
              <a:buNone/>
            </a:pPr>
            <a:r>
              <a:rPr lang="ru-RU" sz="2400" dirty="0">
                <a:latin typeface="Times New Roman" panose="02020603050405020304" pitchFamily="18" charset="0"/>
                <a:cs typeface="Times New Roman" panose="02020603050405020304" pitchFamily="18" charset="0"/>
              </a:rPr>
              <a:t>	</a:t>
            </a:r>
            <a:endParaRPr lang="ru-RU" dirty="0"/>
          </a:p>
        </p:txBody>
      </p:sp>
      <p:sp>
        <p:nvSpPr>
          <p:cNvPr id="8" name="Объект 2">
            <a:extLst>
              <a:ext uri="{FF2B5EF4-FFF2-40B4-BE49-F238E27FC236}">
                <a16:creationId xmlns:a16="http://schemas.microsoft.com/office/drawing/2014/main" id="{CAE07B50-1C60-416F-96DB-C27D5DE004AA}"/>
              </a:ext>
            </a:extLst>
          </p:cNvPr>
          <p:cNvSpPr txBox="1">
            <a:spLocks/>
          </p:cNvSpPr>
          <p:nvPr/>
        </p:nvSpPr>
        <p:spPr>
          <a:xfrm>
            <a:off x="1055440" y="1124744"/>
            <a:ext cx="10873208" cy="4896541"/>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spcBef>
                <a:spcPts val="600"/>
              </a:spcBef>
              <a:buNone/>
            </a:pPr>
            <a:r>
              <a:rPr lang="ru-RU" sz="2400" dirty="0">
                <a:latin typeface="Times New Roman" panose="02020603050405020304" pitchFamily="18" charset="0"/>
                <a:cs typeface="Times New Roman" panose="02020603050405020304" pitchFamily="18" charset="0"/>
              </a:rPr>
              <a:t>Обращаем внимание, что в конфиденциальной электронной переписке с деловыми партнерами текст сообщения должен содержать ясно видимое следующее сообщение на двух языках:</a:t>
            </a:r>
          </a:p>
          <a:p>
            <a:pPr marL="0" indent="0" algn="just">
              <a:lnSpc>
                <a:spcPct val="110000"/>
              </a:lnSpc>
              <a:spcBef>
                <a:spcPts val="0"/>
              </a:spcBef>
              <a:buNone/>
            </a:pPr>
            <a:endParaRPr lang="ru-RU" sz="2000" dirty="0">
              <a:latin typeface="Times New Roman" panose="02020603050405020304" pitchFamily="18" charset="0"/>
              <a:cs typeface="Times New Roman" panose="02020603050405020304" pitchFamily="18" charset="0"/>
            </a:endParaRPr>
          </a:p>
          <a:p>
            <a:pPr marL="0" indent="0" algn="just">
              <a:lnSpc>
                <a:spcPct val="110000"/>
              </a:lnSpc>
              <a:spcBef>
                <a:spcPts val="600"/>
              </a:spcBef>
              <a:buNone/>
            </a:pPr>
            <a:r>
              <a:rPr lang="ru-RU" sz="1600" i="1" dirty="0">
                <a:latin typeface="Times New Roman" panose="02020603050405020304" pitchFamily="18" charset="0"/>
                <a:cs typeface="Times New Roman" panose="02020603050405020304" pitchFamily="18" charset="0"/>
              </a:rPr>
              <a:t>Уведомление о конфиденциальности: Это электронное письмо и любые передаваемые с ним файлы являются конфиденциальными и предназначены исключительно для использования предполагаемым получателем. Если Вы не являетесь предполагаемым получателем или лицом, ответственным за его доставку предполагаемому получателю, имейте в виду, что Вы получили это электронное письмо по ошибке и что любое раскрытие, распространение, копирование или использование строго запрещено. Если Вы получили это письмо по ошибке, сообщите отправителю, а затем удалите сообщение и все вложения со своего компьютера.</a:t>
            </a:r>
          </a:p>
          <a:p>
            <a:pPr marL="0" indent="0" algn="just">
              <a:lnSpc>
                <a:spcPct val="110000"/>
              </a:lnSpc>
              <a:spcBef>
                <a:spcPts val="600"/>
              </a:spcBef>
              <a:buNone/>
            </a:pPr>
            <a:r>
              <a:rPr lang="ru-RU" sz="1600" i="1" dirty="0">
                <a:latin typeface="Times New Roman" panose="02020603050405020304" pitchFamily="18" charset="0"/>
                <a:cs typeface="Times New Roman" panose="02020603050405020304" pitchFamily="18" charset="0"/>
              </a:rPr>
              <a:t>Отказ от ответственности: Интернет связь небезопасна, поэтому Группа ПОЛИПЛАСТИК не несет юридической ответственности за содержание этого сообщения. Любые представленные взгляды или мнения принадлежат исключительно автору и не обязательно отражают точку зрения группы ПОЛИПЛАСТИК, если специально не указано иное.</a:t>
            </a:r>
            <a:endParaRPr lang="en-US" sz="1600" i="1" dirty="0">
              <a:latin typeface="Times New Roman" panose="02020603050405020304" pitchFamily="18" charset="0"/>
              <a:cs typeface="Times New Roman" panose="02020603050405020304" pitchFamily="18" charset="0"/>
            </a:endParaRPr>
          </a:p>
          <a:p>
            <a:pPr marL="0" indent="0" algn="just">
              <a:lnSpc>
                <a:spcPct val="110000"/>
              </a:lnSpc>
              <a:spcBef>
                <a:spcPts val="600"/>
              </a:spcBef>
              <a:buNone/>
            </a:pPr>
            <a:endParaRPr lang="ru-RU" sz="1600" i="1" dirty="0">
              <a:latin typeface="Times New Roman" panose="02020603050405020304" pitchFamily="18" charset="0"/>
              <a:cs typeface="Times New Roman" panose="02020603050405020304" pitchFamily="18" charset="0"/>
            </a:endParaRPr>
          </a:p>
          <a:p>
            <a:pPr marL="0" indent="0" algn="just">
              <a:lnSpc>
                <a:spcPct val="110000"/>
              </a:lnSpc>
              <a:spcBef>
                <a:spcPts val="600"/>
              </a:spcBef>
              <a:buNone/>
            </a:pPr>
            <a:r>
              <a:rPr lang="en-US" sz="1600" i="1" dirty="0">
                <a:latin typeface="Times New Roman" panose="02020603050405020304" pitchFamily="18" charset="0"/>
                <a:cs typeface="Times New Roman" panose="02020603050405020304" pitchFamily="18" charset="0"/>
              </a:rPr>
              <a:t>Confidentiality Notice: This email and any attachments are confidential and intended only for the use of the designated recipient. If you are not the designated recipient or the person responsible for its delivery to the designated responsible for its delivery to the designated recipient, please note that you have received this email in error and that any disclosure, dissemination, distribution, copying or use is strictly prohibited. If you have received this email in error, please notify the sender and then delete the communication and any attachments from your computer</a:t>
            </a:r>
            <a:r>
              <a:rPr lang="ru-RU" sz="1600" i="1" dirty="0">
                <a:latin typeface="Times New Roman" panose="02020603050405020304" pitchFamily="18" charset="0"/>
                <a:cs typeface="Times New Roman" panose="02020603050405020304" pitchFamily="18" charset="0"/>
              </a:rPr>
              <a:t>.</a:t>
            </a:r>
            <a:endParaRPr lang="en-US" sz="1600" i="1" dirty="0">
              <a:latin typeface="Times New Roman" panose="02020603050405020304" pitchFamily="18" charset="0"/>
              <a:cs typeface="Times New Roman" panose="02020603050405020304" pitchFamily="18" charset="0"/>
            </a:endParaRPr>
          </a:p>
          <a:p>
            <a:pPr marL="0" indent="0" algn="just">
              <a:lnSpc>
                <a:spcPct val="110000"/>
              </a:lnSpc>
              <a:spcBef>
                <a:spcPts val="600"/>
              </a:spcBef>
              <a:buNone/>
            </a:pPr>
            <a:r>
              <a:rPr lang="en-US" sz="1600" i="1" dirty="0">
                <a:latin typeface="Times New Roman" panose="02020603050405020304" pitchFamily="18" charset="0"/>
                <a:cs typeface="Times New Roman" panose="02020603050405020304" pitchFamily="18" charset="0"/>
              </a:rPr>
              <a:t>Disclaimer: Internet communications are not secure, and therefore POLYPLASTIC Group does not accept legal responsibility for the contents of this email. Any views or opinions given are solely those of the author and do not necessary represent those of the POLYPLASTIC Group, unless otherwise specifically stated.</a:t>
            </a:r>
            <a:endParaRPr lang="ru-RU" sz="1600" i="1" dirty="0">
              <a:latin typeface="Times New Roman" panose="02020603050405020304" pitchFamily="18" charset="0"/>
              <a:cs typeface="Times New Roman" panose="02020603050405020304" pitchFamily="18" charset="0"/>
            </a:endParaRPr>
          </a:p>
          <a:p>
            <a:pPr marL="0" indent="0" algn="just">
              <a:buNone/>
            </a:pPr>
            <a:endParaRPr lang="ru-RU" sz="1900" dirty="0"/>
          </a:p>
        </p:txBody>
      </p:sp>
    </p:spTree>
    <p:custDataLst>
      <p:tags r:id="rId1"/>
    </p:custDataLst>
    <p:extLst>
      <p:ext uri="{BB962C8B-B14F-4D97-AF65-F5344CB8AC3E}">
        <p14:creationId xmlns:p14="http://schemas.microsoft.com/office/powerpoint/2010/main" val="27250182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1000"/>
                                        <p:tgtEl>
                                          <p:spTgt spid="9">
                                            <p:txEl>
                                              <p:pRg st="0" end="0"/>
                                            </p:txEl>
                                          </p:spTgt>
                                        </p:tgtEl>
                                      </p:cBhvr>
                                    </p:animEffect>
                                    <p:anim calcmode="lin" valueType="num">
                                      <p:cBhvr>
                                        <p:cTn id="14"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50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fade">
                                      <p:cBhvr>
                                        <p:cTn id="19" dur="1750"/>
                                        <p:tgtEl>
                                          <p:spTgt spid="8">
                                            <p:txEl>
                                              <p:pRg st="2" end="2"/>
                                            </p:txEl>
                                          </p:spTgt>
                                        </p:tgtEl>
                                      </p:cBhvr>
                                    </p:animEffect>
                                    <p:anim calcmode="lin" valueType="num">
                                      <p:cBhvr>
                                        <p:cTn id="20" dur="175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1" dur="1750" fill="hold"/>
                                        <p:tgtEl>
                                          <p:spTgt spid="8">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50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1750"/>
                                        <p:tgtEl>
                                          <p:spTgt spid="8">
                                            <p:txEl>
                                              <p:pRg st="5" end="5"/>
                                            </p:txEl>
                                          </p:spTgt>
                                        </p:tgtEl>
                                      </p:cBhvr>
                                    </p:animEffect>
                                    <p:anim calcmode="lin" valueType="num">
                                      <p:cBhvr>
                                        <p:cTn id="25" dur="175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6" dur="175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par>
                          <p:cTn id="27" fill="hold">
                            <p:stCondLst>
                              <p:cond delay="4250"/>
                            </p:stCondLst>
                            <p:childTnLst>
                              <p:par>
                                <p:cTn id="28" presetID="42" presetClass="entr" presetSubtype="0" fill="hold" grpId="0" nodeType="afterEffect">
                                  <p:stCondLst>
                                    <p:cond delay="500"/>
                                  </p:stCondLst>
                                  <p:childTnLst>
                                    <p:set>
                                      <p:cBhvr>
                                        <p:cTn id="29" dur="1" fill="hold">
                                          <p:stCondLst>
                                            <p:cond delay="0"/>
                                          </p:stCondLst>
                                        </p:cTn>
                                        <p:tgtEl>
                                          <p:spTgt spid="8">
                                            <p:txEl>
                                              <p:pRg st="3" end="3"/>
                                            </p:txEl>
                                          </p:spTgt>
                                        </p:tgtEl>
                                        <p:attrNameLst>
                                          <p:attrName>style.visibility</p:attrName>
                                        </p:attrNameLst>
                                      </p:cBhvr>
                                      <p:to>
                                        <p:strVal val="visible"/>
                                      </p:to>
                                    </p:set>
                                    <p:animEffect transition="in" filter="fade">
                                      <p:cBhvr>
                                        <p:cTn id="30" dur="1750"/>
                                        <p:tgtEl>
                                          <p:spTgt spid="8">
                                            <p:txEl>
                                              <p:pRg st="3" end="3"/>
                                            </p:txEl>
                                          </p:spTgt>
                                        </p:tgtEl>
                                      </p:cBhvr>
                                    </p:animEffect>
                                    <p:anim calcmode="lin" valueType="num">
                                      <p:cBhvr>
                                        <p:cTn id="31" dur="175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2" dur="1750" fill="hold"/>
                                        <p:tgtEl>
                                          <p:spTgt spid="8">
                                            <p:txEl>
                                              <p:pRg st="3" end="3"/>
                                            </p:txEl>
                                          </p:spTgt>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50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fade">
                                      <p:cBhvr>
                                        <p:cTn id="35" dur="1750"/>
                                        <p:tgtEl>
                                          <p:spTgt spid="8">
                                            <p:txEl>
                                              <p:pRg st="6" end="6"/>
                                            </p:txEl>
                                          </p:spTgt>
                                        </p:tgtEl>
                                      </p:cBhvr>
                                    </p:animEffect>
                                    <p:anim calcmode="lin" valueType="num">
                                      <p:cBhvr>
                                        <p:cTn id="36" dur="175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7" dur="175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8"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407888" y="404664"/>
            <a:ext cx="2592767"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4"/>
          <a:stretch>
            <a:fillRect/>
          </a:stretch>
        </p:blipFill>
        <p:spPr>
          <a:xfrm>
            <a:off x="335360" y="6453336"/>
            <a:ext cx="1390008" cy="268247"/>
          </a:xfrm>
          <a:prstGeom prst="rect">
            <a:avLst/>
          </a:prstGeom>
        </p:spPr>
      </p:pic>
      <p:sp>
        <p:nvSpPr>
          <p:cNvPr id="7" name="Заголовок 1">
            <a:extLst>
              <a:ext uri="{FF2B5EF4-FFF2-40B4-BE49-F238E27FC236}">
                <a16:creationId xmlns:a16="http://schemas.microsoft.com/office/drawing/2014/main" id="{0621B894-0A04-4DC2-9DDA-AEE3AAD9B016}"/>
              </a:ext>
            </a:extLst>
          </p:cNvPr>
          <p:cNvSpPr>
            <a:spLocks noGrp="1"/>
          </p:cNvSpPr>
          <p:nvPr>
            <p:ph type="title"/>
          </p:nvPr>
        </p:nvSpPr>
        <p:spPr>
          <a:xfrm>
            <a:off x="2106983" y="228427"/>
            <a:ext cx="8229600" cy="721354"/>
          </a:xfrm>
        </p:spPr>
        <p:txBody>
          <a:bodyPr>
            <a:normAutofit/>
          </a:bodyPr>
          <a:lstStyle/>
          <a:p>
            <a:r>
              <a:rPr lang="ru-RU" sz="2600" b="1" dirty="0">
                <a:solidFill>
                  <a:schemeClr val="tx2"/>
                </a:solidFill>
                <a:latin typeface="Times New Roman" panose="02020603050405020304" pitchFamily="18" charset="0"/>
                <a:cs typeface="Times New Roman" panose="02020603050405020304" pitchFamily="18" charset="0"/>
              </a:rPr>
              <a:t>Ответственность за нарушение</a:t>
            </a:r>
          </a:p>
        </p:txBody>
      </p:sp>
      <p:sp>
        <p:nvSpPr>
          <p:cNvPr id="8" name="Текст 6">
            <a:extLst>
              <a:ext uri="{FF2B5EF4-FFF2-40B4-BE49-F238E27FC236}">
                <a16:creationId xmlns:a16="http://schemas.microsoft.com/office/drawing/2014/main" id="{59BCF513-C736-46F6-8853-70E5A464EE9F}"/>
              </a:ext>
            </a:extLst>
          </p:cNvPr>
          <p:cNvSpPr txBox="1">
            <a:spLocks/>
          </p:cNvSpPr>
          <p:nvPr/>
        </p:nvSpPr>
        <p:spPr>
          <a:xfrm>
            <a:off x="1055440" y="1124745"/>
            <a:ext cx="10801200" cy="37884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lang="ru-RU" sz="1275" b="1" kern="1200" spc="-23" baseline="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600"/>
              </a:spcBef>
              <a:defRPr/>
            </a:pPr>
            <a:r>
              <a:rPr lang="ru-RU" sz="2000" dirty="0">
                <a:solidFill>
                  <a:schemeClr val="tx1"/>
                </a:solidFill>
                <a:latin typeface="Times New Roman" panose="02020603050405020304" pitchFamily="18" charset="0"/>
                <a:cs typeface="Times New Roman" panose="02020603050405020304" pitchFamily="18" charset="0"/>
              </a:rPr>
              <a:t>Помните, что нарушение требований Положения о коммерческой тайне и конфиденциальной информации влечет за собой дисциплинарную, гражданско-правовую, административную или уголовную ответственность в соответствии с законодательством Российской Федерации.</a:t>
            </a:r>
          </a:p>
          <a:p>
            <a:pPr algn="just">
              <a:lnSpc>
                <a:spcPct val="100000"/>
              </a:lnSpc>
              <a:spcBef>
                <a:spcPts val="600"/>
              </a:spcBef>
              <a:defRPr/>
            </a:pPr>
            <a:endParaRPr lang="ru-RU" sz="2000" b="0" dirty="0">
              <a:solidFill>
                <a:schemeClr val="tx1"/>
              </a:solidFill>
              <a:latin typeface="Times New Roman" panose="02020603050405020304" pitchFamily="18" charset="0"/>
              <a:cs typeface="Times New Roman" panose="02020603050405020304" pitchFamily="18" charset="0"/>
            </a:endParaRPr>
          </a:p>
          <a:p>
            <a:pPr algn="just">
              <a:lnSpc>
                <a:spcPct val="100000"/>
              </a:lnSpc>
              <a:spcBef>
                <a:spcPts val="600"/>
              </a:spcBef>
              <a:defRPr/>
            </a:pPr>
            <a:r>
              <a:rPr lang="ru-RU" sz="2000" b="0" dirty="0">
                <a:solidFill>
                  <a:schemeClr val="tx1"/>
                </a:solidFill>
                <a:latin typeface="Times New Roman" panose="02020603050405020304" pitchFamily="18" charset="0"/>
                <a:cs typeface="Times New Roman" panose="02020603050405020304" pitchFamily="18" charset="0"/>
              </a:rPr>
              <a:t>Обращаем внимание, что Общество вправе требовать от работников принимать меры по охране конфиденциальности информации.</a:t>
            </a:r>
          </a:p>
        </p:txBody>
      </p:sp>
      <p:pic>
        <p:nvPicPr>
          <p:cNvPr id="3" name="Рисунок 2">
            <a:extLst>
              <a:ext uri="{FF2B5EF4-FFF2-40B4-BE49-F238E27FC236}">
                <a16:creationId xmlns:a16="http://schemas.microsoft.com/office/drawing/2014/main" id="{4F15ECD4-6A53-4273-A528-B2E85E92986B}"/>
              </a:ext>
            </a:extLst>
          </p:cNvPr>
          <p:cNvPicPr>
            <a:picLocks noChangeAspect="1"/>
          </p:cNvPicPr>
          <p:nvPr/>
        </p:nvPicPr>
        <p:blipFill>
          <a:blip r:embed="rId5"/>
          <a:stretch>
            <a:fillRect/>
          </a:stretch>
        </p:blipFill>
        <p:spPr>
          <a:xfrm>
            <a:off x="3935760" y="3507408"/>
            <a:ext cx="4211960" cy="2811483"/>
          </a:xfrm>
          <a:prstGeom prst="rect">
            <a:avLst/>
          </a:prstGeom>
          <a:effectLst>
            <a:softEdge rad="127000"/>
          </a:effectLst>
        </p:spPr>
      </p:pic>
    </p:spTree>
    <p:custDataLst>
      <p:tags r:id="rId1"/>
    </p:custDataLst>
    <p:extLst>
      <p:ext uri="{BB962C8B-B14F-4D97-AF65-F5344CB8AC3E}">
        <p14:creationId xmlns:p14="http://schemas.microsoft.com/office/powerpoint/2010/main" val="10420702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250"/>
                                        <p:tgtEl>
                                          <p:spTgt spid="8">
                                            <p:txEl>
                                              <p:pRg st="0" end="0"/>
                                            </p:txEl>
                                          </p:spTgt>
                                        </p:tgtEl>
                                      </p:cBhvr>
                                    </p:animEffect>
                                  </p:childTnLst>
                                </p:cTn>
                              </p:par>
                            </p:childTnLst>
                          </p:cTn>
                        </p:par>
                        <p:par>
                          <p:cTn id="8" fill="hold">
                            <p:stCondLst>
                              <p:cond delay="1250"/>
                            </p:stCondLst>
                            <p:childTnLst>
                              <p:par>
                                <p:cTn id="9" presetID="10" presetClass="entr" presetSubtype="0" fill="hold" nodeType="after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Effect transition="in" filter="fade">
                                      <p:cBhvr>
                                        <p:cTn id="11" dur="1250"/>
                                        <p:tgtEl>
                                          <p:spTgt spid="8">
                                            <p:txEl>
                                              <p:pRg st="2" end="2"/>
                                            </p:txEl>
                                          </p:spTgt>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9336360" y="332656"/>
            <a:ext cx="2664296" cy="12864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solidFill>
                <a:prstClr val="white"/>
              </a:solidFill>
              <a:latin typeface="Calibri"/>
            </a:endParaRPr>
          </a:p>
        </p:txBody>
      </p:sp>
      <p:cxnSp>
        <p:nvCxnSpPr>
          <p:cNvPr id="6" name="Прямая соединительная линия 12"/>
          <p:cNvCxnSpPr>
            <a:cxnSpLocks noChangeShapeType="1"/>
          </p:cNvCxnSpPr>
          <p:nvPr/>
        </p:nvCxnSpPr>
        <p:spPr bwMode="auto">
          <a:xfrm>
            <a:off x="335360" y="6324600"/>
            <a:ext cx="11521280" cy="0"/>
          </a:xfrm>
          <a:prstGeom prst="line">
            <a:avLst/>
          </a:prstGeom>
          <a:noFill/>
          <a:ln w="9525" algn="ctr">
            <a:solidFill>
              <a:srgbClr val="003366"/>
            </a:solidFill>
            <a:round/>
            <a:headEnd/>
            <a:tailEnd/>
          </a:ln>
        </p:spPr>
      </p:cxnSp>
      <p:pic>
        <p:nvPicPr>
          <p:cNvPr id="2" name="Рисунок 1">
            <a:extLst>
              <a:ext uri="{FF2B5EF4-FFF2-40B4-BE49-F238E27FC236}">
                <a16:creationId xmlns:a16="http://schemas.microsoft.com/office/drawing/2014/main" id="{445AE98D-60E4-4C20-AF22-CCA3B13E71D0}"/>
              </a:ext>
            </a:extLst>
          </p:cNvPr>
          <p:cNvPicPr>
            <a:picLocks noChangeAspect="1"/>
          </p:cNvPicPr>
          <p:nvPr/>
        </p:nvPicPr>
        <p:blipFill>
          <a:blip r:embed="rId4"/>
          <a:stretch>
            <a:fillRect/>
          </a:stretch>
        </p:blipFill>
        <p:spPr>
          <a:xfrm>
            <a:off x="479376" y="6481939"/>
            <a:ext cx="1390008" cy="268247"/>
          </a:xfrm>
          <a:prstGeom prst="rect">
            <a:avLst/>
          </a:prstGeom>
        </p:spPr>
      </p:pic>
      <p:sp>
        <p:nvSpPr>
          <p:cNvPr id="9" name="Прямоугольник 8">
            <a:extLst>
              <a:ext uri="{FF2B5EF4-FFF2-40B4-BE49-F238E27FC236}">
                <a16:creationId xmlns:a16="http://schemas.microsoft.com/office/drawing/2014/main" id="{248B9E97-D5A0-4E0D-8E58-74568F360847}"/>
              </a:ext>
            </a:extLst>
          </p:cNvPr>
          <p:cNvSpPr/>
          <p:nvPr/>
        </p:nvSpPr>
        <p:spPr>
          <a:xfrm>
            <a:off x="1127448" y="1088060"/>
            <a:ext cx="10729192" cy="707886"/>
          </a:xfrm>
          <a:prstGeom prst="rect">
            <a:avLst/>
          </a:prstGeom>
        </p:spPr>
        <p:txBody>
          <a:bodyPr wrap="square">
            <a:spAutoFit/>
          </a:bodyPr>
          <a:lstStyle/>
          <a:p>
            <a:pPr algn="just">
              <a:spcBef>
                <a:spcPts val="600"/>
              </a:spcBef>
            </a:pPr>
            <a:r>
              <a:rPr lang="ru-RU" sz="2000" dirty="0">
                <a:latin typeface="Times New Roman" panose="02020603050405020304" pitchFamily="18" charset="0"/>
                <a:cs typeface="Times New Roman" panose="02020603050405020304" pitchFamily="18" charset="0"/>
              </a:rPr>
              <a:t>С полным текстом Положения о коммерческой тайне </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и конфиденциальной информации можно ознакомиться на корпоративном портале Общества.</a:t>
            </a:r>
          </a:p>
        </p:txBody>
      </p:sp>
      <p:grpSp>
        <p:nvGrpSpPr>
          <p:cNvPr id="15" name="Группа 14">
            <a:extLst>
              <a:ext uri="{FF2B5EF4-FFF2-40B4-BE49-F238E27FC236}">
                <a16:creationId xmlns:a16="http://schemas.microsoft.com/office/drawing/2014/main" id="{777995DF-ABF5-485E-B0D5-B163BF187EFD}"/>
              </a:ext>
            </a:extLst>
          </p:cNvPr>
          <p:cNvGrpSpPr/>
          <p:nvPr/>
        </p:nvGrpSpPr>
        <p:grpSpPr>
          <a:xfrm>
            <a:off x="3791744" y="2060862"/>
            <a:ext cx="5200630" cy="3972276"/>
            <a:chOff x="2843808" y="2379152"/>
            <a:chExt cx="4912598" cy="3726032"/>
          </a:xfrm>
        </p:grpSpPr>
        <p:pic>
          <p:nvPicPr>
            <p:cNvPr id="4" name="Рисунок 3">
              <a:extLst>
                <a:ext uri="{FF2B5EF4-FFF2-40B4-BE49-F238E27FC236}">
                  <a16:creationId xmlns:a16="http://schemas.microsoft.com/office/drawing/2014/main" id="{0379581F-D2A8-497B-9AB2-A6B5371FB476}"/>
                </a:ext>
              </a:extLst>
            </p:cNvPr>
            <p:cNvPicPr>
              <a:picLocks noChangeAspect="1"/>
            </p:cNvPicPr>
            <p:nvPr/>
          </p:nvPicPr>
          <p:blipFill rotWithShape="1">
            <a:blip r:embed="rId5"/>
            <a:srcRect l="22837" t="7184" r="23438" b="20375"/>
            <a:stretch/>
          </p:blipFill>
          <p:spPr>
            <a:xfrm>
              <a:off x="2843808" y="2379152"/>
              <a:ext cx="4912598" cy="3726032"/>
            </a:xfrm>
            <a:prstGeom prst="rect">
              <a:avLst/>
            </a:prstGeom>
          </p:spPr>
        </p:pic>
        <p:sp>
          <p:nvSpPr>
            <p:cNvPr id="7" name="Овал 6">
              <a:extLst>
                <a:ext uri="{FF2B5EF4-FFF2-40B4-BE49-F238E27FC236}">
                  <a16:creationId xmlns:a16="http://schemas.microsoft.com/office/drawing/2014/main" id="{B8754635-F92D-4E36-A38F-867BE212EAA7}"/>
                </a:ext>
              </a:extLst>
            </p:cNvPr>
            <p:cNvSpPr/>
            <p:nvPr/>
          </p:nvSpPr>
          <p:spPr>
            <a:xfrm>
              <a:off x="7308304" y="2379152"/>
              <a:ext cx="216024" cy="20456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8" name="Прямоугольник 7">
              <a:extLst>
                <a:ext uri="{FF2B5EF4-FFF2-40B4-BE49-F238E27FC236}">
                  <a16:creationId xmlns:a16="http://schemas.microsoft.com/office/drawing/2014/main" id="{91B72C36-74E7-437E-9AA8-3F5A8C674B52}"/>
                </a:ext>
              </a:extLst>
            </p:cNvPr>
            <p:cNvSpPr/>
            <p:nvPr/>
          </p:nvSpPr>
          <p:spPr>
            <a:xfrm>
              <a:off x="6732240" y="2379152"/>
              <a:ext cx="684076" cy="184666"/>
            </a:xfrm>
            <a:prstGeom prst="rect">
              <a:avLst/>
            </a:prstGeom>
          </p:spPr>
          <p:txBody>
            <a:bodyPr wrap="square">
              <a:spAutoFit/>
            </a:bodyPr>
            <a:lstStyle/>
            <a:p>
              <a:r>
                <a:rPr lang="ru-RU" sz="600" dirty="0">
                  <a:solidFill>
                    <a:prstClr val="black"/>
                  </a:solidFill>
                  <a:latin typeface="Times New Roman" panose="02020603050405020304" pitchFamily="18" charset="0"/>
                  <a:cs typeface="Times New Roman" panose="02020603050405020304" pitchFamily="18" charset="0"/>
                </a:rPr>
                <a:t>Иван Иванов</a:t>
              </a:r>
              <a:endParaRPr lang="ru-RU" sz="600" dirty="0"/>
            </a:p>
          </p:txBody>
        </p:sp>
        <p:sp>
          <p:nvSpPr>
            <p:cNvPr id="11" name="Прямоугольник 10">
              <a:extLst>
                <a:ext uri="{FF2B5EF4-FFF2-40B4-BE49-F238E27FC236}">
                  <a16:creationId xmlns:a16="http://schemas.microsoft.com/office/drawing/2014/main" id="{5DEE57CF-0ACD-44F2-8CE5-027ADACA92E3}"/>
                </a:ext>
              </a:extLst>
            </p:cNvPr>
            <p:cNvSpPr/>
            <p:nvPr/>
          </p:nvSpPr>
          <p:spPr>
            <a:xfrm>
              <a:off x="6787261" y="3809545"/>
              <a:ext cx="576064" cy="1385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Прямоугольник 11">
              <a:extLst>
                <a:ext uri="{FF2B5EF4-FFF2-40B4-BE49-F238E27FC236}">
                  <a16:creationId xmlns:a16="http://schemas.microsoft.com/office/drawing/2014/main" id="{21F8A221-0C41-4242-AC1E-1AE1EADF0A53}"/>
                </a:ext>
              </a:extLst>
            </p:cNvPr>
            <p:cNvSpPr/>
            <p:nvPr/>
          </p:nvSpPr>
          <p:spPr>
            <a:xfrm>
              <a:off x="6139189" y="2630096"/>
              <a:ext cx="648072" cy="1972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noFill/>
              </a:endParaRPr>
            </a:p>
          </p:txBody>
        </p:sp>
        <p:sp>
          <p:nvSpPr>
            <p:cNvPr id="13" name="Прямоугольник 12">
              <a:extLst>
                <a:ext uri="{FF2B5EF4-FFF2-40B4-BE49-F238E27FC236}">
                  <a16:creationId xmlns:a16="http://schemas.microsoft.com/office/drawing/2014/main" id="{640334BE-6BE5-4ECA-921B-9D4880AA9F5D}"/>
                </a:ext>
              </a:extLst>
            </p:cNvPr>
            <p:cNvSpPr/>
            <p:nvPr/>
          </p:nvSpPr>
          <p:spPr>
            <a:xfrm>
              <a:off x="3779912" y="5729966"/>
              <a:ext cx="1368152" cy="2913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Tree>
    <p:custDataLst>
      <p:tags r:id="rId1"/>
    </p:custDataLst>
    <p:extLst>
      <p:ext uri="{BB962C8B-B14F-4D97-AF65-F5344CB8AC3E}">
        <p14:creationId xmlns:p14="http://schemas.microsoft.com/office/powerpoint/2010/main" val="18555391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down)">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OJECT_VERSION" val="9.3"/>
  <p:tag name="ISPRING_PROJECT_FOLDER_UPDATED" val="1"/>
  <p:tag name="ISPRING_FIRST_PUBLISH" val="1"/>
  <p:tag name="ISPRING_LMS_API_VERSION" val="SCORM 2004 (4th edition)"/>
  <p:tag name="ISPRING_ULTRA_SCORM_COURSE_ID" val="F1911138-A131-4826-BCBF-DDABDD4DA5C5"/>
  <p:tag name="ISPRING_CMI5_LAUNCH_METHOD" val="any window"/>
  <p:tag name="ISPRINGCLOUDFOLDERID" val="1"/>
  <p:tag name="ISPRING_SCORM_RATE_SLIDES" val="0"/>
  <p:tag name="ISPRINGONLINEFOLDERID" val="0"/>
  <p:tag name="ISPRING_RESOURCE_FOLDER" val="\\server\Public\Группа Полипластик\Управление по работе с персоналом\Отдел развития персонала\Обучение персонала\Он-лайн обучение\Дистанционные курсы\Этика делового общения\Этикет делового электронного письма\Этикет делового электронного письма\"/>
  <p:tag name="ISPRING_PRESENTATION_PATH" val="\\server\Public\Группа Полипластик\Управление по работе с персоналом\Отдел развития персонала\Обучение персонала\Он-лайн обучение\Дистанционные курсы\Этика делового общения\Этикет делового электронного письма\Этикет делового электронного письма.pptx"/>
  <p:tag name="ISPRING_SCREEN_RECS_UPDATED" val="\\server\Public\Группа Полипластик\Управление по работе с персоналом\Отдел развития персонала\Обучение персонала\Он-лайн обучение\Дистанционные курсы\Этика делового общения\Этикет делового электронного письма\Этикет делового электронного письма\"/>
  <p:tag name="ISPRING_UUID" val="{58E0C66C-FF97-43C3-8AF9-036CE563AC58}"/>
  <p:tag name="ISPRING_ULTRA_SCORM_COURCE_TITLE" val="Положение о коммерческой тайне и КИ"/>
  <p:tag name="ISPRING_SCORM_PASSING_SCORE" val="0.000000"/>
  <p:tag name="ISPRING_PRESENTATION_TITLE" val="Положение о коммерческой тайне и КИ"/>
  <p:tag name="ISPRING_SCORM_ENDPOINT" val="&lt;endpoint&gt;&lt;enable&gt;0&lt;/enable&gt;&lt;lrs&gt;https://&lt;/lrs&gt;&lt;auth&gt;0&lt;/auth&gt;&lt;login&gt;&lt;/login&gt;&lt;password&gt;&lt;/password&gt;&lt;key&gt;&lt;/key&gt;&lt;name&gt;&lt;/name&gt;&lt;email&gt;&lt;/email&gt;&lt;/endpoint&gt;&#10;"/>
  <p:tag name="ISPRING_OUTPUT_FOLDER" val="[[&quot;=]9\uFFFD{4B58CD1E-8450-430F-A22B-F44E77FD422F}&quot;,&quot;C:\\Users\\tatyana.zabkova\\Desktop\\Курсы для переноса&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FIT_TO_WINDOW&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0&quot;},&quot;cloudSettings&quot;:{&quot;onlineDestinationFolderId&quot;:&quot;1&quot;},&quot;publishDestination&quot;:&quot;LMS&quot;,&quot;wordSettings&quot;:{&quot;printCopies&quot;:1},&quot;studioSettings&quot;:{&quot;onlineDestinationFolderId&quot;:&quot;0&quot;,&quot;uploadSources&quot;:true}}"/>
  <p:tag name="ISPRING_SCORM_RATE_QUIZZES" val="0"/>
</p:tagLst>
</file>

<file path=ppt/tags/tag2.xml><?xml version="1.0" encoding="utf-8"?>
<p:tagLst xmlns:a="http://schemas.openxmlformats.org/drawingml/2006/main" xmlns:r="http://schemas.openxmlformats.org/officeDocument/2006/relationships" xmlns:p="http://schemas.openxmlformats.org/presentationml/2006/main">
  <p:tag name="GENSWF_SLIDE_UID" val="{F6B9BC5B-BE55-4B60-83A6-455AD9A11637}:329"/>
</p:tagLst>
</file>

<file path=ppt/tags/tag3.xml><?xml version="1.0" encoding="utf-8"?>
<p:tagLst xmlns:a="http://schemas.openxmlformats.org/drawingml/2006/main" xmlns:r="http://schemas.openxmlformats.org/officeDocument/2006/relationships" xmlns:p="http://schemas.openxmlformats.org/presentationml/2006/main">
  <p:tag name="GENSWF_SLIDE_UID" val="{873ED9B2-819A-4DB6-BFCD-EE310DD1F4DE}:365"/>
</p:tagLst>
</file>

<file path=ppt/tags/tag4.xml><?xml version="1.0" encoding="utf-8"?>
<p:tagLst xmlns:a="http://schemas.openxmlformats.org/drawingml/2006/main" xmlns:r="http://schemas.openxmlformats.org/officeDocument/2006/relationships" xmlns:p="http://schemas.openxmlformats.org/presentationml/2006/main">
  <p:tag name="ISPRING_CONTENTLIB_ASSET_META" val="{&quot;ai&quot;:&quot;LPephQd378gbnwErKa3L4Q&quot;,&quot;gi&quot;:&quot;FGqgo8LJlWW1vXT3-lNxyg&quot;,&quot;ti&quot;:&quot;ui_elements&quot;,&quot;vs&quot;:{&quot;f&quot;:[335],&quot;i&quot;:{&quot;d&quot;:&quot;LPephQd378gbnwErKa3L4Q&quot;,&quot;p&quot;:true}}}"/>
</p:tagLst>
</file>

<file path=ppt/tags/tag5.xml><?xml version="1.0" encoding="utf-8"?>
<p:tagLst xmlns:a="http://schemas.openxmlformats.org/drawingml/2006/main" xmlns:r="http://schemas.openxmlformats.org/officeDocument/2006/relationships" xmlns:p="http://schemas.openxmlformats.org/presentationml/2006/main">
  <p:tag name="ISPRING_CONTENTLIB_ASSET_META" val="{&quot;ai&quot;:&quot;LPephQd378gbnwErKa3L4Q&quot;,&quot;gi&quot;:&quot;FGqgo8LJlWW1vXT3-lNxyg&quot;,&quot;ti&quot;:&quot;ui_elements&quot;,&quot;vs&quot;:{&quot;f&quot;:[335],&quot;i&quot;:{&quot;d&quot;:&quot;LPephQd378gbnwErKa3L4Q&quot;,&quot;p&quot;:true}}}"/>
</p:tagLst>
</file>

<file path=ppt/tags/tag6.xml><?xml version="1.0" encoding="utf-8"?>
<p:tagLst xmlns:a="http://schemas.openxmlformats.org/drawingml/2006/main" xmlns:r="http://schemas.openxmlformats.org/officeDocument/2006/relationships" xmlns:p="http://schemas.openxmlformats.org/presentationml/2006/main">
  <p:tag name="GENSWF_SLIDE_UID" val="{198644AE-4DAF-4957-AFD4-D41E886C1291}:367"/>
</p:tagLst>
</file>

<file path=ppt/tags/tag7.xml><?xml version="1.0" encoding="utf-8"?>
<p:tagLst xmlns:a="http://schemas.openxmlformats.org/drawingml/2006/main" xmlns:r="http://schemas.openxmlformats.org/officeDocument/2006/relationships" xmlns:p="http://schemas.openxmlformats.org/presentationml/2006/main">
  <p:tag name="GENSWF_SLIDE_UID" val="{ED8D573C-972B-4196-9099-741F2F80F6E3}:366"/>
</p:tagLst>
</file>

<file path=ppt/tags/tag8.xml><?xml version="1.0" encoding="utf-8"?>
<p:tagLst xmlns:a="http://schemas.openxmlformats.org/drawingml/2006/main" xmlns:r="http://schemas.openxmlformats.org/officeDocument/2006/relationships" xmlns:p="http://schemas.openxmlformats.org/presentationml/2006/main">
  <p:tag name="ISPRING_CONTENTLIB_ASSET_META" val="{&quot;ai&quot;:&quot;LPephQd378gbnwErKa3L4Q&quot;,&quot;gi&quot;:&quot;FGqgo8LJlWW1vXT3-lNxyg&quot;,&quot;ti&quot;:&quot;ui_elements&quot;,&quot;vs&quot;:{&quot;f&quot;:[335],&quot;i&quot;:{&quot;d&quot;:&quot;LPephQd378gbnwErKa3L4Q&quot;,&quot;p&quot;:true}}}"/>
</p:tagLst>
</file>

<file path=ppt/tags/tag9.xml><?xml version="1.0" encoding="utf-8"?>
<p:tagLst xmlns:a="http://schemas.openxmlformats.org/drawingml/2006/main" xmlns:r="http://schemas.openxmlformats.org/officeDocument/2006/relationships" xmlns:p="http://schemas.openxmlformats.org/presentationml/2006/main">
  <p:tag name="GENSWF_SLIDE_UID" val="{C0423991-9584-4589-89C5-1D96B121240D}:330"/>
</p:tagLst>
</file>

<file path=ppt/tags/tag10.xml><?xml version="1.0" encoding="utf-8"?>
<p:tagLst xmlns:a="http://schemas.openxmlformats.org/drawingml/2006/main" xmlns:r="http://schemas.openxmlformats.org/officeDocument/2006/relationships" xmlns:p="http://schemas.openxmlformats.org/presentationml/2006/main">
  <p:tag name="ISPRING_CONTENTLIB_ASSET_META" val="{&quot;ai&quot;:&quot;LPephQd378gbnwErKa3L4Q&quot;,&quot;gi&quot;:&quot;FGqgo8LJlWW1vXT3-lNxyg&quot;,&quot;ti&quot;:&quot;ui_elements&quot;,&quot;vs&quot;:{&quot;f&quot;:[335],&quot;i&quot;:{&quot;d&quot;:&quot;LPephQd378gbnwErKa3L4Q&quot;,&quot;p&quot;:true}}}"/>
</p:tagLst>
</file>

<file path=ppt/tags/tag11.xml><?xml version="1.0" encoding="utf-8"?>
<p:tagLst xmlns:a="http://schemas.openxmlformats.org/drawingml/2006/main" xmlns:r="http://schemas.openxmlformats.org/officeDocument/2006/relationships" xmlns:p="http://schemas.openxmlformats.org/presentationml/2006/main">
  <p:tag name="ISPRING_CONTENTLIB_ASSET_META" val="{&quot;ai&quot;:&quot;LPephQd378gbnwErKa3L4Q&quot;,&quot;gi&quot;:&quot;FGqgo8LJlWW1vXT3-lNxyg&quot;,&quot;ti&quot;:&quot;ui_elements&quot;,&quot;vs&quot;:{&quot;f&quot;:[335],&quot;i&quot;:{&quot;d&quot;:&quot;LPephQd378gbnwErKa3L4Q&quot;,&quot;p&quot;:true}}}"/>
</p:tagLst>
</file>

<file path=ppt/tags/tag12.xml><?xml version="1.0" encoding="utf-8"?>
<p:tagLst xmlns:a="http://schemas.openxmlformats.org/drawingml/2006/main" xmlns:r="http://schemas.openxmlformats.org/officeDocument/2006/relationships" xmlns:p="http://schemas.openxmlformats.org/presentationml/2006/main">
  <p:tag name="GENSWF_SLIDE_UID" val="{58D172CD-C837-404A-8DF5-C850C7E11E08}:369"/>
</p:tagLst>
</file>

<file path=ppt/tags/tag13.xml><?xml version="1.0" encoding="utf-8"?>
<p:tagLst xmlns:a="http://schemas.openxmlformats.org/drawingml/2006/main" xmlns:r="http://schemas.openxmlformats.org/officeDocument/2006/relationships" xmlns:p="http://schemas.openxmlformats.org/presentationml/2006/main">
  <p:tag name="ISPRING_CONTENTLIB_ASSET_META" val="{&quot;ai&quot;:&quot;LPephQd378gbnwErKa3L4Q&quot;,&quot;gi&quot;:&quot;FGqgo8LJlWW1vXT3-lNxyg&quot;,&quot;ti&quot;:&quot;ui_elements&quot;,&quot;vs&quot;:{&quot;f&quot;:[335],&quot;i&quot;:{&quot;d&quot;:&quot;LPephQd378gbnwErKa3L4Q&quot;,&quot;p&quot;:true}}}"/>
</p:tagLst>
</file>

<file path=ppt/tags/tag14.xml><?xml version="1.0" encoding="utf-8"?>
<p:tagLst xmlns:a="http://schemas.openxmlformats.org/drawingml/2006/main" xmlns:r="http://schemas.openxmlformats.org/officeDocument/2006/relationships" xmlns:p="http://schemas.openxmlformats.org/presentationml/2006/main">
  <p:tag name="ISPRING_CONTENTLIB_ASSET_META" val="{&quot;ai&quot;:&quot;LPephQd378gbnwErKa3L4Q&quot;,&quot;gi&quot;:&quot;FGqgo8LJlWW1vXT3-lNxyg&quot;,&quot;ti&quot;:&quot;ui_elements&quot;,&quot;vs&quot;:{&quot;f&quot;:[335],&quot;i&quot;:{&quot;d&quot;:&quot;LPephQd378gbnwErKa3L4Q&quot;,&quot;p&quot;:true}}}"/>
</p:tagLst>
</file>

<file path=ppt/tags/tag15.xml><?xml version="1.0" encoding="utf-8"?>
<p:tagLst xmlns:a="http://schemas.openxmlformats.org/drawingml/2006/main" xmlns:r="http://schemas.openxmlformats.org/officeDocument/2006/relationships" xmlns:p="http://schemas.openxmlformats.org/presentationml/2006/main">
  <p:tag name="GENSWF_SLIDE_UID" val="{308C21EF-67B7-4F62-B85A-6827A8E56DC9}:375"/>
</p:tagLst>
</file>

<file path=ppt/tags/tag16.xml><?xml version="1.0" encoding="utf-8"?>
<p:tagLst xmlns:a="http://schemas.openxmlformats.org/drawingml/2006/main" xmlns:r="http://schemas.openxmlformats.org/officeDocument/2006/relationships" xmlns:p="http://schemas.openxmlformats.org/presentationml/2006/main">
  <p:tag name="GENSWF_SLIDE_UID" val="{C51CC27E-223D-4A85-8A46-F293F4085B28}:376"/>
</p:tagLst>
</file>

<file path=ppt/tags/tag17.xml><?xml version="1.0" encoding="utf-8"?>
<p:tagLst xmlns:a="http://schemas.openxmlformats.org/drawingml/2006/main" xmlns:r="http://schemas.openxmlformats.org/officeDocument/2006/relationships" xmlns:p="http://schemas.openxmlformats.org/presentationml/2006/main">
  <p:tag name="GENSWF_SLIDE_UID" val="{031A9EE3-1056-4EE5-9B4A-28FFE3683EF8}:371"/>
</p:tagLst>
</file>

<file path=ppt/tags/tag18.xml><?xml version="1.0" encoding="utf-8"?>
<p:tagLst xmlns:a="http://schemas.openxmlformats.org/drawingml/2006/main" xmlns:r="http://schemas.openxmlformats.org/officeDocument/2006/relationships" xmlns:p="http://schemas.openxmlformats.org/presentationml/2006/main">
  <p:tag name="GENSWF_SLIDE_UID" val="{22E83040-CA9C-4645-BB23-8BA1ACB216B2}:370"/>
</p:tagLst>
</file>

<file path=ppt/tags/tag19.xml><?xml version="1.0" encoding="utf-8"?>
<p:tagLst xmlns:a="http://schemas.openxmlformats.org/drawingml/2006/main" xmlns:r="http://schemas.openxmlformats.org/officeDocument/2006/relationships" xmlns:p="http://schemas.openxmlformats.org/presentationml/2006/main">
  <p:tag name="ISPRING_CONTENTLIB_ASSET_META" val="{&quot;ai&quot;:&quot;LPephQd378gbnwErKa3L4Q&quot;,&quot;gi&quot;:&quot;FGqgo8LJlWW1vXT3-lNxyg&quot;,&quot;ti&quot;:&quot;ui_elements&quot;,&quot;vs&quot;:{&quot;f&quot;:[335],&quot;i&quot;:{&quot;d&quot;:&quot;LPephQd378gbnwErKa3L4Q&quot;,&quot;p&quot;:true}}}"/>
</p:tagLst>
</file>

<file path=ppt/tags/tag20.xml><?xml version="1.0" encoding="utf-8"?>
<p:tagLst xmlns:a="http://schemas.openxmlformats.org/drawingml/2006/main" xmlns:r="http://schemas.openxmlformats.org/officeDocument/2006/relationships" xmlns:p="http://schemas.openxmlformats.org/presentationml/2006/main">
  <p:tag name="GENSWF_SLIDE_UID" val="{D9D2BA9E-F5F4-46F5-A64C-1C3C8A54518B}:374"/>
</p:tagLst>
</file>

<file path=ppt/tags/tag21.xml><?xml version="1.0" encoding="utf-8"?>
<p:tagLst xmlns:a="http://schemas.openxmlformats.org/drawingml/2006/main" xmlns:r="http://schemas.openxmlformats.org/officeDocument/2006/relationships" xmlns:p="http://schemas.openxmlformats.org/presentationml/2006/main">
  <p:tag name="GENSWF_SLIDE_UID" val="{889ACD13-0EC2-449D-896D-D6E55F411FB1}:372"/>
</p:tagLst>
</file>

<file path=ppt/tags/tag22.xml><?xml version="1.0" encoding="utf-8"?>
<p:tagLst xmlns:a="http://schemas.openxmlformats.org/drawingml/2006/main" xmlns:r="http://schemas.openxmlformats.org/officeDocument/2006/relationships" xmlns:p="http://schemas.openxmlformats.org/presentationml/2006/main">
  <p:tag name="GENSWF_SLIDE_UID" val="{645F5748-7218-46C4-9CEE-53B8343A0B52}:331"/>
</p:tagLst>
</file>

<file path=ppt/tags/tag23.xml><?xml version="1.0" encoding="utf-8"?>
<p:tagLst xmlns:a="http://schemas.openxmlformats.org/drawingml/2006/main" xmlns:r="http://schemas.openxmlformats.org/officeDocument/2006/relationships" xmlns:p="http://schemas.openxmlformats.org/presentationml/2006/main">
  <p:tag name="GENSWF_SLIDE_UID" val="{AE64264B-2EDA-4417-96CE-C0203BC1E951}:373"/>
</p:tagLst>
</file>

<file path=ppt/theme/theme1.xml><?xml version="1.0" encoding="utf-8"?>
<a:theme xmlns:a="http://schemas.openxmlformats.org/drawingml/2006/main" name="1_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6193</TotalTime>
  <Words>1331</Words>
  <Application>Microsoft Office PowerPoint</Application>
  <PresentationFormat>Широкоэкранный</PresentationFormat>
  <Paragraphs>90</Paragraphs>
  <Slides>14</Slides>
  <Notes>14</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14</vt:i4>
      </vt:variant>
    </vt:vector>
  </HeadingPairs>
  <TitlesOfParts>
    <vt:vector size="19" baseType="lpstr">
      <vt:lpstr>Arial</vt:lpstr>
      <vt:lpstr>Calibri</vt:lpstr>
      <vt:lpstr>Montserrat ExtraBold</vt:lpstr>
      <vt:lpstr>Times New Roman</vt:lpstr>
      <vt:lpstr>1_Тема Office</vt:lpstr>
      <vt:lpstr>Презентация PowerPoint</vt:lpstr>
      <vt:lpstr>Презентация PowerPoint</vt:lpstr>
      <vt:lpstr>Категории информации с ограниченным доступом</vt:lpstr>
      <vt:lpstr>Конфиденциальная информация</vt:lpstr>
      <vt:lpstr>Коммерческая тайна</vt:lpstr>
      <vt:lpstr>Информация для служебного пользования</vt:lpstr>
      <vt:lpstr>Охрана конфиденциальности информации</vt:lpstr>
      <vt:lpstr>Защита конфиденциальности информации</vt:lpstr>
      <vt:lpstr>Передача конфиденциальной информации</vt:lpstr>
      <vt:lpstr>Передача конфиденциальной информации</vt:lpstr>
      <vt:lpstr>Передача конфиденциальной информации</vt:lpstr>
      <vt:lpstr>Передача конфиденциальной информации</vt:lpstr>
      <vt:lpstr>Ответственность за нарушение</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Положение о коммерческой тайне и КИ</dc:title>
  <dc:creator>zhagrov</dc:creator>
  <cp:lastModifiedBy>Бойко Татьяна Викторовна</cp:lastModifiedBy>
  <cp:revision>416</cp:revision>
  <dcterms:created xsi:type="dcterms:W3CDTF">2010-07-30T11:15:07Z</dcterms:created>
  <dcterms:modified xsi:type="dcterms:W3CDTF">2026-10-15T08:04:26Z</dcterms:modified>
</cp:coreProperties>
</file>